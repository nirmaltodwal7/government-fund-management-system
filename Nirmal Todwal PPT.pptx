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  <p:sldMasterId id="2147483648" r:id="rId2"/>
  </p:sldMasterIdLst>
  <p:notesMasterIdLst>
    <p:notesMasterId r:id="rId19"/>
  </p:notesMasterIdLst>
  <p:sldIdLst>
    <p:sldId id="271" r:id="rId3"/>
    <p:sldId id="280" r:id="rId4"/>
    <p:sldId id="281" r:id="rId5"/>
    <p:sldId id="282" r:id="rId6"/>
    <p:sldId id="284" r:id="rId7"/>
    <p:sldId id="267" r:id="rId8"/>
    <p:sldId id="275" r:id="rId9"/>
    <p:sldId id="276" r:id="rId10"/>
    <p:sldId id="273" r:id="rId11"/>
    <p:sldId id="274" r:id="rId12"/>
    <p:sldId id="277" r:id="rId13"/>
    <p:sldId id="285" r:id="rId14"/>
    <p:sldId id="265" r:id="rId15"/>
    <p:sldId id="270" r:id="rId16"/>
    <p:sldId id="287" r:id="rId17"/>
    <p:sldId id="266" r:id="rId18"/>
  </p:sldIdLst>
  <p:sldSz cx="12192000" cy="6858000"/>
  <p:notesSz cx="6858000" cy="9144000"/>
  <p:embeddedFontLst>
    <p:embeddedFont>
      <p:font typeface="Neue Haas Grotesk Text Pro" panose="020B0504020202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jSp0gy2UMwhP1R7hITdxv5HUYG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714B6-A3F4-0EE0-A3EE-04059EB217D7}" v="189" dt="2024-08-22T16:48:42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-3139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8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43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72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3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0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1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18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16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2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92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257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43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E261E-4F2B-4FFC-B0D8-B739F593650D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025A1-ED26-40F3-87A5-996479C069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7" Type="http://schemas.openxmlformats.org/officeDocument/2006/relationships/hyperlink" Target="https://tailwindcss.com/docs" TargetMode="External"/><Relationship Id="rId2" Type="http://schemas.openxmlformats.org/officeDocument/2006/relationships/hyperlink" Target="https://firebase.google.com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wilio.com/docs" TargetMode="External"/><Relationship Id="rId5" Type="http://schemas.openxmlformats.org/officeDocument/2006/relationships/hyperlink" Target="https://supabase.com/docs" TargetMode="External"/><Relationship Id="rId4" Type="http://schemas.openxmlformats.org/officeDocument/2006/relationships/hyperlink" Target="https://nodejs.org/en/doc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1640" y="1"/>
            <a:ext cx="8763000" cy="1470025"/>
          </a:xfrm>
        </p:spPr>
        <p:txBody>
          <a:bodyPr>
            <a:normAutofit fontScale="90000"/>
          </a:bodyPr>
          <a:lstStyle/>
          <a:p>
            <a:r>
              <a:rPr lang="en-US"/>
              <a:t>POORNIMA COLLEGE OF ENGINEERING</a:t>
            </a:r>
            <a:br>
              <a:rPr lang="en-US"/>
            </a:br>
            <a:r>
              <a:rPr lang="en-US" sz="2700"/>
              <a:t>DEPARTMENT OF INFORMATION TECHNOLOGY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5515" y="1104621"/>
            <a:ext cx="7561052" cy="9210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dk1"/>
                </a:solidFill>
                <a:latin typeface="Arial"/>
                <a:cs typeface="Arial"/>
              </a:rPr>
              <a:t>“</a:t>
            </a:r>
            <a:r>
              <a:rPr lang="en-US" sz="2000" b="1" dirty="0">
                <a:latin typeface="Arial"/>
                <a:cs typeface="Arial"/>
              </a:rPr>
              <a:t>Full Stack of Web Development</a:t>
            </a:r>
            <a:r>
              <a:rPr lang="en-US" sz="2000" b="1" dirty="0">
                <a:solidFill>
                  <a:schemeClr val="dk1"/>
                </a:solidFill>
                <a:latin typeface="Arial"/>
                <a:cs typeface="Arial"/>
              </a:rPr>
              <a:t>”</a:t>
            </a:r>
            <a:endParaRPr lang="en-US" sz="2000" dirty="0">
              <a:solidFill>
                <a:schemeClr val="dk1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endParaRPr lang="en-US" dirty="0">
              <a:latin typeface="Neue Haas Grotesk Text Pr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6920" y="5276671"/>
            <a:ext cx="2773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Presented to:</a:t>
            </a:r>
          </a:p>
          <a:p>
            <a:pPr marL="342900" indent="-342900"/>
            <a:r>
              <a:rPr lang="en-US" sz="1800" b="1" dirty="0"/>
              <a:t>Ms. Priya Shekhawat</a:t>
            </a:r>
          </a:p>
          <a:p>
            <a:pPr marL="342900" indent="-342900"/>
            <a:r>
              <a:rPr lang="en-US" sz="1800" b="1" dirty="0"/>
              <a:t>Ms. Shivani Jain</a:t>
            </a:r>
          </a:p>
          <a:p>
            <a:pPr marL="342900" indent="-342900"/>
            <a:r>
              <a:rPr lang="en-US" sz="1800" dirty="0"/>
              <a:t>(Faculty Coordinators)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4277" y="5280985"/>
            <a:ext cx="314720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00" dirty="0"/>
              <a:t>Presented By:</a:t>
            </a:r>
          </a:p>
          <a:p>
            <a:r>
              <a:rPr lang="en-US" sz="1800" dirty="0"/>
              <a:t>Student Name: </a:t>
            </a:r>
            <a:r>
              <a:rPr lang="en-US" sz="1800" b="1" dirty="0"/>
              <a:t>Nirmal Todwal</a:t>
            </a:r>
            <a:endParaRPr lang="en-US" sz="1800" b="1" dirty="0">
              <a:cs typeface="Calibri"/>
            </a:endParaRPr>
          </a:p>
          <a:p>
            <a:r>
              <a:rPr lang="en-US" sz="1800" dirty="0"/>
              <a:t>Reg. No.:</a:t>
            </a:r>
            <a:r>
              <a:rPr lang="en-US" b="1" dirty="0"/>
              <a:t>PCE23IT035</a:t>
            </a:r>
            <a:endParaRPr lang="en-US" sz="1800" dirty="0">
              <a:cs typeface="Calibri"/>
            </a:endParaRPr>
          </a:p>
          <a:p>
            <a:endParaRPr lang="en-US" sz="1800" dirty="0"/>
          </a:p>
        </p:txBody>
      </p:sp>
      <p:pic>
        <p:nvPicPr>
          <p:cNvPr id="1026" name="Picture 2" descr="C:\Users\asian\Desktop\Poornima 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6672" y="2286001"/>
            <a:ext cx="1892935" cy="1951173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5249571" y="4312802"/>
            <a:ext cx="17700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Session: 2025-26</a:t>
            </a:r>
          </a:p>
        </p:txBody>
      </p:sp>
    </p:spTree>
    <p:extLst>
      <p:ext uri="{BB962C8B-B14F-4D97-AF65-F5344CB8AC3E}">
        <p14:creationId xmlns:p14="http://schemas.microsoft.com/office/powerpoint/2010/main" val="71740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D2E0-17A6-2A25-7BF2-9368C7D0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0"/>
            <a:ext cx="10653578" cy="619432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Technologies Used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BF27D-4784-B4DC-474A-3693059D7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806245"/>
            <a:ext cx="10653578" cy="585019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(Hyper Text Markup Language)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(Cascading Style Sheets)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(JS)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B3321-3725-1088-49AD-6940E36E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C14E-4EB2-4D68-8AFA-5D88D325CD40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37097-A412-A313-F590-6D8B8AC7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34DD4-F07B-8B1A-7327-60C3B9A3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0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3764-9A7D-59F6-C80C-9F98F705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0"/>
            <a:ext cx="10653578" cy="70792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Project Description</a:t>
            </a:r>
            <a:endParaRPr lang="en-IN" sz="44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4C2E3-B898-AD79-F69E-E32D69ADE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855406"/>
            <a:ext cx="10653579" cy="5771536"/>
          </a:xfrm>
        </p:spPr>
        <p:txBody>
          <a:bodyPr/>
          <a:lstStyle/>
          <a:p>
            <a:r>
              <a:rPr lang="en-US" b="1" dirty="0"/>
              <a:t>NIDHI-SETU</a:t>
            </a:r>
            <a:r>
              <a:rPr lang="en-US" dirty="0"/>
              <a:t> is an AI-driven, secure, and automated digital platform designed to ensure transparency, accountability, and dignity in the disbursement of government welfare and pension funds. The project addresses a critical national issue—billions of rupees lost annually due to payments made to deceased or fraudulent beneficiaries—by building a trustworthy bridge between </a:t>
            </a:r>
            <a:r>
              <a:rPr lang="en-US" b="1" dirty="0"/>
              <a:t>citizens</a:t>
            </a:r>
            <a:r>
              <a:rPr lang="en-US" dirty="0"/>
              <a:t> and </a:t>
            </a:r>
            <a:r>
              <a:rPr lang="en-US" b="1" dirty="0"/>
              <a:t>government fund systems</a:t>
            </a:r>
            <a:r>
              <a:rPr lang="en-US" dirty="0"/>
              <a:t>.</a:t>
            </a:r>
          </a:p>
          <a:p>
            <a:r>
              <a:rPr lang="en-US" dirty="0"/>
              <a:t>The project is built using a modern </a:t>
            </a:r>
            <a:r>
              <a:rPr lang="en-US" b="1" dirty="0"/>
              <a:t>MERN-based architecture</a:t>
            </a:r>
            <a:r>
              <a:rPr lang="en-US" dirty="0"/>
              <a:t> with </a:t>
            </a:r>
            <a:r>
              <a:rPr lang="en-US" b="1" dirty="0"/>
              <a:t>React.js and Tailwind CSS</a:t>
            </a:r>
            <a:r>
              <a:rPr lang="en-US" dirty="0"/>
              <a:t> for the frontend, </a:t>
            </a:r>
            <a:r>
              <a:rPr lang="en-US" b="1" dirty="0"/>
              <a:t>Node.js and Express.js</a:t>
            </a:r>
            <a:r>
              <a:rPr lang="en-US" dirty="0"/>
              <a:t> for the backend, and </a:t>
            </a:r>
            <a:r>
              <a:rPr lang="en-US" b="1" dirty="0"/>
              <a:t>Firebase</a:t>
            </a:r>
            <a:r>
              <a:rPr lang="en-US" dirty="0"/>
              <a:t> for authentication and database management. Additional AI and verification modules like </a:t>
            </a:r>
            <a:r>
              <a:rPr lang="en-US" b="1" dirty="0" err="1"/>
              <a:t>Supabase</a:t>
            </a:r>
            <a:r>
              <a:rPr lang="en-US" dirty="0"/>
              <a:t>, </a:t>
            </a:r>
            <a:r>
              <a:rPr lang="en-US" b="1" dirty="0"/>
              <a:t>Twilio</a:t>
            </a:r>
            <a:r>
              <a:rPr lang="en-US" dirty="0"/>
              <a:t>, and </a:t>
            </a:r>
            <a:r>
              <a:rPr lang="en-US" b="1" dirty="0"/>
              <a:t>Retail AI</a:t>
            </a:r>
            <a:r>
              <a:rPr lang="en-US" dirty="0"/>
              <a:t> enhance the platform’s accuracy and reliability. Robust </a:t>
            </a:r>
            <a:r>
              <a:rPr lang="en-US" b="1" dirty="0"/>
              <a:t>AES encryption</a:t>
            </a:r>
            <a:r>
              <a:rPr lang="en-US" dirty="0"/>
              <a:t>, </a:t>
            </a:r>
            <a:r>
              <a:rPr lang="en-US" b="1" dirty="0"/>
              <a:t>image hashing</a:t>
            </a:r>
            <a:r>
              <a:rPr lang="en-US" dirty="0"/>
              <a:t>, and </a:t>
            </a:r>
            <a:r>
              <a:rPr lang="en-US" b="1" dirty="0"/>
              <a:t>cloud deployment</a:t>
            </a:r>
            <a:r>
              <a:rPr lang="en-US" dirty="0"/>
              <a:t> ensure data integrity, privacy, and scalability.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AEA9F-B8A2-8977-C4ED-9BCCDF6E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F9FD-CEDF-4A6A-A362-FC67FBC0F855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E06A6-8008-6E36-D72F-F52D0B36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174C6-6601-3DE5-5CAD-2D27729B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42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FC1A-70A9-B2AA-C3C6-C1A39296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0"/>
            <a:ext cx="10653578" cy="71775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Project Scope </a:t>
            </a:r>
            <a:endParaRPr lang="en-IN" sz="44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622C-4BB3-BEA2-3303-81DA94CEB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717755"/>
            <a:ext cx="10653579" cy="573524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scope of the </a:t>
            </a:r>
            <a:r>
              <a:rPr lang="en-US" b="1" dirty="0"/>
              <a:t>NIDHI-SETU</a:t>
            </a:r>
            <a:r>
              <a:rPr lang="en-US" dirty="0"/>
              <a:t> project defines the objectives, boundaries, and technological framework for developing a secure, automated, and citizen-centric platform that ensures the rightful and transparent disbursement of government welfare funds. This system focuses on eliminating fraudulent or deceased beneficiaries, enabling real-time verification, and strengthening trust between citizens and government institutions.</a:t>
            </a:r>
          </a:p>
          <a:p>
            <a:r>
              <a:rPr lang="en-US" b="1" dirty="0"/>
              <a:t>User Features:</a:t>
            </a:r>
            <a:endParaRPr lang="en-US" dirty="0"/>
          </a:p>
          <a:p>
            <a:pPr lvl="1"/>
            <a:r>
              <a:rPr lang="en-US" b="1" dirty="0"/>
              <a:t>Secure Login &amp; Authentication:</a:t>
            </a:r>
            <a:r>
              <a:rPr lang="en-US" dirty="0"/>
              <a:t> Beneficiaries and administrators access the platform through Firebase authentication (email, OTP, or Aadhaar-based).</a:t>
            </a:r>
          </a:p>
          <a:p>
            <a:pPr lvl="1"/>
            <a:r>
              <a:rPr lang="en-US" b="1" dirty="0"/>
              <a:t>3D Face Verification:</a:t>
            </a:r>
            <a:r>
              <a:rPr lang="en-US" dirty="0"/>
              <a:t> Real-time liveness detection using </a:t>
            </a:r>
            <a:r>
              <a:rPr lang="en-US" b="1" dirty="0" err="1"/>
              <a:t>Supabase</a:t>
            </a:r>
            <a:r>
              <a:rPr lang="en-US" dirty="0"/>
              <a:t> ensures that only live individuals are verified.</a:t>
            </a:r>
          </a:p>
          <a:p>
            <a:pPr lvl="1"/>
            <a:r>
              <a:rPr lang="en-US" b="1" dirty="0"/>
              <a:t>Voice Verification Bot:</a:t>
            </a:r>
            <a:r>
              <a:rPr lang="en-US" dirty="0"/>
              <a:t> Automated </a:t>
            </a:r>
            <a:r>
              <a:rPr lang="en-US" b="1" dirty="0"/>
              <a:t>Twilio AI calls</a:t>
            </a:r>
            <a:r>
              <a:rPr lang="en-US" dirty="0"/>
              <a:t> confirm user identity through voice responses.</a:t>
            </a:r>
          </a:p>
          <a:p>
            <a:pPr lvl="1"/>
            <a:r>
              <a:rPr lang="en-US" b="1" dirty="0"/>
              <a:t>Fraud Detection:</a:t>
            </a:r>
            <a:r>
              <a:rPr lang="en-US" dirty="0"/>
              <a:t> AI algorithms analyze trends and flag duplicate or suspicious entries.</a:t>
            </a:r>
          </a:p>
          <a:p>
            <a:r>
              <a:rPr lang="en-US" b="1" dirty="0"/>
              <a:t>Admin Features:</a:t>
            </a:r>
            <a:endParaRPr lang="en-US" dirty="0"/>
          </a:p>
          <a:p>
            <a:pPr lvl="1"/>
            <a:r>
              <a:rPr lang="en-US" b="1" dirty="0"/>
              <a:t>Centralized Dashboard:</a:t>
            </a:r>
            <a:r>
              <a:rPr lang="en-US" dirty="0"/>
              <a:t> Enables monitoring of all verification activities and data integrity logs.</a:t>
            </a:r>
          </a:p>
          <a:p>
            <a:pPr lvl="1"/>
            <a:r>
              <a:rPr lang="en-US" b="1" dirty="0"/>
              <a:t>Backend:</a:t>
            </a:r>
            <a:r>
              <a:rPr lang="en-US" dirty="0"/>
              <a:t> Powered by </a:t>
            </a:r>
            <a:r>
              <a:rPr lang="en-US" b="1" dirty="0"/>
              <a:t>Node.js and Express.js</a:t>
            </a:r>
            <a:r>
              <a:rPr lang="en-US" dirty="0"/>
              <a:t>, managing API routing, business logic, and integrations.</a:t>
            </a:r>
          </a:p>
          <a:p>
            <a:pPr lvl="1"/>
            <a:r>
              <a:rPr lang="en-US" b="1" dirty="0"/>
              <a:t>Database &amp; Authentication:</a:t>
            </a:r>
            <a:r>
              <a:rPr lang="en-US" dirty="0"/>
              <a:t> </a:t>
            </a:r>
            <a:r>
              <a:rPr lang="en-US" b="1" dirty="0"/>
              <a:t>Firebase</a:t>
            </a:r>
            <a:r>
              <a:rPr lang="en-US" dirty="0"/>
              <a:t> handles user authentication, real-time data updates, and access control.</a:t>
            </a:r>
          </a:p>
          <a:p>
            <a:pPr marL="228600" lvl="1" indent="0">
              <a:buNone/>
            </a:pPr>
            <a:r>
              <a:rPr lang="en-US" sz="2000" b="1" dirty="0"/>
              <a:t>Technical Scope:</a:t>
            </a:r>
            <a:endParaRPr lang="en-US" sz="2000" dirty="0"/>
          </a:p>
          <a:p>
            <a:pPr lvl="1"/>
            <a:r>
              <a:rPr lang="en-US" dirty="0"/>
              <a:t>Full stack implementation using </a:t>
            </a:r>
            <a:r>
              <a:rPr lang="en-US" b="1" dirty="0"/>
              <a:t>HTML</a:t>
            </a:r>
            <a:r>
              <a:rPr lang="en-US" dirty="0"/>
              <a:t>, </a:t>
            </a:r>
            <a:r>
              <a:rPr lang="en-US" b="1" dirty="0"/>
              <a:t>CSS</a:t>
            </a:r>
            <a:r>
              <a:rPr lang="en-US" dirty="0"/>
              <a:t>, </a:t>
            </a:r>
            <a:r>
              <a:rPr lang="en-US" b="1" dirty="0"/>
              <a:t>JavaScript</a:t>
            </a:r>
            <a:r>
              <a:rPr lang="en-US" dirty="0"/>
              <a:t>, </a:t>
            </a:r>
            <a:r>
              <a:rPr lang="en-US" b="1" dirty="0"/>
              <a:t>React.js</a:t>
            </a:r>
            <a:r>
              <a:rPr lang="en-US" dirty="0"/>
              <a:t>, </a:t>
            </a:r>
            <a:r>
              <a:rPr lang="en-US" b="1" dirty="0"/>
              <a:t>Node.js</a:t>
            </a:r>
            <a:r>
              <a:rPr lang="en-US" dirty="0"/>
              <a:t>, and </a:t>
            </a:r>
            <a:r>
              <a:rPr lang="en-US" b="1" dirty="0"/>
              <a:t>Firebase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Database management for cars, users, and bookings.</a:t>
            </a:r>
          </a:p>
          <a:p>
            <a:pPr lvl="1"/>
            <a:r>
              <a:rPr lang="en-US" dirty="0"/>
              <a:t>Deployment on cloud-based hosting platforms for accessibility.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EAF67-AF1C-2CAC-E05F-401B590C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F11-3969-45F0-9521-8AE7E878D544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717A2-2028-1CCA-86C0-D4AB5583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2000F-7C57-12D7-F421-88522FB7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67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A5C5-7759-04F9-A576-C7A5CB9D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5009"/>
            <a:ext cx="10653578" cy="103865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Learning</a:t>
            </a:r>
            <a:endParaRPr lang="en-IN" sz="4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A80D8-ED8F-1044-665E-0385959A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743D-3B83-42AC-B0CE-7D620FCF00D8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35852-849C-FF45-7CAF-CC0B7062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86F35-5660-055F-DAC7-9CA4893F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24926F0-3EF7-00F6-69CB-351924CF4E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775" y="1770846"/>
            <a:ext cx="1067792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Skills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In-depth understanding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building responsive web interfaces.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experience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dynamic, component-based single-page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operations and data management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updates and secure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 and collaborative coding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of full stack applications to cloud-based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 Skills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Problem-solving, debugging, and optimizing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Teamwork, communication, and documentation for professional project delivery.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management and working with structured timelines (45-day schedule).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696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12648" y="1"/>
            <a:ext cx="10653578" cy="74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b="1" dirty="0">
                <a:solidFill>
                  <a:srgbClr val="00B0F0"/>
                </a:solidFill>
              </a:rPr>
              <a:t>Snapshot of Project</a:t>
            </a:r>
            <a:endParaRPr dirty="0">
              <a:solidFill>
                <a:srgbClr val="00B0F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A0D0D-A5AE-978F-4895-D445BF75C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2775" y="904568"/>
            <a:ext cx="10653713" cy="5751870"/>
          </a:xfr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9BD45-CDA1-620C-51AC-3AACEA6D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8E47-8C9D-4BF6-9544-A72389DDDB29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A73DF-C00E-B8A2-8144-ACFE13C8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EC9BE-DE4A-D6FC-88B9-3CF32F3A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C0CDB-A369-3E39-19AF-796148029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269875"/>
            <a:ext cx="11464414" cy="63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2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CE71F9-1152-7BBD-7AB5-D5853D46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C83CF-EDFE-4AC8-8579-5B42446EA071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CCD1B-267C-F8C2-E272-FF33C260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6FD0-1939-591E-DF19-AEAE2892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38043-2E25-B731-947B-2A5BA7DDF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653"/>
            <a:ext cx="12192000" cy="589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8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7C1BBE-1E62-31A7-8EB3-9933125C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E803-E589-4A68-B5A4-77569E1241B6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64311-255A-43D9-29EE-86524A6A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662ED-4351-FE3C-CCAC-B6C77E0D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0C3CD-68A7-243E-4247-6307C5541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300"/>
            <a:ext cx="12192000" cy="59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0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511AD-C4CD-8A3D-0703-29B637BF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7B3B-B697-4579-B706-FF2E96C0DC77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C9653-8350-45D6-7FB6-C0FB557A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19FA8-F75D-7369-08DD-7CF317BA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27CBF-5BB6-D8E2-2226-386E7FDA9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297"/>
            <a:ext cx="12192000" cy="582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99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E878C-72AD-4C18-ADE7-4C4143B9F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BD06-757D-41A9-835D-B8A945AA79BA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52A9C-C207-3EC2-46CA-2D262EA6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D7373-A222-0A98-A1B3-27292669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CF230F-3A41-4AA4-C8C1-09E43FDE7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607"/>
            <a:ext cx="12192000" cy="521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9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BBE6-1E7F-4C4E-C676-80A0E8597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2C57-D0AF-4685-9291-6857474D526E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5D0B1-50B3-3D00-A0EA-4BF48238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728EA-A06F-C98D-59AF-0F1EF8A7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BE058-0BAA-9971-263C-339E27012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15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12648" y="2300"/>
            <a:ext cx="10653578" cy="8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sz="4800" b="1" dirty="0">
                <a:solidFill>
                  <a:srgbClr val="00B0F0"/>
                </a:solidFill>
              </a:rPr>
              <a:t>Future Scope  </a:t>
            </a:r>
            <a:r>
              <a:rPr lang="en-US" b="1" dirty="0"/>
              <a:t> </a:t>
            </a:r>
            <a:endParaRPr dirty="0"/>
          </a:p>
        </p:txBody>
      </p:sp>
      <p:sp>
        <p:nvSpPr>
          <p:cNvPr id="129" name="Google Shape;129;p5"/>
          <p:cNvSpPr txBox="1">
            <a:spLocks noGrp="1"/>
          </p:cNvSpPr>
          <p:nvPr>
            <p:ph idx="1"/>
          </p:nvPr>
        </p:nvSpPr>
        <p:spPr>
          <a:xfrm>
            <a:off x="612647" y="835742"/>
            <a:ext cx="10653579" cy="57223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Autofit/>
          </a:bodyPr>
          <a:lstStyle/>
          <a:p>
            <a:r>
              <a:rPr lang="en-US" b="1" dirty="0"/>
              <a:t>Scalability:</a:t>
            </a:r>
            <a:r>
              <a:rPr lang="en-US" dirty="0"/>
              <a:t> Expand the platform to handle millions of beneficiaries and administrators across multiple states and welfare departments.</a:t>
            </a:r>
          </a:p>
          <a:p>
            <a:r>
              <a:rPr lang="en-US" b="1" dirty="0"/>
              <a:t>Mobile Integration:</a:t>
            </a:r>
            <a:r>
              <a:rPr lang="en-US" dirty="0"/>
              <a:t> Develop dedicated </a:t>
            </a:r>
            <a:r>
              <a:rPr lang="en-US" b="1" dirty="0"/>
              <a:t>Android and iOS applications</a:t>
            </a:r>
            <a:r>
              <a:rPr lang="en-US" dirty="0"/>
              <a:t> using React Native for easier access and real-time verification on smartphones.</a:t>
            </a:r>
          </a:p>
          <a:p>
            <a:r>
              <a:rPr lang="en-US" b="1" dirty="0"/>
              <a:t>AI &amp; Predictive Analytics:</a:t>
            </a:r>
            <a:r>
              <a:rPr lang="en-US" dirty="0"/>
              <a:t> Implement advanced </a:t>
            </a:r>
            <a:r>
              <a:rPr lang="en-US" b="1" dirty="0"/>
              <a:t>machine learning models</a:t>
            </a:r>
            <a:r>
              <a:rPr lang="en-US" dirty="0"/>
              <a:t> to predict potential fraud patterns, detect anomalies, and improve beneficiary verification accuracy.</a:t>
            </a:r>
          </a:p>
          <a:p>
            <a:r>
              <a:rPr lang="en-US" b="1" dirty="0"/>
              <a:t>Blockchain Integration:</a:t>
            </a:r>
            <a:r>
              <a:rPr lang="en-US" dirty="0"/>
              <a:t> Use </a:t>
            </a:r>
            <a:r>
              <a:rPr lang="en-US" b="1" dirty="0"/>
              <a:t>blockchain technology</a:t>
            </a:r>
            <a:r>
              <a:rPr lang="en-US" dirty="0"/>
              <a:t> to ensure transparent, tamper-proof, and traceable fund disbursement records.</a:t>
            </a:r>
          </a:p>
          <a:p>
            <a:r>
              <a:rPr lang="en-US" b="1" dirty="0"/>
              <a:t>Multilingual &amp; Voice Assistance:</a:t>
            </a:r>
            <a:r>
              <a:rPr lang="en-US" dirty="0"/>
              <a:t> Add </a:t>
            </a:r>
            <a:r>
              <a:rPr lang="en-US" b="1" dirty="0"/>
              <a:t>regional language support</a:t>
            </a:r>
            <a:r>
              <a:rPr lang="en-US" dirty="0"/>
              <a:t> and </a:t>
            </a:r>
            <a:r>
              <a:rPr lang="en-US" b="1" dirty="0"/>
              <a:t>AI-based voice guidance</a:t>
            </a:r>
            <a:r>
              <a:rPr lang="en-US" dirty="0"/>
              <a:t> to improve accessibility for rural and elderly users.</a:t>
            </a:r>
          </a:p>
          <a:p>
            <a:r>
              <a:rPr lang="en-US" b="1" dirty="0"/>
              <a:t>Offline Verification Mode:</a:t>
            </a:r>
            <a:r>
              <a:rPr lang="en-US" dirty="0"/>
              <a:t> Introduce </a:t>
            </a:r>
            <a:r>
              <a:rPr lang="en-US" b="1" dirty="0"/>
              <a:t>low-bandwidth or SMS-based verification</a:t>
            </a:r>
            <a:r>
              <a:rPr lang="en-US" dirty="0"/>
              <a:t> for areas with limited internet connectivity.</a:t>
            </a:r>
            <a:endParaRPr lang="en-IN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12648" y="0"/>
            <a:ext cx="10653578" cy="151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900" dirty="0">
                <a:solidFill>
                  <a:srgbClr val="00B0F0"/>
                </a:solidFill>
              </a:rPr>
              <a:t>Conclusion</a:t>
            </a:r>
            <a:br>
              <a:rPr lang="en-US" sz="4900" dirty="0">
                <a:solidFill>
                  <a:srgbClr val="00B0F0"/>
                </a:solidFill>
              </a:rPr>
            </a:br>
            <a:endParaRPr sz="4900" dirty="0">
              <a:solidFill>
                <a:srgbClr val="00B0F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C90B5-B429-ECF6-CDA4-BB1F3508E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20877"/>
            <a:ext cx="10653579" cy="518848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NIDHI-SETU</a:t>
            </a:r>
            <a:r>
              <a:rPr lang="en-US" dirty="0"/>
              <a:t> project successfully demonstrates the application of </a:t>
            </a:r>
            <a:r>
              <a:rPr lang="en-US" b="1" dirty="0"/>
              <a:t>Full Stack Web Development</a:t>
            </a:r>
            <a:r>
              <a:rPr lang="en-US" dirty="0"/>
              <a:t> and </a:t>
            </a:r>
            <a:r>
              <a:rPr lang="en-US" b="1" dirty="0"/>
              <a:t>AI-driven verification technologies</a:t>
            </a:r>
            <a:r>
              <a:rPr lang="en-US" dirty="0"/>
              <a:t> learned during the training and implementation phase. By integrating </a:t>
            </a:r>
            <a:r>
              <a:rPr lang="en-US" b="1" dirty="0"/>
              <a:t>React.js, Node.js, Express.js, Firebase, </a:t>
            </a:r>
            <a:r>
              <a:rPr lang="en-US" b="1" dirty="0" err="1"/>
              <a:t>Supabase</a:t>
            </a:r>
            <a:r>
              <a:rPr lang="en-US" b="1" dirty="0"/>
              <a:t>, Twilio,</a:t>
            </a:r>
            <a:r>
              <a:rPr lang="en-US" dirty="0"/>
              <a:t> and </a:t>
            </a:r>
            <a:r>
              <a:rPr lang="en-US" b="1" dirty="0"/>
              <a:t>Retail AI</a:t>
            </a:r>
            <a:r>
              <a:rPr lang="en-US" dirty="0"/>
              <a:t>, the project delivers a secure, intelligent, and citizen-centric platform that ensures transparency and authenticity in government welfare fund distribution.</a:t>
            </a:r>
          </a:p>
          <a:p>
            <a:r>
              <a:rPr lang="en-US" dirty="0"/>
              <a:t>This practical implementation not only enhanced technical proficiency in frontend, backend, and database management but also provided valuable experience in developing scalable, real-time, and data-secure solutions aligned with national e-Governance goals. The system effectively utilizes </a:t>
            </a:r>
            <a:r>
              <a:rPr lang="en-US" b="1" dirty="0"/>
              <a:t>3D face and voice verification</a:t>
            </a:r>
            <a:r>
              <a:rPr lang="en-US" dirty="0"/>
              <a:t>, </a:t>
            </a:r>
            <a:r>
              <a:rPr lang="en-US" b="1" dirty="0"/>
              <a:t>AI-based fraud detection</a:t>
            </a:r>
            <a:r>
              <a:rPr lang="en-US" dirty="0"/>
              <a:t>, and </a:t>
            </a:r>
            <a:r>
              <a:rPr lang="en-US" b="1" dirty="0"/>
              <a:t>real-time data synchronization</a:t>
            </a:r>
            <a:r>
              <a:rPr lang="en-US" dirty="0"/>
              <a:t> to eliminate duplication, misuse, and manual errors in beneficiary verification.</a:t>
            </a:r>
          </a:p>
          <a:p>
            <a:r>
              <a:rPr lang="en-US" dirty="0"/>
              <a:t>Through this project, hands-on expertise was gained in building a platform that bridges the gap between </a:t>
            </a:r>
            <a:r>
              <a:rPr lang="en-US" b="1" dirty="0"/>
              <a:t>citizens and government agencies</a:t>
            </a:r>
            <a:r>
              <a:rPr lang="en-US" dirty="0"/>
              <a:t>, ensuring that welfare benefits reach only the rightful recipients. It also strengthened knowledge in cloud deployment, authentication systems, and API integration.</a:t>
            </a:r>
          </a:p>
          <a:p>
            <a:r>
              <a:rPr lang="en-US" dirty="0"/>
              <a:t>Overall, the </a:t>
            </a:r>
            <a:r>
              <a:rPr lang="en-US" b="1" dirty="0"/>
              <a:t>NIDHI-SETU</a:t>
            </a:r>
            <a:r>
              <a:rPr lang="en-US" dirty="0"/>
              <a:t> project serves as a milestone in leveraging technology for social good—combining innovation, automation, and security to promote a transparent, efficient, and trustworthy digital welfare ecosystem, paving the way for future scalability and nationwide implementation.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1A6A-8CBD-E0C1-11D7-D49E49904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0"/>
            <a:ext cx="10653578" cy="855406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References</a:t>
            </a:r>
            <a:endParaRPr lang="en-IN" sz="44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4627A-871E-F839-C15A-32C7C7261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855406"/>
            <a:ext cx="10653579" cy="5453954"/>
          </a:xfrm>
        </p:spPr>
        <p:txBody>
          <a:bodyPr/>
          <a:lstStyle/>
          <a:p>
            <a:r>
              <a:rPr lang="en-IN" b="1" dirty="0"/>
              <a:t>Firebase Documentation</a:t>
            </a:r>
            <a:r>
              <a:rPr lang="en-IN" dirty="0"/>
              <a:t> – Authentication, Realtime Database, and Hosting.</a:t>
            </a:r>
            <a:br>
              <a:rPr lang="en-IN" dirty="0"/>
            </a:br>
            <a:r>
              <a:rPr lang="en-IN" i="1" dirty="0">
                <a:hlinkClick r:id="rId2"/>
              </a:rPr>
              <a:t>https://firebase.google.com/docs</a:t>
            </a:r>
            <a:endParaRPr lang="en-IN" i="1" dirty="0"/>
          </a:p>
          <a:p>
            <a:r>
              <a:rPr lang="en-US" b="1" dirty="0"/>
              <a:t>React.js Official Documentation</a:t>
            </a:r>
            <a:r>
              <a:rPr lang="en-US" dirty="0"/>
              <a:t> – Frontend framework for building dynamic user interfaces. </a:t>
            </a:r>
            <a:r>
              <a:rPr lang="en-US" i="1" dirty="0">
                <a:hlinkClick r:id="rId3"/>
              </a:rPr>
              <a:t>https://react.dev</a:t>
            </a:r>
            <a:endParaRPr lang="en-US" i="1" dirty="0"/>
          </a:p>
          <a:p>
            <a:r>
              <a:rPr lang="en-US" b="1" dirty="0"/>
              <a:t>Node.js &amp; Express.js Documentation</a:t>
            </a:r>
            <a:r>
              <a:rPr lang="en-US" dirty="0"/>
              <a:t> – Backend technologies for API routing and server-side development. </a:t>
            </a:r>
            <a:r>
              <a:rPr lang="en-US" i="1" dirty="0">
                <a:hlinkClick r:id="rId4"/>
              </a:rPr>
              <a:t>https://nodejs.org/en/docs</a:t>
            </a:r>
            <a:endParaRPr lang="en-US" i="1" dirty="0"/>
          </a:p>
          <a:p>
            <a:r>
              <a:rPr lang="en-US" b="1" dirty="0" err="1"/>
              <a:t>Supabase</a:t>
            </a:r>
            <a:r>
              <a:rPr lang="en-US" b="1" dirty="0"/>
              <a:t> Documentation</a:t>
            </a:r>
            <a:r>
              <a:rPr lang="en-US" dirty="0"/>
              <a:t> – Used for real-time 3D face verification and secure data handling. </a:t>
            </a:r>
            <a:r>
              <a:rPr lang="en-US" i="1" dirty="0">
                <a:hlinkClick r:id="rId5"/>
              </a:rPr>
              <a:t>https://supabase.com/docs</a:t>
            </a:r>
            <a:endParaRPr lang="en-US" i="1" dirty="0"/>
          </a:p>
          <a:p>
            <a:r>
              <a:rPr lang="en-US" b="1" dirty="0"/>
              <a:t>Twilio API Documentation</a:t>
            </a:r>
            <a:r>
              <a:rPr lang="en-US" dirty="0"/>
              <a:t> – Voice and call automation for beneficiary verification.</a:t>
            </a:r>
            <a:br>
              <a:rPr lang="en-US" dirty="0"/>
            </a:br>
            <a:r>
              <a:rPr lang="en-US" i="1" dirty="0">
                <a:hlinkClick r:id="rId6"/>
              </a:rPr>
              <a:t>https://www.twilio.com/docs</a:t>
            </a:r>
            <a:endParaRPr lang="en-US" i="1" dirty="0"/>
          </a:p>
          <a:p>
            <a:r>
              <a:rPr lang="en-US" b="1" dirty="0"/>
              <a:t>Tailwind CSS Documentation</a:t>
            </a:r>
            <a:r>
              <a:rPr lang="en-US" dirty="0"/>
              <a:t> – Utility-first CSS framework for responsive and modern UI design.</a:t>
            </a:r>
            <a:br>
              <a:rPr lang="en-US" dirty="0"/>
            </a:br>
            <a:r>
              <a:rPr lang="en-US" i="1" dirty="0">
                <a:hlinkClick r:id="rId7"/>
              </a:rPr>
              <a:t>https://tailwindcss.com/docs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E5B42-3067-A6BC-A284-51F3E773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B22F-72B5-4570-8131-7E7387D2A0B4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75892-20CC-2B10-ED94-00B8D32E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19FF6-8837-BAD4-8D00-3E5A6208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609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8" descr="Best Appreciation Thank You Message">
            <a:extLst>
              <a:ext uri="{FF2B5EF4-FFF2-40B4-BE49-F238E27FC236}">
                <a16:creationId xmlns:a16="http://schemas.microsoft.com/office/drawing/2014/main" id="{FDFBDB50-7D18-CC81-2469-99BE1E9B8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259394" cy="325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0" descr="Best Appreciation Thank You Message">
            <a:extLst>
              <a:ext uri="{FF2B5EF4-FFF2-40B4-BE49-F238E27FC236}">
                <a16:creationId xmlns:a16="http://schemas.microsoft.com/office/drawing/2014/main" id="{9BB3638D-9FB8-EF05-35BB-8AECD05790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8063" y="3276599"/>
            <a:ext cx="5599471" cy="559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 descr="Best Appreciation Thank You Message">
            <a:extLst>
              <a:ext uri="{FF2B5EF4-FFF2-40B4-BE49-F238E27FC236}">
                <a16:creationId xmlns:a16="http://schemas.microsoft.com/office/drawing/2014/main" id="{4CB541EC-1620-E607-B1AF-3BB6349D6BB3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307690" y="3581400"/>
            <a:ext cx="4940710" cy="494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0C8092-6DFC-DC4B-7C28-F5F88C037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1456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1653</TotalTime>
  <Words>1092</Words>
  <Application>Microsoft Office PowerPoint</Application>
  <PresentationFormat>Widescreen</PresentationFormat>
  <Paragraphs>100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Arial</vt:lpstr>
      <vt:lpstr>Wingdings</vt:lpstr>
      <vt:lpstr>Times New Roman</vt:lpstr>
      <vt:lpstr>Neue Haas Grotesk Text Pro</vt:lpstr>
      <vt:lpstr>VanillaVTI</vt:lpstr>
      <vt:lpstr>Office Theme</vt:lpstr>
      <vt:lpstr>POORNIMA COLLEGE OF ENGINEERING DEPARTMENT OF INFORMATION TECHNOLOGY </vt:lpstr>
      <vt:lpstr>Technologies Used </vt:lpstr>
      <vt:lpstr>Project Description</vt:lpstr>
      <vt:lpstr>Project Scope </vt:lpstr>
      <vt:lpstr>Learning</vt:lpstr>
      <vt:lpstr>Snapshot of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   </vt:lpstr>
      <vt:lpstr>         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Manish Choubisa</dc:creator>
  <cp:lastModifiedBy>Nirmal Todwal</cp:lastModifiedBy>
  <cp:revision>131</cp:revision>
  <dcterms:created xsi:type="dcterms:W3CDTF">2021-09-23T11:06:54Z</dcterms:created>
  <dcterms:modified xsi:type="dcterms:W3CDTF">2025-12-19T20:02:00Z</dcterms:modified>
</cp:coreProperties>
</file>