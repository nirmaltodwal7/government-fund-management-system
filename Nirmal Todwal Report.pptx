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253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72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82064" y="3645865"/>
            <a:ext cx="5208270" cy="1123314"/>
          </a:xfrm>
          <a:prstGeom prst="rect">
            <a:avLst/>
          </a:prstGeom>
        </p:spPr>
        <p:txBody>
          <a:bodyPr wrap="square" lIns="0" tIns="0" rIns="0" bIns="0">
            <a:spAutoFit/>
          </a:bodyPr>
          <a:lstStyle>
            <a:lvl1pPr>
              <a:defRPr sz="7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12/20/2025</a:t>
            </a:fld>
            <a:endParaRPr lang="en-US"/>
          </a:p>
        </p:txBody>
      </p:sp>
      <p:sp>
        <p:nvSpPr>
          <p:cNvPr id="6" name="Holder 6"/>
          <p:cNvSpPr>
            <a:spLocks noGrp="1"/>
          </p:cNvSpPr>
          <p:nvPr>
            <p:ph type="sldNum" sz="quarter" idx="7"/>
          </p:nvPr>
        </p:nvSpPr>
        <p:spPr>
          <a:xfrm>
            <a:off x="3795776" y="9305618"/>
            <a:ext cx="177800" cy="189865"/>
          </a:xfrm>
          <a:prstGeom prst="rect">
            <a:avLst/>
          </a:prstGeom>
        </p:spPr>
        <p:txBody>
          <a:bodyPr wrap="square" lIns="0" tIns="0" rIns="0" bIns="0">
            <a:spAutoFit/>
          </a:bodyPr>
          <a:lstStyle>
            <a:lvl1pPr>
              <a:defRPr sz="1100" b="0" i="0">
                <a:solidFill>
                  <a:schemeClr val="tx1"/>
                </a:solidFill>
                <a:latin typeface="Cambria"/>
                <a:cs typeface="Cambria"/>
              </a:defRPr>
            </a:lvl1pPr>
          </a:lstStyle>
          <a:p>
            <a:pPr marL="12700">
              <a:lnSpc>
                <a:spcPct val="100000"/>
              </a:lnSpc>
              <a:spcBef>
                <a:spcPts val="5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90014" y="438048"/>
            <a:ext cx="4963160" cy="2260491"/>
          </a:xfrm>
          <a:prstGeom prst="rect">
            <a:avLst/>
          </a:prstGeom>
        </p:spPr>
        <p:txBody>
          <a:bodyPr vert="horz" wrap="square" lIns="0" tIns="85725" rIns="0" bIns="0" rtlCol="0">
            <a:spAutoFit/>
          </a:bodyPr>
          <a:lstStyle/>
          <a:p>
            <a:pPr algn="ctr">
              <a:lnSpc>
                <a:spcPct val="100000"/>
              </a:lnSpc>
              <a:spcBef>
                <a:spcPts val="675"/>
              </a:spcBef>
            </a:pPr>
            <a:r>
              <a:rPr sz="1300" spc="-25" dirty="0">
                <a:latin typeface="Times New Roman"/>
                <a:cs typeface="Times New Roman"/>
              </a:rPr>
              <a:t>An</a:t>
            </a:r>
            <a:endParaRPr sz="1300" dirty="0">
              <a:latin typeface="Times New Roman"/>
              <a:cs typeface="Times New Roman"/>
            </a:endParaRPr>
          </a:p>
          <a:p>
            <a:pPr marL="1619250" marR="1613535" algn="ctr">
              <a:lnSpc>
                <a:spcPct val="135400"/>
              </a:lnSpc>
              <a:spcBef>
                <a:spcPts val="25"/>
              </a:spcBef>
            </a:pPr>
            <a:r>
              <a:rPr sz="1300" dirty="0">
                <a:latin typeface="Times New Roman"/>
                <a:cs typeface="Times New Roman"/>
              </a:rPr>
              <a:t>Industrial</a:t>
            </a:r>
            <a:r>
              <a:rPr sz="1300" spc="-50" dirty="0">
                <a:latin typeface="Times New Roman"/>
                <a:cs typeface="Times New Roman"/>
              </a:rPr>
              <a:t> </a:t>
            </a:r>
            <a:r>
              <a:rPr sz="1300" spc="-10" dirty="0">
                <a:latin typeface="Times New Roman"/>
                <a:cs typeface="Times New Roman"/>
              </a:rPr>
              <a:t>Training</a:t>
            </a:r>
            <a:r>
              <a:rPr sz="1300" spc="-50" dirty="0">
                <a:latin typeface="Times New Roman"/>
                <a:cs typeface="Times New Roman"/>
              </a:rPr>
              <a:t> </a:t>
            </a:r>
            <a:r>
              <a:rPr sz="1300" spc="-10" dirty="0">
                <a:latin typeface="Times New Roman"/>
                <a:cs typeface="Times New Roman"/>
              </a:rPr>
              <a:t>Report </a:t>
            </a:r>
            <a:r>
              <a:rPr sz="1300" spc="-25" dirty="0">
                <a:latin typeface="Times New Roman"/>
                <a:cs typeface="Times New Roman"/>
              </a:rPr>
              <a:t>on</a:t>
            </a:r>
            <a:endParaRPr sz="1300" dirty="0">
              <a:latin typeface="Times New Roman"/>
              <a:cs typeface="Times New Roman"/>
            </a:endParaRPr>
          </a:p>
          <a:p>
            <a:pPr marL="1905" algn="ctr">
              <a:lnSpc>
                <a:spcPct val="100000"/>
              </a:lnSpc>
              <a:spcBef>
                <a:spcPts val="565"/>
              </a:spcBef>
            </a:pPr>
            <a:r>
              <a:rPr lang="en-IN" sz="1600" b="1" spc="-10" dirty="0">
                <a:latin typeface="Times New Roman"/>
                <a:cs typeface="Times New Roman"/>
              </a:rPr>
              <a:t>Funds Management System</a:t>
            </a:r>
            <a:endParaRPr sz="1600" dirty="0">
              <a:latin typeface="Times New Roman"/>
              <a:cs typeface="Times New Roman"/>
            </a:endParaRPr>
          </a:p>
          <a:p>
            <a:pPr algn="ctr">
              <a:lnSpc>
                <a:spcPct val="100000"/>
              </a:lnSpc>
              <a:spcBef>
                <a:spcPts val="535"/>
              </a:spcBef>
            </a:pPr>
            <a:r>
              <a:rPr sz="1200" i="1" dirty="0">
                <a:latin typeface="Times New Roman"/>
                <a:cs typeface="Times New Roman"/>
              </a:rPr>
              <a:t>Submitted</a:t>
            </a:r>
            <a:r>
              <a:rPr sz="1200" i="1" spc="-5" dirty="0">
                <a:latin typeface="Times New Roman"/>
                <a:cs typeface="Times New Roman"/>
              </a:rPr>
              <a:t> </a:t>
            </a:r>
            <a:r>
              <a:rPr sz="1200" i="1" dirty="0">
                <a:latin typeface="Times New Roman"/>
                <a:cs typeface="Times New Roman"/>
              </a:rPr>
              <a:t>in</a:t>
            </a:r>
            <a:r>
              <a:rPr sz="1200" i="1" spc="-5" dirty="0">
                <a:latin typeface="Times New Roman"/>
                <a:cs typeface="Times New Roman"/>
              </a:rPr>
              <a:t> </a:t>
            </a:r>
            <a:r>
              <a:rPr sz="1200" i="1" spc="-10" dirty="0">
                <a:latin typeface="Times New Roman"/>
                <a:cs typeface="Times New Roman"/>
              </a:rPr>
              <a:t>partial</a:t>
            </a:r>
            <a:r>
              <a:rPr sz="1200" i="1" spc="-50" dirty="0">
                <a:latin typeface="Times New Roman"/>
                <a:cs typeface="Times New Roman"/>
              </a:rPr>
              <a:t> </a:t>
            </a:r>
            <a:r>
              <a:rPr sz="1200" i="1" dirty="0">
                <a:latin typeface="Times New Roman"/>
                <a:cs typeface="Times New Roman"/>
              </a:rPr>
              <a:t>fulfillment</a:t>
            </a:r>
            <a:r>
              <a:rPr sz="1200" i="1" spc="-30" dirty="0">
                <a:latin typeface="Times New Roman"/>
                <a:cs typeface="Times New Roman"/>
              </a:rPr>
              <a:t> </a:t>
            </a:r>
            <a:r>
              <a:rPr sz="1200" i="1" dirty="0">
                <a:latin typeface="Times New Roman"/>
                <a:cs typeface="Times New Roman"/>
              </a:rPr>
              <a:t>of</a:t>
            </a:r>
            <a:r>
              <a:rPr sz="1200" i="1" spc="20" dirty="0">
                <a:latin typeface="Times New Roman"/>
                <a:cs typeface="Times New Roman"/>
              </a:rPr>
              <a:t> </a:t>
            </a:r>
            <a:r>
              <a:rPr sz="1200" i="1" dirty="0">
                <a:latin typeface="Times New Roman"/>
                <a:cs typeface="Times New Roman"/>
              </a:rPr>
              <a:t>the</a:t>
            </a:r>
            <a:r>
              <a:rPr sz="1200" i="1" spc="-30" dirty="0">
                <a:latin typeface="Times New Roman"/>
                <a:cs typeface="Times New Roman"/>
              </a:rPr>
              <a:t> </a:t>
            </a:r>
            <a:r>
              <a:rPr sz="1200" i="1" spc="-20" dirty="0">
                <a:latin typeface="Times New Roman"/>
                <a:cs typeface="Times New Roman"/>
              </a:rPr>
              <a:t>requirements</a:t>
            </a:r>
            <a:r>
              <a:rPr sz="1200" i="1" spc="-15" dirty="0">
                <a:latin typeface="Times New Roman"/>
                <a:cs typeface="Times New Roman"/>
              </a:rPr>
              <a:t> </a:t>
            </a:r>
            <a:r>
              <a:rPr sz="1200" i="1" dirty="0">
                <a:latin typeface="Times New Roman"/>
                <a:cs typeface="Times New Roman"/>
              </a:rPr>
              <a:t>for</a:t>
            </a:r>
            <a:r>
              <a:rPr sz="1200" i="1" spc="-20" dirty="0">
                <a:latin typeface="Times New Roman"/>
                <a:cs typeface="Times New Roman"/>
              </a:rPr>
              <a:t> </a:t>
            </a:r>
            <a:r>
              <a:rPr sz="1200" i="1" dirty="0">
                <a:latin typeface="Times New Roman"/>
                <a:cs typeface="Times New Roman"/>
              </a:rPr>
              <a:t>the</a:t>
            </a:r>
            <a:r>
              <a:rPr sz="1200" i="1" spc="-10" dirty="0">
                <a:latin typeface="Times New Roman"/>
                <a:cs typeface="Times New Roman"/>
              </a:rPr>
              <a:t> award</a:t>
            </a:r>
            <a:r>
              <a:rPr sz="1200" i="1" spc="-5" dirty="0">
                <a:latin typeface="Times New Roman"/>
                <a:cs typeface="Times New Roman"/>
              </a:rPr>
              <a:t> </a:t>
            </a:r>
            <a:r>
              <a:rPr sz="1200" i="1" dirty="0">
                <a:latin typeface="Times New Roman"/>
                <a:cs typeface="Times New Roman"/>
              </a:rPr>
              <a:t>of</a:t>
            </a:r>
            <a:r>
              <a:rPr sz="1200" i="1" spc="20" dirty="0">
                <a:latin typeface="Times New Roman"/>
                <a:cs typeface="Times New Roman"/>
              </a:rPr>
              <a:t> </a:t>
            </a:r>
            <a:r>
              <a:rPr sz="1200" i="1" dirty="0">
                <a:latin typeface="Times New Roman"/>
                <a:cs typeface="Times New Roman"/>
              </a:rPr>
              <a:t>the</a:t>
            </a:r>
            <a:r>
              <a:rPr sz="1200" i="1" spc="-35" dirty="0">
                <a:latin typeface="Times New Roman"/>
                <a:cs typeface="Times New Roman"/>
              </a:rPr>
              <a:t> </a:t>
            </a:r>
            <a:r>
              <a:rPr sz="1200" i="1" spc="-10" dirty="0">
                <a:latin typeface="Times New Roman"/>
                <a:cs typeface="Times New Roman"/>
              </a:rPr>
              <a:t>degree </a:t>
            </a:r>
            <a:r>
              <a:rPr sz="1200" i="1" spc="-25" dirty="0">
                <a:latin typeface="Times New Roman"/>
                <a:cs typeface="Times New Roman"/>
              </a:rPr>
              <a:t>of</a:t>
            </a:r>
            <a:endParaRPr sz="1200" dirty="0">
              <a:latin typeface="Times New Roman"/>
              <a:cs typeface="Times New Roman"/>
            </a:endParaRPr>
          </a:p>
          <a:p>
            <a:pPr algn="ctr">
              <a:lnSpc>
                <a:spcPct val="100000"/>
              </a:lnSpc>
              <a:spcBef>
                <a:spcPts val="570"/>
              </a:spcBef>
            </a:pPr>
            <a:r>
              <a:rPr sz="1400" b="1" spc="-10" dirty="0">
                <a:latin typeface="Times New Roman"/>
                <a:cs typeface="Times New Roman"/>
              </a:rPr>
              <a:t>Bachelor</a:t>
            </a:r>
            <a:r>
              <a:rPr sz="1400" b="1" spc="-20" dirty="0">
                <a:latin typeface="Times New Roman"/>
                <a:cs typeface="Times New Roman"/>
              </a:rPr>
              <a:t> </a:t>
            </a:r>
            <a:r>
              <a:rPr sz="1400" b="1" dirty="0">
                <a:latin typeface="Times New Roman"/>
                <a:cs typeface="Times New Roman"/>
              </a:rPr>
              <a:t>of</a:t>
            </a:r>
            <a:r>
              <a:rPr sz="1400" b="1" spc="-20" dirty="0">
                <a:latin typeface="Times New Roman"/>
                <a:cs typeface="Times New Roman"/>
              </a:rPr>
              <a:t> </a:t>
            </a:r>
            <a:r>
              <a:rPr sz="1400" b="1" spc="-10" dirty="0">
                <a:latin typeface="Times New Roman"/>
                <a:cs typeface="Times New Roman"/>
              </a:rPr>
              <a:t>Technology</a:t>
            </a:r>
            <a:endParaRPr sz="1400" dirty="0">
              <a:latin typeface="Times New Roman"/>
              <a:cs typeface="Times New Roman"/>
            </a:endParaRPr>
          </a:p>
          <a:p>
            <a:pPr marL="1905" algn="ctr">
              <a:lnSpc>
                <a:spcPct val="100000"/>
              </a:lnSpc>
              <a:spcBef>
                <a:spcPts val="555"/>
              </a:spcBef>
            </a:pPr>
            <a:r>
              <a:rPr sz="1300" spc="-25" dirty="0">
                <a:latin typeface="Times New Roman"/>
                <a:cs typeface="Times New Roman"/>
              </a:rPr>
              <a:t>in</a:t>
            </a:r>
            <a:endParaRPr sz="1300" dirty="0">
              <a:latin typeface="Times New Roman"/>
              <a:cs typeface="Times New Roman"/>
            </a:endParaRPr>
          </a:p>
          <a:p>
            <a:pPr algn="ctr">
              <a:lnSpc>
                <a:spcPct val="100000"/>
              </a:lnSpc>
              <a:spcBef>
                <a:spcPts val="570"/>
              </a:spcBef>
            </a:pPr>
            <a:r>
              <a:rPr sz="1400" b="1" spc="-10" dirty="0">
                <a:latin typeface="Times New Roman"/>
                <a:cs typeface="Times New Roman"/>
              </a:rPr>
              <a:t>Information</a:t>
            </a:r>
            <a:r>
              <a:rPr sz="1400" b="1" spc="-30" dirty="0">
                <a:latin typeface="Times New Roman"/>
                <a:cs typeface="Times New Roman"/>
              </a:rPr>
              <a:t> </a:t>
            </a:r>
            <a:r>
              <a:rPr sz="1400" b="1" spc="-10" dirty="0">
                <a:latin typeface="Times New Roman"/>
                <a:cs typeface="Times New Roman"/>
              </a:rPr>
              <a:t>Technology</a:t>
            </a:r>
            <a:endParaRPr sz="1400" dirty="0">
              <a:latin typeface="Times New Roman"/>
              <a:cs typeface="Times New Roman"/>
            </a:endParaRPr>
          </a:p>
        </p:txBody>
      </p:sp>
      <p:sp>
        <p:nvSpPr>
          <p:cNvPr id="3" name="object 3"/>
          <p:cNvSpPr txBox="1"/>
          <p:nvPr/>
        </p:nvSpPr>
        <p:spPr>
          <a:xfrm>
            <a:off x="3222498" y="4950967"/>
            <a:ext cx="130175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(Session</a:t>
            </a:r>
            <a:r>
              <a:rPr sz="1200" b="1" spc="-30" dirty="0">
                <a:latin typeface="Times New Roman"/>
                <a:cs typeface="Times New Roman"/>
              </a:rPr>
              <a:t> </a:t>
            </a:r>
            <a:r>
              <a:rPr sz="1200" b="1" dirty="0">
                <a:latin typeface="Times New Roman"/>
                <a:cs typeface="Times New Roman"/>
              </a:rPr>
              <a:t>2025-</a:t>
            </a:r>
            <a:r>
              <a:rPr sz="1200" b="1" spc="-10" dirty="0">
                <a:latin typeface="Times New Roman"/>
                <a:cs typeface="Times New Roman"/>
              </a:rPr>
              <a:t>2026)</a:t>
            </a:r>
            <a:endParaRPr sz="1200">
              <a:latin typeface="Times New Roman"/>
              <a:cs typeface="Times New Roman"/>
            </a:endParaRPr>
          </a:p>
        </p:txBody>
      </p:sp>
      <p:sp>
        <p:nvSpPr>
          <p:cNvPr id="4" name="object 4"/>
          <p:cNvSpPr txBox="1"/>
          <p:nvPr/>
        </p:nvSpPr>
        <p:spPr>
          <a:xfrm>
            <a:off x="810564" y="5413400"/>
            <a:ext cx="1649095" cy="1099185"/>
          </a:xfrm>
          <a:prstGeom prst="rect">
            <a:avLst/>
          </a:prstGeom>
        </p:spPr>
        <p:txBody>
          <a:bodyPr vert="horz" wrap="square" lIns="0" tIns="83185" rIns="0" bIns="0" rtlCol="0">
            <a:spAutoFit/>
          </a:bodyPr>
          <a:lstStyle/>
          <a:p>
            <a:pPr marL="12700">
              <a:lnSpc>
                <a:spcPct val="100000"/>
              </a:lnSpc>
              <a:spcBef>
                <a:spcPts val="655"/>
              </a:spcBef>
            </a:pPr>
            <a:r>
              <a:rPr sz="1300" b="1" dirty="0">
                <a:latin typeface="Times New Roman"/>
                <a:cs typeface="Times New Roman"/>
              </a:rPr>
              <a:t>Submitted</a:t>
            </a:r>
            <a:r>
              <a:rPr sz="1300" b="1" spc="-70" dirty="0">
                <a:latin typeface="Times New Roman"/>
                <a:cs typeface="Times New Roman"/>
              </a:rPr>
              <a:t> </a:t>
            </a:r>
            <a:r>
              <a:rPr sz="1300" b="1" spc="-25" dirty="0">
                <a:latin typeface="Times New Roman"/>
                <a:cs typeface="Times New Roman"/>
              </a:rPr>
              <a:t>to:</a:t>
            </a:r>
            <a:endParaRPr sz="1300">
              <a:latin typeface="Times New Roman"/>
              <a:cs typeface="Times New Roman"/>
            </a:endParaRPr>
          </a:p>
          <a:p>
            <a:pPr marL="12700" marR="5080">
              <a:lnSpc>
                <a:spcPct val="135400"/>
              </a:lnSpc>
            </a:pPr>
            <a:r>
              <a:rPr sz="1300" b="1" dirty="0">
                <a:latin typeface="Times New Roman"/>
                <a:cs typeface="Times New Roman"/>
              </a:rPr>
              <a:t>Ms. Priya</a:t>
            </a:r>
            <a:r>
              <a:rPr sz="1300" b="1" spc="-5" dirty="0">
                <a:latin typeface="Times New Roman"/>
                <a:cs typeface="Times New Roman"/>
              </a:rPr>
              <a:t> </a:t>
            </a:r>
            <a:r>
              <a:rPr sz="1300" b="1" spc="-10" dirty="0">
                <a:latin typeface="Times New Roman"/>
                <a:cs typeface="Times New Roman"/>
              </a:rPr>
              <a:t>Shekhawat </a:t>
            </a:r>
            <a:r>
              <a:rPr sz="1300" b="1" dirty="0">
                <a:latin typeface="Times New Roman"/>
                <a:cs typeface="Times New Roman"/>
              </a:rPr>
              <a:t>Ms.</a:t>
            </a:r>
            <a:r>
              <a:rPr sz="1300" b="1" spc="-20" dirty="0">
                <a:latin typeface="Times New Roman"/>
                <a:cs typeface="Times New Roman"/>
              </a:rPr>
              <a:t> </a:t>
            </a:r>
            <a:r>
              <a:rPr sz="1300" b="1" dirty="0">
                <a:latin typeface="Times New Roman"/>
                <a:cs typeface="Times New Roman"/>
              </a:rPr>
              <a:t>Shivani</a:t>
            </a:r>
            <a:r>
              <a:rPr sz="1300" b="1" spc="-35" dirty="0">
                <a:latin typeface="Times New Roman"/>
                <a:cs typeface="Times New Roman"/>
              </a:rPr>
              <a:t> </a:t>
            </a:r>
            <a:r>
              <a:rPr sz="1300" b="1" spc="-20" dirty="0">
                <a:latin typeface="Times New Roman"/>
                <a:cs typeface="Times New Roman"/>
              </a:rPr>
              <a:t>Jain </a:t>
            </a:r>
            <a:r>
              <a:rPr sz="1300" b="1" dirty="0">
                <a:latin typeface="Times New Roman"/>
                <a:cs typeface="Times New Roman"/>
              </a:rPr>
              <a:t>(Faculty</a:t>
            </a:r>
            <a:r>
              <a:rPr sz="1300" b="1" spc="-75" dirty="0">
                <a:latin typeface="Times New Roman"/>
                <a:cs typeface="Times New Roman"/>
              </a:rPr>
              <a:t> </a:t>
            </a:r>
            <a:r>
              <a:rPr sz="1300" b="1" spc="-10" dirty="0">
                <a:latin typeface="Times New Roman"/>
                <a:cs typeface="Times New Roman"/>
              </a:rPr>
              <a:t>Coordinators)</a:t>
            </a:r>
            <a:endParaRPr sz="1300">
              <a:latin typeface="Times New Roman"/>
              <a:cs typeface="Times New Roman"/>
            </a:endParaRPr>
          </a:p>
        </p:txBody>
      </p:sp>
      <p:sp>
        <p:nvSpPr>
          <p:cNvPr id="5" name="object 5"/>
          <p:cNvSpPr txBox="1"/>
          <p:nvPr/>
        </p:nvSpPr>
        <p:spPr>
          <a:xfrm>
            <a:off x="5838570" y="5413400"/>
            <a:ext cx="1095629" cy="807401"/>
          </a:xfrm>
          <a:prstGeom prst="rect">
            <a:avLst/>
          </a:prstGeom>
        </p:spPr>
        <p:txBody>
          <a:bodyPr vert="horz" wrap="square" lIns="0" tIns="12700" rIns="0" bIns="0" rtlCol="0">
            <a:spAutoFit/>
          </a:bodyPr>
          <a:lstStyle/>
          <a:p>
            <a:pPr marL="12700" marR="5080" algn="just">
              <a:lnSpc>
                <a:spcPct val="135400"/>
              </a:lnSpc>
              <a:spcBef>
                <a:spcPts val="100"/>
              </a:spcBef>
            </a:pPr>
            <a:r>
              <a:rPr sz="1300" b="1" spc="-10" dirty="0">
                <a:latin typeface="Times New Roman"/>
                <a:cs typeface="Times New Roman"/>
              </a:rPr>
              <a:t>Submitted </a:t>
            </a:r>
            <a:r>
              <a:rPr sz="1300" b="1" spc="-25" dirty="0">
                <a:latin typeface="Times New Roman"/>
                <a:cs typeface="Times New Roman"/>
              </a:rPr>
              <a:t>by: </a:t>
            </a:r>
            <a:endParaRPr lang="en-US" sz="1300" b="1" spc="-10" dirty="0">
              <a:latin typeface="Times New Roman"/>
              <a:cs typeface="Times New Roman"/>
            </a:endParaRPr>
          </a:p>
          <a:p>
            <a:pPr marL="12700" marR="5080" algn="just">
              <a:lnSpc>
                <a:spcPct val="135400"/>
              </a:lnSpc>
              <a:spcBef>
                <a:spcPts val="100"/>
              </a:spcBef>
            </a:pPr>
            <a:r>
              <a:rPr lang="en-IN" sz="1300" b="1" spc="-10" dirty="0">
                <a:latin typeface="Times New Roman"/>
                <a:cs typeface="Times New Roman"/>
              </a:rPr>
              <a:t>Nirmal Todwal</a:t>
            </a:r>
            <a:r>
              <a:rPr sz="1300" b="1" spc="-20" dirty="0">
                <a:latin typeface="Times New Roman"/>
                <a:cs typeface="Times New Roman"/>
              </a:rPr>
              <a:t> </a:t>
            </a:r>
            <a:r>
              <a:rPr sz="1300" b="1" spc="-10" dirty="0">
                <a:latin typeface="Times New Roman"/>
                <a:cs typeface="Times New Roman"/>
              </a:rPr>
              <a:t>PCE23IT0</a:t>
            </a:r>
            <a:r>
              <a:rPr lang="en-US" sz="1300" b="1" spc="-10" dirty="0">
                <a:latin typeface="Times New Roman"/>
                <a:cs typeface="Times New Roman"/>
              </a:rPr>
              <a:t>35</a:t>
            </a:r>
            <a:endParaRPr sz="1300" dirty="0">
              <a:latin typeface="Times New Roman"/>
              <a:cs typeface="Times New Roman"/>
            </a:endParaRPr>
          </a:p>
        </p:txBody>
      </p:sp>
      <p:sp>
        <p:nvSpPr>
          <p:cNvPr id="6" name="object 6"/>
          <p:cNvSpPr txBox="1"/>
          <p:nvPr/>
        </p:nvSpPr>
        <p:spPr>
          <a:xfrm>
            <a:off x="1569847" y="6760895"/>
            <a:ext cx="4608830" cy="1495425"/>
          </a:xfrm>
          <a:prstGeom prst="rect">
            <a:avLst/>
          </a:prstGeom>
        </p:spPr>
        <p:txBody>
          <a:bodyPr vert="horz" wrap="square" lIns="0" tIns="10795" rIns="0" bIns="0" rtlCol="0">
            <a:spAutoFit/>
          </a:bodyPr>
          <a:lstStyle/>
          <a:p>
            <a:pPr marL="12065" marR="5080" indent="-2540" algn="ctr">
              <a:lnSpc>
                <a:spcPct val="132700"/>
              </a:lnSpc>
              <a:spcBef>
                <a:spcPts val="85"/>
              </a:spcBef>
            </a:pPr>
            <a:r>
              <a:rPr sz="1500" b="1" spc="-25" dirty="0">
                <a:latin typeface="Times New Roman"/>
                <a:cs typeface="Times New Roman"/>
              </a:rPr>
              <a:t>DEPARTMENT</a:t>
            </a:r>
            <a:r>
              <a:rPr sz="1500" b="1" dirty="0">
                <a:latin typeface="Times New Roman"/>
                <a:cs typeface="Times New Roman"/>
              </a:rPr>
              <a:t> OF</a:t>
            </a:r>
            <a:r>
              <a:rPr sz="1500" b="1" spc="-65" dirty="0">
                <a:latin typeface="Times New Roman"/>
                <a:cs typeface="Times New Roman"/>
              </a:rPr>
              <a:t> </a:t>
            </a:r>
            <a:r>
              <a:rPr sz="1500" b="1" spc="-20" dirty="0">
                <a:latin typeface="Times New Roman"/>
                <a:cs typeface="Times New Roman"/>
              </a:rPr>
              <a:t>INFORMATION</a:t>
            </a:r>
            <a:r>
              <a:rPr sz="1500" b="1" spc="-35" dirty="0">
                <a:latin typeface="Times New Roman"/>
                <a:cs typeface="Times New Roman"/>
              </a:rPr>
              <a:t> </a:t>
            </a:r>
            <a:r>
              <a:rPr sz="1500" b="1" spc="-10" dirty="0">
                <a:latin typeface="Times New Roman"/>
                <a:cs typeface="Times New Roman"/>
              </a:rPr>
              <a:t>TECHNOLOGY POORNIMA</a:t>
            </a:r>
            <a:r>
              <a:rPr sz="1500" b="1" spc="-105" dirty="0">
                <a:latin typeface="Times New Roman"/>
                <a:cs typeface="Times New Roman"/>
              </a:rPr>
              <a:t> </a:t>
            </a:r>
            <a:r>
              <a:rPr sz="1500" b="1" dirty="0">
                <a:latin typeface="Times New Roman"/>
                <a:cs typeface="Times New Roman"/>
              </a:rPr>
              <a:t>COLLEGE</a:t>
            </a:r>
            <a:r>
              <a:rPr sz="1500" b="1" spc="5" dirty="0">
                <a:latin typeface="Times New Roman"/>
                <a:cs typeface="Times New Roman"/>
              </a:rPr>
              <a:t> </a:t>
            </a:r>
            <a:r>
              <a:rPr sz="1500" b="1" dirty="0">
                <a:latin typeface="Times New Roman"/>
                <a:cs typeface="Times New Roman"/>
              </a:rPr>
              <a:t>OF</a:t>
            </a:r>
            <a:r>
              <a:rPr sz="1500" b="1" spc="-55" dirty="0">
                <a:latin typeface="Times New Roman"/>
                <a:cs typeface="Times New Roman"/>
              </a:rPr>
              <a:t> </a:t>
            </a:r>
            <a:r>
              <a:rPr sz="1500" b="1" spc="-10" dirty="0">
                <a:latin typeface="Times New Roman"/>
                <a:cs typeface="Times New Roman"/>
              </a:rPr>
              <a:t>ENGINEERING,</a:t>
            </a:r>
            <a:r>
              <a:rPr sz="1500" b="1" spc="-15" dirty="0">
                <a:latin typeface="Times New Roman"/>
                <a:cs typeface="Times New Roman"/>
              </a:rPr>
              <a:t> </a:t>
            </a:r>
            <a:r>
              <a:rPr sz="1500" b="1" spc="-10" dirty="0">
                <a:latin typeface="Times New Roman"/>
                <a:cs typeface="Times New Roman"/>
              </a:rPr>
              <a:t>JAIPUR RAJASTHAN</a:t>
            </a:r>
            <a:r>
              <a:rPr sz="1500" b="1" spc="-35" dirty="0">
                <a:latin typeface="Times New Roman"/>
                <a:cs typeface="Times New Roman"/>
              </a:rPr>
              <a:t> </a:t>
            </a:r>
            <a:r>
              <a:rPr sz="1500" b="1" spc="-20" dirty="0">
                <a:latin typeface="Times New Roman"/>
                <a:cs typeface="Times New Roman"/>
              </a:rPr>
              <a:t>TECHNICAL</a:t>
            </a:r>
            <a:r>
              <a:rPr sz="1500" b="1" spc="-35" dirty="0">
                <a:latin typeface="Times New Roman"/>
                <a:cs typeface="Times New Roman"/>
              </a:rPr>
              <a:t> </a:t>
            </a:r>
            <a:r>
              <a:rPr sz="1500" b="1" spc="-25" dirty="0">
                <a:latin typeface="Times New Roman"/>
                <a:cs typeface="Times New Roman"/>
              </a:rPr>
              <a:t>UNIVERSITY,</a:t>
            </a:r>
            <a:r>
              <a:rPr sz="1500" b="1" spc="25" dirty="0">
                <a:latin typeface="Times New Roman"/>
                <a:cs typeface="Times New Roman"/>
              </a:rPr>
              <a:t> </a:t>
            </a:r>
            <a:r>
              <a:rPr sz="1500" b="1" spc="-20" dirty="0">
                <a:latin typeface="Times New Roman"/>
                <a:cs typeface="Times New Roman"/>
              </a:rPr>
              <a:t>KOTA</a:t>
            </a:r>
            <a:endParaRPr sz="1500">
              <a:latin typeface="Times New Roman"/>
              <a:cs typeface="Times New Roman"/>
            </a:endParaRPr>
          </a:p>
          <a:p>
            <a:pPr>
              <a:lnSpc>
                <a:spcPct val="100000"/>
              </a:lnSpc>
              <a:spcBef>
                <a:spcPts val="1140"/>
              </a:spcBef>
            </a:pPr>
            <a:endParaRPr sz="1500">
              <a:latin typeface="Times New Roman"/>
              <a:cs typeface="Times New Roman"/>
            </a:endParaRPr>
          </a:p>
          <a:p>
            <a:pPr algn="ctr">
              <a:lnSpc>
                <a:spcPct val="100000"/>
              </a:lnSpc>
            </a:pPr>
            <a:r>
              <a:rPr sz="1300" b="1" dirty="0">
                <a:latin typeface="Times New Roman"/>
                <a:cs typeface="Times New Roman"/>
              </a:rPr>
              <a:t>August,</a:t>
            </a:r>
            <a:r>
              <a:rPr sz="1300" b="1" spc="-40" dirty="0">
                <a:latin typeface="Times New Roman"/>
                <a:cs typeface="Times New Roman"/>
              </a:rPr>
              <a:t> </a:t>
            </a:r>
            <a:r>
              <a:rPr sz="1300" b="1" spc="-20" dirty="0">
                <a:latin typeface="Times New Roman"/>
                <a:cs typeface="Times New Roman"/>
              </a:rPr>
              <a:t>2025</a:t>
            </a:r>
            <a:endParaRPr sz="1300">
              <a:latin typeface="Times New Roman"/>
              <a:cs typeface="Times New Roman"/>
            </a:endParaRPr>
          </a:p>
        </p:txBody>
      </p:sp>
      <p:pic>
        <p:nvPicPr>
          <p:cNvPr id="7" name="object 7"/>
          <p:cNvPicPr/>
          <p:nvPr/>
        </p:nvPicPr>
        <p:blipFill>
          <a:blip r:embed="rId2" cstate="print"/>
          <a:stretch>
            <a:fillRect/>
          </a:stretch>
        </p:blipFill>
        <p:spPr>
          <a:xfrm>
            <a:off x="3021964" y="3307207"/>
            <a:ext cx="1702562" cy="15868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823208" y="8814585"/>
            <a:ext cx="104775" cy="189865"/>
          </a:xfrm>
          <a:prstGeom prst="rect">
            <a:avLst/>
          </a:prstGeom>
        </p:spPr>
        <p:txBody>
          <a:bodyPr vert="horz" wrap="square" lIns="0" tIns="6350" rIns="0" bIns="0" rtlCol="0">
            <a:spAutoFit/>
          </a:bodyPr>
          <a:lstStyle/>
          <a:p>
            <a:pPr marL="12700">
              <a:lnSpc>
                <a:spcPct val="100000"/>
              </a:lnSpc>
              <a:spcBef>
                <a:spcPts val="50"/>
              </a:spcBef>
            </a:pPr>
            <a:r>
              <a:rPr sz="1100" spc="-25" dirty="0">
                <a:latin typeface="Cambria"/>
                <a:cs typeface="Cambria"/>
              </a:rPr>
              <a:t>ii</a:t>
            </a:r>
            <a:endParaRPr sz="1100">
              <a:latin typeface="Cambria"/>
              <a:cs typeface="Cambria"/>
            </a:endParaRPr>
          </a:p>
        </p:txBody>
      </p:sp>
      <p:sp>
        <p:nvSpPr>
          <p:cNvPr id="2" name="object 2"/>
          <p:cNvSpPr txBox="1"/>
          <p:nvPr/>
        </p:nvSpPr>
        <p:spPr>
          <a:xfrm>
            <a:off x="810564" y="691642"/>
            <a:ext cx="6125845" cy="4606967"/>
          </a:xfrm>
          <a:prstGeom prst="rect">
            <a:avLst/>
          </a:prstGeom>
        </p:spPr>
        <p:txBody>
          <a:bodyPr vert="horz" wrap="square" lIns="0" tIns="11430" rIns="0" bIns="0" rtlCol="0">
            <a:spAutoFit/>
          </a:bodyPr>
          <a:lstStyle/>
          <a:p>
            <a:pPr algn="ctr">
              <a:lnSpc>
                <a:spcPct val="100000"/>
              </a:lnSpc>
              <a:spcBef>
                <a:spcPts val="90"/>
              </a:spcBef>
            </a:pPr>
            <a:r>
              <a:rPr sz="1400" b="1" spc="-20" dirty="0">
                <a:latin typeface="Times New Roman"/>
                <a:cs typeface="Times New Roman"/>
              </a:rPr>
              <a:t>CANDIDATE</a:t>
            </a:r>
            <a:r>
              <a:rPr sz="1400" b="1" spc="-5" dirty="0">
                <a:latin typeface="Times New Roman"/>
                <a:cs typeface="Times New Roman"/>
              </a:rPr>
              <a:t> </a:t>
            </a:r>
            <a:r>
              <a:rPr sz="1400" b="1" spc="-10" dirty="0">
                <a:latin typeface="Times New Roman"/>
                <a:cs typeface="Times New Roman"/>
              </a:rPr>
              <a:t>DECLARATION</a:t>
            </a:r>
            <a:endParaRPr sz="1400" dirty="0">
              <a:latin typeface="Times New Roman"/>
              <a:cs typeface="Times New Roman"/>
            </a:endParaRPr>
          </a:p>
          <a:p>
            <a:pPr>
              <a:lnSpc>
                <a:spcPct val="100000"/>
              </a:lnSpc>
              <a:spcBef>
                <a:spcPts val="1055"/>
              </a:spcBef>
            </a:pPr>
            <a:endParaRPr sz="1400" dirty="0">
              <a:latin typeface="Times New Roman"/>
              <a:cs typeface="Times New Roman"/>
            </a:endParaRPr>
          </a:p>
          <a:p>
            <a:pPr marL="12700" marR="5080" algn="just">
              <a:lnSpc>
                <a:spcPct val="143800"/>
              </a:lnSpc>
            </a:pPr>
            <a:r>
              <a:rPr lang="en-US" sz="1200" dirty="0"/>
              <a:t>I hereby declare that the work which is being presented in this Industrial Training Report entitled </a:t>
            </a:r>
            <a:r>
              <a:rPr lang="en-US" sz="1200" b="1" dirty="0"/>
              <a:t>“NIDHI-SETU: A Secure Bridge Between Citizens and Government Funds”</a:t>
            </a:r>
            <a:r>
              <a:rPr lang="en-US" sz="1200" dirty="0"/>
              <a:t>, in partial fulfillment of the requirements for the award of the </a:t>
            </a:r>
            <a:r>
              <a:rPr lang="en-US" sz="1200" b="1" dirty="0"/>
              <a:t>Degree of Bachelor of Technology in Information Technology</a:t>
            </a:r>
            <a:r>
              <a:rPr lang="en-US" sz="1200" dirty="0"/>
              <a:t>, and submitted to the </a:t>
            </a:r>
            <a:r>
              <a:rPr lang="en-US" sz="1200" b="1" dirty="0"/>
              <a:t>Department of Information Technology, Poornima College of Engineering, Jaipur</a:t>
            </a:r>
            <a:r>
              <a:rPr lang="en-US" sz="1200" dirty="0"/>
              <a:t>, is an authentic record of my own work carried out at </a:t>
            </a:r>
            <a:r>
              <a:rPr lang="en-US" sz="1200" b="1" dirty="0"/>
              <a:t>Seldom India Technologies, Jaipur</a:t>
            </a:r>
            <a:r>
              <a:rPr lang="en-US" sz="1200" dirty="0"/>
              <a:t>, during the session </a:t>
            </a:r>
            <a:r>
              <a:rPr lang="en-US" sz="1200" b="1" dirty="0"/>
              <a:t>2024–25 (Odd Semester)</a:t>
            </a:r>
            <a:r>
              <a:rPr lang="en-US" sz="1200" dirty="0"/>
              <a:t> </a:t>
            </a:r>
            <a:endParaRPr sz="1200" dirty="0">
              <a:latin typeface="Times New Roman"/>
              <a:cs typeface="Times New Roman"/>
            </a:endParaRPr>
          </a:p>
          <a:p>
            <a:pPr marL="12700">
              <a:lnSpc>
                <a:spcPct val="100000"/>
              </a:lnSpc>
            </a:pPr>
            <a:r>
              <a:rPr sz="1200" dirty="0">
                <a:latin typeface="Times New Roman"/>
                <a:cs typeface="Times New Roman"/>
              </a:rPr>
              <a:t>I</a:t>
            </a:r>
            <a:r>
              <a:rPr sz="1200" spc="-15" dirty="0">
                <a:latin typeface="Times New Roman"/>
                <a:cs typeface="Times New Roman"/>
              </a:rPr>
              <a:t> </a:t>
            </a:r>
            <a:r>
              <a:rPr sz="1200" dirty="0">
                <a:latin typeface="Times New Roman"/>
                <a:cs typeface="Times New Roman"/>
              </a:rPr>
              <a:t>have not</a:t>
            </a:r>
            <a:r>
              <a:rPr sz="1200" spc="10" dirty="0">
                <a:latin typeface="Times New Roman"/>
                <a:cs typeface="Times New Roman"/>
              </a:rPr>
              <a:t> </a:t>
            </a:r>
            <a:r>
              <a:rPr sz="1200" spc="-10" dirty="0">
                <a:latin typeface="Times New Roman"/>
                <a:cs typeface="Times New Roman"/>
              </a:rPr>
              <a:t>submitted</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matter</a:t>
            </a:r>
            <a:r>
              <a:rPr sz="1200" spc="-30" dirty="0">
                <a:latin typeface="Times New Roman"/>
                <a:cs typeface="Times New Roman"/>
              </a:rPr>
              <a:t> </a:t>
            </a:r>
            <a:r>
              <a:rPr sz="1200" dirty="0">
                <a:latin typeface="Times New Roman"/>
                <a:cs typeface="Times New Roman"/>
              </a:rPr>
              <a:t>presented</a:t>
            </a:r>
            <a:r>
              <a:rPr sz="1200" spc="-1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report</a:t>
            </a:r>
            <a:r>
              <a:rPr sz="1200" spc="-15" dirty="0">
                <a:latin typeface="Times New Roman"/>
                <a:cs typeface="Times New Roman"/>
              </a:rPr>
              <a:t> </a:t>
            </a:r>
            <a:r>
              <a:rPr sz="1200" dirty="0">
                <a:latin typeface="Times New Roman"/>
                <a:cs typeface="Times New Roman"/>
              </a:rPr>
              <a:t>anywhere for</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award</a:t>
            </a:r>
            <a:r>
              <a:rPr sz="1200" spc="-40"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any</a:t>
            </a:r>
            <a:r>
              <a:rPr sz="1200" spc="-60"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spc="-10" dirty="0">
                <a:latin typeface="Times New Roman"/>
                <a:cs typeface="Times New Roman"/>
              </a:rPr>
              <a:t>Degree.</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720"/>
              </a:spcBef>
            </a:pPr>
            <a:endParaRPr sz="1200" dirty="0">
              <a:latin typeface="Times New Roman"/>
              <a:cs typeface="Times New Roman"/>
            </a:endParaRPr>
          </a:p>
          <a:p>
            <a:pPr marL="12700">
              <a:lnSpc>
                <a:spcPct val="100000"/>
              </a:lnSpc>
              <a:spcBef>
                <a:spcPts val="5"/>
              </a:spcBef>
            </a:pPr>
            <a:r>
              <a:rPr sz="1200" dirty="0">
                <a:latin typeface="Times New Roman"/>
                <a:cs typeface="Times New Roman"/>
              </a:rPr>
              <a:t>Signature</a:t>
            </a:r>
            <a:r>
              <a:rPr sz="1200" spc="-4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Student</a:t>
            </a:r>
            <a:r>
              <a:rPr sz="1200" spc="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Name</a:t>
            </a:r>
            <a:r>
              <a:rPr sz="1200" spc="-20" dirty="0">
                <a:latin typeface="Times New Roman"/>
                <a:cs typeface="Times New Roman"/>
              </a:rPr>
              <a:t> </a:t>
            </a:r>
            <a:r>
              <a:rPr sz="1200" dirty="0">
                <a:latin typeface="Times New Roman"/>
                <a:cs typeface="Times New Roman"/>
              </a:rPr>
              <a:t>&amp;</a:t>
            </a:r>
            <a:r>
              <a:rPr sz="1200" spc="-40" dirty="0">
                <a:latin typeface="Times New Roman"/>
                <a:cs typeface="Times New Roman"/>
              </a:rPr>
              <a:t> </a:t>
            </a:r>
            <a:r>
              <a:rPr sz="1200" dirty="0">
                <a:latin typeface="Times New Roman"/>
                <a:cs typeface="Times New Roman"/>
              </a:rPr>
              <a:t>Reg.</a:t>
            </a:r>
            <a:r>
              <a:rPr sz="1200" spc="-5"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lang="en-US" sz="1200" spc="-20" dirty="0">
                <a:latin typeface="Times New Roman"/>
                <a:cs typeface="Times New Roman"/>
              </a:rPr>
              <a:t>Nirmal Todwal</a:t>
            </a:r>
            <a:r>
              <a:rPr sz="1200" spc="-20" dirty="0">
                <a:latin typeface="Times New Roman"/>
                <a:cs typeface="Times New Roman"/>
              </a:rPr>
              <a:t> </a:t>
            </a:r>
            <a:r>
              <a:rPr sz="1200" spc="-10" dirty="0">
                <a:latin typeface="Times New Roman"/>
                <a:cs typeface="Times New Roman"/>
              </a:rPr>
              <a:t>(PCE23IT0</a:t>
            </a:r>
            <a:r>
              <a:rPr lang="en-US" sz="1200" spc="-10" dirty="0">
                <a:latin typeface="Times New Roman"/>
                <a:cs typeface="Times New Roman"/>
              </a:rPr>
              <a:t>35</a:t>
            </a:r>
            <a:r>
              <a:rPr sz="1200" spc="-10" dirty="0">
                <a:latin typeface="Times New Roman"/>
                <a:cs typeface="Times New Roman"/>
              </a:rPr>
              <a:t>)</a:t>
            </a:r>
            <a:endParaRPr sz="1200" dirty="0">
              <a:latin typeface="Times New Roman"/>
              <a:cs typeface="Times New Roman"/>
            </a:endParaRPr>
          </a:p>
          <a:p>
            <a:pPr>
              <a:lnSpc>
                <a:spcPct val="100000"/>
              </a:lnSpc>
              <a:spcBef>
                <a:spcPts val="1330"/>
              </a:spcBef>
            </a:pPr>
            <a:endParaRPr sz="1200" dirty="0">
              <a:latin typeface="Times New Roman"/>
              <a:cs typeface="Times New Roman"/>
            </a:endParaRPr>
          </a:p>
          <a:p>
            <a:pPr marL="12700">
              <a:lnSpc>
                <a:spcPct val="100000"/>
              </a:lnSpc>
            </a:pPr>
            <a:r>
              <a:rPr sz="1200" dirty="0">
                <a:latin typeface="Times New Roman"/>
                <a:cs typeface="Times New Roman"/>
              </a:rPr>
              <a:t>Place:</a:t>
            </a:r>
            <a:r>
              <a:rPr sz="1200" spc="-60" dirty="0">
                <a:latin typeface="Times New Roman"/>
                <a:cs typeface="Times New Roman"/>
              </a:rPr>
              <a:t> </a:t>
            </a:r>
            <a:r>
              <a:rPr sz="1200" spc="-10" dirty="0">
                <a:latin typeface="Times New Roman"/>
                <a:cs typeface="Times New Roman"/>
              </a:rPr>
              <a:t>Jaipur</a:t>
            </a:r>
            <a:endParaRPr sz="1200" dirty="0">
              <a:latin typeface="Times New Roman"/>
              <a:cs typeface="Times New Roman"/>
            </a:endParaRPr>
          </a:p>
          <a:p>
            <a:pPr marL="12700">
              <a:lnSpc>
                <a:spcPct val="100000"/>
              </a:lnSpc>
              <a:spcBef>
                <a:spcPts val="625"/>
              </a:spcBef>
            </a:pPr>
            <a:r>
              <a:rPr sz="1200" dirty="0">
                <a:latin typeface="Times New Roman"/>
                <a:cs typeface="Times New Roman"/>
              </a:rPr>
              <a:t>Date:</a:t>
            </a:r>
            <a:r>
              <a:rPr sz="1200" spc="-15" dirty="0">
                <a:latin typeface="Times New Roman"/>
                <a:cs typeface="Times New Roman"/>
              </a:rPr>
              <a:t> </a:t>
            </a:r>
            <a:r>
              <a:rPr sz="1200" spc="-10" dirty="0">
                <a:latin typeface="Times New Roman"/>
                <a:cs typeface="Times New Roman"/>
              </a:rPr>
              <a:t>04/08/2025</a:t>
            </a:r>
            <a:endParaRPr sz="1200" dirty="0">
              <a:latin typeface="Times New Roman"/>
              <a:cs typeface="Times New Roman"/>
            </a:endParaRPr>
          </a:p>
          <a:p>
            <a:pPr>
              <a:lnSpc>
                <a:spcPct val="100000"/>
              </a:lnSpc>
              <a:spcBef>
                <a:spcPts val="1335"/>
              </a:spcBef>
            </a:pPr>
            <a:endParaRPr sz="1200" dirty="0">
              <a:latin typeface="Times New Roman"/>
              <a:cs typeface="Times New Roman"/>
            </a:endParaRPr>
          </a:p>
          <a:p>
            <a:pPr marL="12700">
              <a:lnSpc>
                <a:spcPct val="100000"/>
              </a:lnSpc>
            </a:pPr>
            <a:r>
              <a:rPr sz="1200" spc="-10" dirty="0">
                <a:latin typeface="Times New Roman"/>
                <a:cs typeface="Times New Roman"/>
              </a:rPr>
              <a:t>Enclosed:</a:t>
            </a:r>
            <a:r>
              <a:rPr sz="1200" spc="-45" dirty="0">
                <a:latin typeface="Times New Roman"/>
                <a:cs typeface="Times New Roman"/>
              </a:rPr>
              <a:t> </a:t>
            </a:r>
            <a:r>
              <a:rPr sz="1200" spc="-10" dirty="0">
                <a:latin typeface="Times New Roman"/>
                <a:cs typeface="Times New Roman"/>
              </a:rPr>
              <a:t>Training</a:t>
            </a:r>
            <a:r>
              <a:rPr sz="1200" spc="-25" dirty="0">
                <a:latin typeface="Times New Roman"/>
                <a:cs typeface="Times New Roman"/>
              </a:rPr>
              <a:t> </a:t>
            </a:r>
            <a:r>
              <a:rPr sz="1200" dirty="0">
                <a:latin typeface="Times New Roman"/>
                <a:cs typeface="Times New Roman"/>
              </a:rPr>
              <a:t>Certificate</a:t>
            </a:r>
            <a:r>
              <a:rPr sz="1200" spc="-5" dirty="0">
                <a:latin typeface="Times New Roman"/>
                <a:cs typeface="Times New Roman"/>
              </a:rPr>
              <a:t> </a:t>
            </a:r>
            <a:r>
              <a:rPr sz="1200" dirty="0">
                <a:latin typeface="Times New Roman"/>
                <a:cs typeface="Times New Roman"/>
              </a:rPr>
              <a:t>from</a:t>
            </a:r>
            <a:r>
              <a:rPr sz="1200" spc="-65" dirty="0">
                <a:latin typeface="Times New Roman"/>
                <a:cs typeface="Times New Roman"/>
              </a:rPr>
              <a:t> </a:t>
            </a:r>
            <a:r>
              <a:rPr sz="1200" spc="-10" dirty="0">
                <a:latin typeface="Times New Roman"/>
                <a:cs typeface="Times New Roman"/>
              </a:rPr>
              <a:t>Company</a:t>
            </a:r>
            <a:endParaRPr sz="1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10564" y="1981326"/>
            <a:ext cx="6129655" cy="2825389"/>
          </a:xfrm>
          <a:prstGeom prst="rect">
            <a:avLst/>
          </a:prstGeom>
        </p:spPr>
        <p:txBody>
          <a:bodyPr vert="horz" wrap="square" lIns="0" tIns="11430" rIns="0" bIns="0" rtlCol="0">
            <a:spAutoFit/>
          </a:bodyPr>
          <a:lstStyle/>
          <a:p>
            <a:pPr marR="4445" algn="ctr">
              <a:lnSpc>
                <a:spcPct val="100000"/>
              </a:lnSpc>
              <a:spcBef>
                <a:spcPts val="90"/>
              </a:spcBef>
            </a:pPr>
            <a:r>
              <a:rPr sz="1400" b="1" spc="-20" dirty="0">
                <a:latin typeface="Times New Roman"/>
                <a:cs typeface="Times New Roman"/>
              </a:rPr>
              <a:t>DEPARTMENT</a:t>
            </a:r>
            <a:r>
              <a:rPr sz="1400" b="1" spc="-10" dirty="0">
                <a:latin typeface="Times New Roman"/>
                <a:cs typeface="Times New Roman"/>
              </a:rPr>
              <a:t> </a:t>
            </a:r>
            <a:r>
              <a:rPr sz="1400" b="1" dirty="0">
                <a:latin typeface="Times New Roman"/>
                <a:cs typeface="Times New Roman"/>
              </a:rPr>
              <a:t>OF</a:t>
            </a:r>
            <a:r>
              <a:rPr sz="1400" b="1" spc="-55" dirty="0">
                <a:latin typeface="Times New Roman"/>
                <a:cs typeface="Times New Roman"/>
              </a:rPr>
              <a:t> </a:t>
            </a:r>
            <a:r>
              <a:rPr sz="1400" b="1" spc="-20" dirty="0">
                <a:latin typeface="Times New Roman"/>
                <a:cs typeface="Times New Roman"/>
              </a:rPr>
              <a:t>INFORMATION</a:t>
            </a:r>
            <a:r>
              <a:rPr sz="1400" b="1" spc="-15" dirty="0">
                <a:latin typeface="Times New Roman"/>
                <a:cs typeface="Times New Roman"/>
              </a:rPr>
              <a:t> </a:t>
            </a:r>
            <a:r>
              <a:rPr sz="1400" b="1" spc="-10" dirty="0">
                <a:latin typeface="Times New Roman"/>
                <a:cs typeface="Times New Roman"/>
              </a:rPr>
              <a:t>TECHNOLOGY</a:t>
            </a:r>
            <a:endParaRPr sz="1400" dirty="0">
              <a:latin typeface="Times New Roman"/>
              <a:cs typeface="Times New Roman"/>
            </a:endParaRPr>
          </a:p>
          <a:p>
            <a:pPr marR="5080" algn="r">
              <a:lnSpc>
                <a:spcPct val="100000"/>
              </a:lnSpc>
              <a:spcBef>
                <a:spcPts val="1330"/>
              </a:spcBef>
            </a:pPr>
            <a:r>
              <a:rPr sz="1200" dirty="0">
                <a:latin typeface="Times New Roman"/>
                <a:cs typeface="Times New Roman"/>
              </a:rPr>
              <a:t>Date:</a:t>
            </a:r>
            <a:r>
              <a:rPr sz="1200" spc="-10" dirty="0">
                <a:latin typeface="Times New Roman"/>
                <a:cs typeface="Times New Roman"/>
              </a:rPr>
              <a:t> 04/08/2025</a:t>
            </a:r>
            <a:endParaRPr sz="1200" dirty="0">
              <a:latin typeface="Times New Roman"/>
              <a:cs typeface="Times New Roman"/>
            </a:endParaRPr>
          </a:p>
          <a:p>
            <a:pPr>
              <a:lnSpc>
                <a:spcPct val="100000"/>
              </a:lnSpc>
              <a:spcBef>
                <a:spcPts val="1350"/>
              </a:spcBef>
            </a:pPr>
            <a:endParaRPr sz="1200" dirty="0">
              <a:latin typeface="Times New Roman"/>
              <a:cs typeface="Times New Roman"/>
            </a:endParaRPr>
          </a:p>
          <a:p>
            <a:pPr algn="ctr">
              <a:lnSpc>
                <a:spcPct val="100000"/>
              </a:lnSpc>
            </a:pPr>
            <a:r>
              <a:rPr sz="1400" b="1" spc="-20" dirty="0">
                <a:latin typeface="Times New Roman"/>
                <a:cs typeface="Times New Roman"/>
              </a:rPr>
              <a:t>DEPARTMENT</a:t>
            </a:r>
            <a:r>
              <a:rPr sz="1400" b="1" spc="-15" dirty="0">
                <a:latin typeface="Times New Roman"/>
                <a:cs typeface="Times New Roman"/>
              </a:rPr>
              <a:t> </a:t>
            </a:r>
            <a:r>
              <a:rPr sz="1400" b="1" spc="-10" dirty="0">
                <a:latin typeface="Times New Roman"/>
                <a:cs typeface="Times New Roman"/>
              </a:rPr>
              <a:t>CERTIFICATE</a:t>
            </a:r>
            <a:endParaRPr sz="1400" dirty="0">
              <a:latin typeface="Times New Roman"/>
              <a:cs typeface="Times New Roman"/>
            </a:endParaRPr>
          </a:p>
          <a:p>
            <a:pPr>
              <a:lnSpc>
                <a:spcPct val="100000"/>
              </a:lnSpc>
              <a:spcBef>
                <a:spcPts val="520"/>
              </a:spcBef>
            </a:pPr>
            <a:endParaRPr sz="1400" dirty="0">
              <a:latin typeface="Times New Roman"/>
              <a:cs typeface="Times New Roman"/>
            </a:endParaRPr>
          </a:p>
          <a:p>
            <a:pPr marL="12700" marR="6350" algn="just">
              <a:lnSpc>
                <a:spcPct val="144000"/>
              </a:lnSpc>
              <a:spcBef>
                <a:spcPts val="5"/>
              </a:spcBef>
            </a:pP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certify</a:t>
            </a:r>
            <a:r>
              <a:rPr sz="1200" spc="10" dirty="0">
                <a:latin typeface="Times New Roman"/>
                <a:cs typeface="Times New Roman"/>
              </a:rPr>
              <a:t> </a:t>
            </a:r>
            <a:r>
              <a:rPr sz="1200" dirty="0">
                <a:latin typeface="Times New Roman"/>
                <a:cs typeface="Times New Roman"/>
              </a:rPr>
              <a:t>that</a:t>
            </a:r>
            <a:r>
              <a:rPr sz="1200" spc="70" dirty="0">
                <a:latin typeface="Times New Roman"/>
                <a:cs typeface="Times New Roman"/>
              </a:rPr>
              <a:t> </a:t>
            </a:r>
            <a:r>
              <a:rPr sz="1200" b="1" dirty="0">
                <a:latin typeface="Times New Roman"/>
                <a:cs typeface="Times New Roman"/>
              </a:rPr>
              <a:t>Industrial</a:t>
            </a:r>
            <a:r>
              <a:rPr sz="1200" b="1" spc="5" dirty="0">
                <a:latin typeface="Times New Roman"/>
                <a:cs typeface="Times New Roman"/>
              </a:rPr>
              <a:t> </a:t>
            </a:r>
            <a:r>
              <a:rPr sz="1200" b="1" dirty="0">
                <a:latin typeface="Times New Roman"/>
                <a:cs typeface="Times New Roman"/>
              </a:rPr>
              <a:t>Training</a:t>
            </a:r>
            <a:r>
              <a:rPr sz="1200" b="1" spc="40" dirty="0">
                <a:latin typeface="Times New Roman"/>
                <a:cs typeface="Times New Roman"/>
              </a:rPr>
              <a:t> </a:t>
            </a:r>
            <a:r>
              <a:rPr sz="1200" dirty="0">
                <a:latin typeface="Times New Roman"/>
                <a:cs typeface="Times New Roman"/>
              </a:rPr>
              <a:t>report</a:t>
            </a:r>
            <a:r>
              <a:rPr sz="1200" spc="15" dirty="0">
                <a:latin typeface="Times New Roman"/>
                <a:cs typeface="Times New Roman"/>
              </a:rPr>
              <a:t> </a:t>
            </a:r>
            <a:r>
              <a:rPr sz="1200" dirty="0">
                <a:latin typeface="Times New Roman"/>
                <a:cs typeface="Times New Roman"/>
              </a:rPr>
              <a:t>titled</a:t>
            </a:r>
            <a:r>
              <a:rPr sz="1200" spc="40" dirty="0">
                <a:latin typeface="Times New Roman"/>
                <a:cs typeface="Times New Roman"/>
              </a:rPr>
              <a:t> </a:t>
            </a:r>
            <a:r>
              <a:rPr lang="en-IN" sz="1200" b="1" spc="-10" dirty="0">
                <a:latin typeface="Times New Roman"/>
                <a:cs typeface="Times New Roman"/>
              </a:rPr>
              <a:t>Funds Management System</a:t>
            </a:r>
            <a:r>
              <a:rPr sz="1200" b="1" spc="35" dirty="0">
                <a:latin typeface="Times New Roman"/>
                <a:cs typeface="Times New Roman"/>
              </a:rPr>
              <a:t> </a:t>
            </a:r>
            <a:r>
              <a:rPr sz="1200" dirty="0">
                <a:latin typeface="Times New Roman"/>
                <a:cs typeface="Times New Roman"/>
              </a:rPr>
              <a:t>has</a:t>
            </a:r>
            <a:r>
              <a:rPr sz="1200" spc="45" dirty="0">
                <a:latin typeface="Times New Roman"/>
                <a:cs typeface="Times New Roman"/>
              </a:rPr>
              <a:t> </a:t>
            </a:r>
            <a:r>
              <a:rPr sz="1200" dirty="0">
                <a:latin typeface="Times New Roman"/>
                <a:cs typeface="Times New Roman"/>
              </a:rPr>
              <a:t>been</a:t>
            </a:r>
            <a:r>
              <a:rPr sz="1200" spc="15" dirty="0">
                <a:latin typeface="Times New Roman"/>
                <a:cs typeface="Times New Roman"/>
              </a:rPr>
              <a:t> </a:t>
            </a:r>
            <a:r>
              <a:rPr sz="1200" dirty="0">
                <a:latin typeface="Times New Roman"/>
                <a:cs typeface="Times New Roman"/>
              </a:rPr>
              <a:t>submitted</a:t>
            </a:r>
            <a:r>
              <a:rPr sz="1200" spc="30" dirty="0">
                <a:latin typeface="Times New Roman"/>
                <a:cs typeface="Times New Roman"/>
              </a:rPr>
              <a:t> </a:t>
            </a:r>
            <a:r>
              <a:rPr sz="1200" spc="-25" dirty="0">
                <a:latin typeface="Times New Roman"/>
                <a:cs typeface="Times New Roman"/>
              </a:rPr>
              <a:t>by </a:t>
            </a:r>
            <a:r>
              <a:rPr lang="en-US" sz="1200" b="1" spc="-25" dirty="0">
                <a:latin typeface="Times New Roman"/>
                <a:cs typeface="Times New Roman"/>
              </a:rPr>
              <a:t>Nirmal Todwal</a:t>
            </a:r>
            <a:r>
              <a:rPr sz="1200" b="1" spc="130" dirty="0">
                <a:latin typeface="Times New Roman"/>
                <a:cs typeface="Times New Roman"/>
              </a:rPr>
              <a:t> </a:t>
            </a:r>
            <a:r>
              <a:rPr sz="1200" dirty="0">
                <a:latin typeface="Times New Roman"/>
                <a:cs typeface="Times New Roman"/>
              </a:rPr>
              <a:t>with</a:t>
            </a:r>
            <a:r>
              <a:rPr sz="1200" spc="100" dirty="0">
                <a:latin typeface="Times New Roman"/>
                <a:cs typeface="Times New Roman"/>
              </a:rPr>
              <a:t> </a:t>
            </a:r>
            <a:r>
              <a:rPr sz="1200" dirty="0">
                <a:latin typeface="Times New Roman"/>
                <a:cs typeface="Times New Roman"/>
              </a:rPr>
              <a:t>registration</a:t>
            </a:r>
            <a:r>
              <a:rPr sz="1200" spc="100" dirty="0">
                <a:latin typeface="Times New Roman"/>
                <a:cs typeface="Times New Roman"/>
              </a:rPr>
              <a:t> </a:t>
            </a:r>
            <a:r>
              <a:rPr sz="1200" dirty="0">
                <a:latin typeface="Times New Roman"/>
                <a:cs typeface="Times New Roman"/>
              </a:rPr>
              <a:t>number</a:t>
            </a:r>
            <a:r>
              <a:rPr sz="1200" spc="150" dirty="0">
                <a:latin typeface="Times New Roman"/>
                <a:cs typeface="Times New Roman"/>
              </a:rPr>
              <a:t> </a:t>
            </a:r>
            <a:r>
              <a:rPr sz="1200" b="1" dirty="0">
                <a:latin typeface="Times New Roman"/>
                <a:cs typeface="Times New Roman"/>
              </a:rPr>
              <a:t>PCE23IT0</a:t>
            </a:r>
            <a:r>
              <a:rPr lang="en-US" sz="1200" b="1" dirty="0">
                <a:latin typeface="Times New Roman"/>
                <a:cs typeface="Times New Roman"/>
              </a:rPr>
              <a:t>35</a:t>
            </a:r>
            <a:r>
              <a:rPr sz="1200" b="1" spc="145" dirty="0">
                <a:latin typeface="Times New Roman"/>
                <a:cs typeface="Times New Roman"/>
              </a:rPr>
              <a:t> </a:t>
            </a:r>
            <a:r>
              <a:rPr sz="1200" dirty="0">
                <a:latin typeface="Times New Roman"/>
                <a:cs typeface="Times New Roman"/>
              </a:rPr>
              <a:t>in</a:t>
            </a:r>
            <a:r>
              <a:rPr sz="1200" spc="100" dirty="0">
                <a:latin typeface="Times New Roman"/>
                <a:cs typeface="Times New Roman"/>
              </a:rPr>
              <a:t> </a:t>
            </a:r>
            <a:r>
              <a:rPr sz="1200" dirty="0">
                <a:latin typeface="Times New Roman"/>
                <a:cs typeface="Times New Roman"/>
              </a:rPr>
              <a:t>partial</a:t>
            </a:r>
            <a:r>
              <a:rPr sz="1200" spc="125" dirty="0">
                <a:latin typeface="Times New Roman"/>
                <a:cs typeface="Times New Roman"/>
              </a:rPr>
              <a:t> </a:t>
            </a:r>
            <a:r>
              <a:rPr sz="1200" dirty="0">
                <a:latin typeface="Times New Roman"/>
                <a:cs typeface="Times New Roman"/>
              </a:rPr>
              <a:t>fulfillment</a:t>
            </a:r>
            <a:r>
              <a:rPr sz="1200" spc="165" dirty="0">
                <a:latin typeface="Times New Roman"/>
                <a:cs typeface="Times New Roman"/>
              </a:rPr>
              <a:t> </a:t>
            </a:r>
            <a:r>
              <a:rPr sz="1200" dirty="0">
                <a:latin typeface="Times New Roman"/>
                <a:cs typeface="Times New Roman"/>
              </a:rPr>
              <a:t>for</a:t>
            </a:r>
            <a:r>
              <a:rPr sz="1200" spc="10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award</a:t>
            </a:r>
            <a:r>
              <a:rPr sz="1200" spc="120" dirty="0">
                <a:latin typeface="Times New Roman"/>
                <a:cs typeface="Times New Roman"/>
              </a:rPr>
              <a:t> </a:t>
            </a:r>
            <a:r>
              <a:rPr sz="1200" dirty="0">
                <a:latin typeface="Times New Roman"/>
                <a:cs typeface="Times New Roman"/>
              </a:rPr>
              <a:t>of</a:t>
            </a:r>
            <a:r>
              <a:rPr sz="1200" spc="85" dirty="0">
                <a:latin typeface="Times New Roman"/>
                <a:cs typeface="Times New Roman"/>
              </a:rPr>
              <a:t> </a:t>
            </a:r>
            <a:r>
              <a:rPr sz="1200" spc="-25" dirty="0">
                <a:latin typeface="Times New Roman"/>
                <a:cs typeface="Times New Roman"/>
              </a:rPr>
              <a:t>the </a:t>
            </a:r>
            <a:r>
              <a:rPr sz="1200" dirty="0">
                <a:latin typeface="Times New Roman"/>
                <a:cs typeface="Times New Roman"/>
              </a:rPr>
              <a:t>Degree</a:t>
            </a:r>
            <a:r>
              <a:rPr sz="1200" spc="5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b="1" dirty="0">
                <a:latin typeface="Times New Roman"/>
                <a:cs typeface="Times New Roman"/>
              </a:rPr>
              <a:t>Bachelor</a:t>
            </a:r>
            <a:r>
              <a:rPr sz="1200" b="1" spc="10" dirty="0">
                <a:latin typeface="Times New Roman"/>
                <a:cs typeface="Times New Roman"/>
              </a:rPr>
              <a:t> </a:t>
            </a:r>
            <a:r>
              <a:rPr sz="1200" b="1" dirty="0">
                <a:latin typeface="Times New Roman"/>
                <a:cs typeface="Times New Roman"/>
              </a:rPr>
              <a:t>of</a:t>
            </a:r>
            <a:r>
              <a:rPr sz="1200" b="1" spc="15" dirty="0">
                <a:latin typeface="Times New Roman"/>
                <a:cs typeface="Times New Roman"/>
              </a:rPr>
              <a:t> </a:t>
            </a:r>
            <a:r>
              <a:rPr sz="1200" b="1" dirty="0">
                <a:latin typeface="Times New Roman"/>
                <a:cs typeface="Times New Roman"/>
              </a:rPr>
              <a:t>Technology</a:t>
            </a:r>
            <a:r>
              <a:rPr sz="1200" b="1" spc="9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b="1" dirty="0">
                <a:latin typeface="Times New Roman"/>
                <a:cs typeface="Times New Roman"/>
              </a:rPr>
              <a:t>Information</a:t>
            </a:r>
            <a:r>
              <a:rPr sz="1200" b="1" spc="35" dirty="0">
                <a:latin typeface="Times New Roman"/>
                <a:cs typeface="Times New Roman"/>
              </a:rPr>
              <a:t> </a:t>
            </a:r>
            <a:r>
              <a:rPr sz="1200" b="1" dirty="0">
                <a:latin typeface="Times New Roman"/>
                <a:cs typeface="Times New Roman"/>
              </a:rPr>
              <a:t>Technology</a:t>
            </a:r>
            <a:r>
              <a:rPr sz="1200" b="1" spc="70" dirty="0">
                <a:latin typeface="Times New Roman"/>
                <a:cs typeface="Times New Roman"/>
              </a:rPr>
              <a:t> </a:t>
            </a:r>
            <a:r>
              <a:rPr sz="1200" dirty="0">
                <a:latin typeface="Times New Roman"/>
                <a:cs typeface="Times New Roman"/>
              </a:rPr>
              <a:t>during</a:t>
            </a:r>
            <a:r>
              <a:rPr sz="1200" spc="5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session</a:t>
            </a:r>
            <a:r>
              <a:rPr sz="1200" spc="30" dirty="0">
                <a:latin typeface="Times New Roman"/>
                <a:cs typeface="Times New Roman"/>
              </a:rPr>
              <a:t> </a:t>
            </a:r>
            <a:r>
              <a:rPr sz="1200" dirty="0">
                <a:latin typeface="Times New Roman"/>
                <a:cs typeface="Times New Roman"/>
              </a:rPr>
              <a:t>2025-26,</a:t>
            </a:r>
            <a:r>
              <a:rPr sz="1200" spc="70" dirty="0">
                <a:latin typeface="Times New Roman"/>
                <a:cs typeface="Times New Roman"/>
              </a:rPr>
              <a:t> </a:t>
            </a:r>
            <a:r>
              <a:rPr sz="1200" spc="-25" dirty="0">
                <a:latin typeface="Times New Roman"/>
                <a:cs typeface="Times New Roman"/>
              </a:rPr>
              <a:t>Odd </a:t>
            </a:r>
            <a:r>
              <a:rPr sz="1200" spc="-10" dirty="0">
                <a:latin typeface="Times New Roman"/>
                <a:cs typeface="Times New Roman"/>
              </a:rPr>
              <a:t>Semester.</a:t>
            </a:r>
            <a:r>
              <a:rPr sz="1200" spc="-5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industrial</a:t>
            </a:r>
            <a:r>
              <a:rPr sz="1200" spc="-50" dirty="0">
                <a:latin typeface="Times New Roman"/>
                <a:cs typeface="Times New Roman"/>
              </a:rPr>
              <a:t> </a:t>
            </a:r>
            <a:r>
              <a:rPr sz="1200" dirty="0">
                <a:latin typeface="Times New Roman"/>
                <a:cs typeface="Times New Roman"/>
              </a:rPr>
              <a:t>training</a:t>
            </a:r>
            <a:r>
              <a:rPr sz="1200" spc="-1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found</a:t>
            </a:r>
            <a:r>
              <a:rPr sz="1200" spc="-15" dirty="0">
                <a:latin typeface="Times New Roman"/>
                <a:cs typeface="Times New Roman"/>
              </a:rPr>
              <a:t> </a:t>
            </a:r>
            <a:r>
              <a:rPr sz="1200" dirty="0">
                <a:latin typeface="Times New Roman"/>
                <a:cs typeface="Times New Roman"/>
              </a:rPr>
              <a:t>satisfactory</a:t>
            </a:r>
            <a:r>
              <a:rPr sz="1200" spc="-6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approved</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submission.</a:t>
            </a:r>
            <a:endParaRPr sz="1200" dirty="0">
              <a:latin typeface="Times New Roman"/>
              <a:cs typeface="Times New Roman"/>
            </a:endParaRPr>
          </a:p>
        </p:txBody>
      </p:sp>
      <p:sp>
        <p:nvSpPr>
          <p:cNvPr id="3" name="object 3"/>
          <p:cNvSpPr txBox="1"/>
          <p:nvPr/>
        </p:nvSpPr>
        <p:spPr>
          <a:xfrm>
            <a:off x="810564" y="5222240"/>
            <a:ext cx="3191510" cy="1074420"/>
          </a:xfrm>
          <a:prstGeom prst="rect">
            <a:avLst/>
          </a:prstGeom>
        </p:spPr>
        <p:txBody>
          <a:bodyPr vert="horz" wrap="square" lIns="0" tIns="91440" rIns="0" bIns="0" rtlCol="0">
            <a:spAutoFit/>
          </a:bodyPr>
          <a:lstStyle/>
          <a:p>
            <a:pPr marL="12700">
              <a:lnSpc>
                <a:spcPct val="100000"/>
              </a:lnSpc>
              <a:spcBef>
                <a:spcPts val="720"/>
              </a:spcBef>
            </a:pPr>
            <a:r>
              <a:rPr sz="1200" b="1" dirty="0">
                <a:latin typeface="Times New Roman"/>
                <a:cs typeface="Times New Roman"/>
              </a:rPr>
              <a:t>Names</a:t>
            </a:r>
            <a:r>
              <a:rPr sz="1200" b="1" spc="-25" dirty="0">
                <a:latin typeface="Times New Roman"/>
                <a:cs typeface="Times New Roman"/>
              </a:rPr>
              <a:t> </a:t>
            </a:r>
            <a:r>
              <a:rPr sz="1200" b="1" dirty="0">
                <a:latin typeface="Times New Roman"/>
                <a:cs typeface="Times New Roman"/>
              </a:rPr>
              <a:t>&amp;</a:t>
            </a:r>
            <a:r>
              <a:rPr sz="1200" b="1" spc="-10" dirty="0">
                <a:latin typeface="Times New Roman"/>
                <a:cs typeface="Times New Roman"/>
              </a:rPr>
              <a:t> Signatures</a:t>
            </a:r>
            <a:endParaRPr sz="1200">
              <a:latin typeface="Times New Roman"/>
              <a:cs typeface="Times New Roman"/>
            </a:endParaRPr>
          </a:p>
          <a:p>
            <a:pPr marL="165100" indent="-152400">
              <a:lnSpc>
                <a:spcPct val="100000"/>
              </a:lnSpc>
              <a:spcBef>
                <a:spcPts val="625"/>
              </a:spcBef>
              <a:buAutoNum type="arabicPeriod"/>
              <a:tabLst>
                <a:tab pos="165100" algn="l"/>
              </a:tabLst>
            </a:pPr>
            <a:r>
              <a:rPr sz="1200" b="1" dirty="0">
                <a:latin typeface="Times New Roman"/>
                <a:cs typeface="Times New Roman"/>
              </a:rPr>
              <a:t>Ms.</a:t>
            </a:r>
            <a:r>
              <a:rPr sz="1200" b="1" spc="-25" dirty="0">
                <a:latin typeface="Times New Roman"/>
                <a:cs typeface="Times New Roman"/>
              </a:rPr>
              <a:t> </a:t>
            </a:r>
            <a:r>
              <a:rPr sz="1200" b="1" dirty="0">
                <a:latin typeface="Times New Roman"/>
                <a:cs typeface="Times New Roman"/>
              </a:rPr>
              <a:t>Priya</a:t>
            </a:r>
            <a:r>
              <a:rPr sz="1200" b="1" spc="-30" dirty="0">
                <a:latin typeface="Times New Roman"/>
                <a:cs typeface="Times New Roman"/>
              </a:rPr>
              <a:t> </a:t>
            </a:r>
            <a:r>
              <a:rPr sz="1200" b="1" spc="-10" dirty="0">
                <a:latin typeface="Times New Roman"/>
                <a:cs typeface="Times New Roman"/>
              </a:rPr>
              <a:t>Shekhawat</a:t>
            </a:r>
            <a:endParaRPr sz="1200">
              <a:latin typeface="Times New Roman"/>
              <a:cs typeface="Times New Roman"/>
            </a:endParaRPr>
          </a:p>
          <a:p>
            <a:pPr marL="165100" indent="-152400">
              <a:lnSpc>
                <a:spcPct val="100000"/>
              </a:lnSpc>
              <a:spcBef>
                <a:spcPts val="650"/>
              </a:spcBef>
              <a:buAutoNum type="arabicPeriod"/>
              <a:tabLst>
                <a:tab pos="165100" algn="l"/>
              </a:tabLst>
            </a:pPr>
            <a:r>
              <a:rPr sz="1200" b="1" dirty="0">
                <a:latin typeface="Times New Roman"/>
                <a:cs typeface="Times New Roman"/>
              </a:rPr>
              <a:t>Ms.</a:t>
            </a:r>
            <a:r>
              <a:rPr sz="1200" b="1" spc="-20" dirty="0">
                <a:latin typeface="Times New Roman"/>
                <a:cs typeface="Times New Roman"/>
              </a:rPr>
              <a:t> </a:t>
            </a:r>
            <a:r>
              <a:rPr sz="1200" b="1" dirty="0">
                <a:latin typeface="Times New Roman"/>
                <a:cs typeface="Times New Roman"/>
              </a:rPr>
              <a:t>Shivani</a:t>
            </a:r>
            <a:r>
              <a:rPr sz="1200" b="1" spc="-30" dirty="0">
                <a:latin typeface="Times New Roman"/>
                <a:cs typeface="Times New Roman"/>
              </a:rPr>
              <a:t> </a:t>
            </a:r>
            <a:r>
              <a:rPr sz="1200" b="1" spc="-20" dirty="0">
                <a:latin typeface="Times New Roman"/>
                <a:cs typeface="Times New Roman"/>
              </a:rPr>
              <a:t>Jain</a:t>
            </a:r>
            <a:endParaRPr sz="1200">
              <a:latin typeface="Times New Roman"/>
              <a:cs typeface="Times New Roman"/>
            </a:endParaRPr>
          </a:p>
          <a:p>
            <a:pPr marL="12700">
              <a:lnSpc>
                <a:spcPct val="100000"/>
              </a:lnSpc>
              <a:spcBef>
                <a:spcPts val="600"/>
              </a:spcBef>
            </a:pPr>
            <a:r>
              <a:rPr sz="1200" spc="-10" dirty="0">
                <a:latin typeface="Times New Roman"/>
                <a:cs typeface="Times New Roman"/>
              </a:rPr>
              <a:t>(Faculty</a:t>
            </a:r>
            <a:r>
              <a:rPr sz="1200" spc="-45" dirty="0">
                <a:latin typeface="Times New Roman"/>
                <a:cs typeface="Times New Roman"/>
              </a:rPr>
              <a:t> </a:t>
            </a:r>
            <a:r>
              <a:rPr sz="1200" dirty="0">
                <a:latin typeface="Times New Roman"/>
                <a:cs typeface="Times New Roman"/>
              </a:rPr>
              <a:t>Coordinators-</a:t>
            </a:r>
            <a:r>
              <a:rPr sz="1200" spc="-15" dirty="0">
                <a:latin typeface="Times New Roman"/>
                <a:cs typeface="Times New Roman"/>
              </a:rPr>
              <a:t> </a:t>
            </a:r>
            <a:r>
              <a:rPr sz="1200" spc="-10" dirty="0">
                <a:latin typeface="Times New Roman"/>
                <a:cs typeface="Times New Roman"/>
              </a:rPr>
              <a:t>Industrial</a:t>
            </a:r>
            <a:r>
              <a:rPr sz="1200" spc="-50" dirty="0">
                <a:latin typeface="Times New Roman"/>
                <a:cs typeface="Times New Roman"/>
              </a:rPr>
              <a:t> </a:t>
            </a:r>
            <a:r>
              <a:rPr sz="1200" dirty="0">
                <a:latin typeface="Times New Roman"/>
                <a:cs typeface="Times New Roman"/>
              </a:rPr>
              <a:t>Training </a:t>
            </a:r>
            <a:r>
              <a:rPr sz="1200" spc="-10" dirty="0">
                <a:latin typeface="Times New Roman"/>
                <a:cs typeface="Times New Roman"/>
              </a:rPr>
              <a:t>Seminar)</a:t>
            </a:r>
            <a:endParaRPr sz="1200">
              <a:latin typeface="Times New Roman"/>
              <a:cs typeface="Times New Roman"/>
            </a:endParaRPr>
          </a:p>
        </p:txBody>
      </p:sp>
      <p:sp>
        <p:nvSpPr>
          <p:cNvPr id="4" name="object 4"/>
          <p:cNvSpPr txBox="1"/>
          <p:nvPr/>
        </p:nvSpPr>
        <p:spPr>
          <a:xfrm>
            <a:off x="810564" y="6798691"/>
            <a:ext cx="1092200" cy="549910"/>
          </a:xfrm>
          <a:prstGeom prst="rect">
            <a:avLst/>
          </a:prstGeom>
        </p:spPr>
        <p:txBody>
          <a:bodyPr vert="horz" wrap="square" lIns="0" tIns="12700" rIns="0" bIns="0" rtlCol="0">
            <a:spAutoFit/>
          </a:bodyPr>
          <a:lstStyle/>
          <a:p>
            <a:pPr marL="12700" marR="5080">
              <a:lnSpc>
                <a:spcPct val="143300"/>
              </a:lnSpc>
              <a:spcBef>
                <a:spcPts val="100"/>
              </a:spcBef>
            </a:pPr>
            <a:r>
              <a:rPr sz="1200" dirty="0">
                <a:latin typeface="Times New Roman"/>
                <a:cs typeface="Times New Roman"/>
              </a:rPr>
              <a:t>Date:</a:t>
            </a:r>
            <a:r>
              <a:rPr sz="1200" spc="-10" dirty="0">
                <a:latin typeface="Times New Roman"/>
                <a:cs typeface="Times New Roman"/>
              </a:rPr>
              <a:t> 04/08/2025 </a:t>
            </a:r>
            <a:r>
              <a:rPr sz="1200" dirty="0">
                <a:latin typeface="Times New Roman"/>
                <a:cs typeface="Times New Roman"/>
              </a:rPr>
              <a:t>Place:</a:t>
            </a:r>
            <a:r>
              <a:rPr sz="1200" spc="-60" dirty="0">
                <a:latin typeface="Times New Roman"/>
                <a:cs typeface="Times New Roman"/>
              </a:rPr>
              <a:t> </a:t>
            </a:r>
            <a:r>
              <a:rPr sz="1200" spc="-10" dirty="0">
                <a:latin typeface="Times New Roman"/>
                <a:cs typeface="Times New Roman"/>
              </a:rPr>
              <a:t>Jaipur</a:t>
            </a:r>
            <a:endParaRPr sz="1200">
              <a:latin typeface="Times New Roman"/>
              <a:cs typeface="Times New Roman"/>
            </a:endParaRPr>
          </a:p>
        </p:txBody>
      </p:sp>
      <p:pic>
        <p:nvPicPr>
          <p:cNvPr id="5" name="object 5"/>
          <p:cNvPicPr/>
          <p:nvPr/>
        </p:nvPicPr>
        <p:blipFill>
          <a:blip r:embed="rId2" cstate="print"/>
          <a:stretch>
            <a:fillRect/>
          </a:stretch>
        </p:blipFill>
        <p:spPr>
          <a:xfrm>
            <a:off x="1148397" y="540384"/>
            <a:ext cx="5450204" cy="993775"/>
          </a:xfrm>
          <a:prstGeom prst="rect">
            <a:avLst/>
          </a:prstGeom>
        </p:spPr>
      </p:pic>
      <p:sp>
        <p:nvSpPr>
          <p:cNvPr id="6" name="object 6"/>
          <p:cNvSpPr/>
          <p:nvPr/>
        </p:nvSpPr>
        <p:spPr>
          <a:xfrm>
            <a:off x="770890" y="2662301"/>
            <a:ext cx="6050280" cy="32384"/>
          </a:xfrm>
          <a:custGeom>
            <a:avLst/>
            <a:gdLst/>
            <a:ahLst/>
            <a:cxnLst/>
            <a:rect l="l" t="t" r="r" b="b"/>
            <a:pathLst>
              <a:path w="6050280" h="32385">
                <a:moveTo>
                  <a:pt x="0" y="32384"/>
                </a:moveTo>
                <a:lnTo>
                  <a:pt x="6050280" y="0"/>
                </a:lnTo>
              </a:path>
            </a:pathLst>
          </a:custGeom>
          <a:ln w="9525">
            <a:solidFill>
              <a:srgbClr val="000000"/>
            </a:solidFill>
          </a:ln>
        </p:spPr>
        <p:txBody>
          <a:bodyPr wrap="square" lIns="0" tIns="0" rIns="0" bIns="0" rtlCol="0"/>
          <a:lstStyle/>
          <a:p>
            <a:endParaRPr/>
          </a:p>
        </p:txBody>
      </p:sp>
      <p:sp>
        <p:nvSpPr>
          <p:cNvPr id="7" name="object 7"/>
          <p:cNvSpPr txBox="1"/>
          <p:nvPr/>
        </p:nvSpPr>
        <p:spPr>
          <a:xfrm>
            <a:off x="4966461" y="5338063"/>
            <a:ext cx="1913255" cy="415925"/>
          </a:xfrm>
          <a:prstGeom prst="rect">
            <a:avLst/>
          </a:prstGeom>
        </p:spPr>
        <p:txBody>
          <a:bodyPr vert="horz" wrap="square" lIns="0" tIns="24765" rIns="0" bIns="0" rtlCol="0">
            <a:spAutoFit/>
          </a:bodyPr>
          <a:lstStyle/>
          <a:p>
            <a:pPr marL="33655">
              <a:lnSpc>
                <a:spcPct val="100000"/>
              </a:lnSpc>
              <a:spcBef>
                <a:spcPts val="195"/>
              </a:spcBef>
            </a:pPr>
            <a:r>
              <a:rPr sz="1200" b="1" spc="-20" dirty="0">
                <a:latin typeface="Times New Roman"/>
                <a:cs typeface="Times New Roman"/>
              </a:rPr>
              <a:t>Dr.</a:t>
            </a:r>
            <a:r>
              <a:rPr sz="1200" b="1" spc="-25" dirty="0">
                <a:latin typeface="Times New Roman"/>
                <a:cs typeface="Times New Roman"/>
              </a:rPr>
              <a:t> </a:t>
            </a:r>
            <a:r>
              <a:rPr sz="1200" b="1" dirty="0">
                <a:latin typeface="Times New Roman"/>
                <a:cs typeface="Times New Roman"/>
              </a:rPr>
              <a:t>Gajendra</a:t>
            </a:r>
            <a:r>
              <a:rPr sz="1200" b="1" spc="-40" dirty="0">
                <a:latin typeface="Times New Roman"/>
                <a:cs typeface="Times New Roman"/>
              </a:rPr>
              <a:t> </a:t>
            </a:r>
            <a:r>
              <a:rPr sz="1200" b="1" dirty="0">
                <a:latin typeface="Times New Roman"/>
                <a:cs typeface="Times New Roman"/>
              </a:rPr>
              <a:t>Singh</a:t>
            </a:r>
            <a:r>
              <a:rPr sz="1200" b="1" spc="-55" dirty="0">
                <a:latin typeface="Times New Roman"/>
                <a:cs typeface="Times New Roman"/>
              </a:rPr>
              <a:t> </a:t>
            </a:r>
            <a:r>
              <a:rPr sz="1200" b="1" spc="-10" dirty="0">
                <a:latin typeface="Times New Roman"/>
                <a:cs typeface="Times New Roman"/>
              </a:rPr>
              <a:t>Rajawat</a:t>
            </a:r>
            <a:endParaRPr sz="1200">
              <a:latin typeface="Times New Roman"/>
              <a:cs typeface="Times New Roman"/>
            </a:endParaRPr>
          </a:p>
          <a:p>
            <a:pPr marL="12700">
              <a:lnSpc>
                <a:spcPct val="100000"/>
              </a:lnSpc>
              <a:spcBef>
                <a:spcPts val="95"/>
              </a:spcBef>
            </a:pPr>
            <a:r>
              <a:rPr sz="1200" dirty="0">
                <a:latin typeface="Times New Roman"/>
                <a:cs typeface="Times New Roman"/>
              </a:rPr>
              <a:t>HoD,</a:t>
            </a:r>
            <a:r>
              <a:rPr sz="1200" spc="-25" dirty="0">
                <a:latin typeface="Times New Roman"/>
                <a:cs typeface="Times New Roman"/>
              </a:rPr>
              <a:t> IT</a:t>
            </a:r>
            <a:endParaRPr sz="1200">
              <a:latin typeface="Times New Roman"/>
              <a:cs typeface="Times New Roman"/>
            </a:endParaRPr>
          </a:p>
        </p:txBody>
      </p:sp>
      <p:sp>
        <p:nvSpPr>
          <p:cNvPr id="8" name="object 8"/>
          <p:cNvSpPr txBox="1"/>
          <p:nvPr/>
        </p:nvSpPr>
        <p:spPr>
          <a:xfrm>
            <a:off x="3801871" y="8814585"/>
            <a:ext cx="144780" cy="189865"/>
          </a:xfrm>
          <a:prstGeom prst="rect">
            <a:avLst/>
          </a:prstGeom>
        </p:spPr>
        <p:txBody>
          <a:bodyPr vert="horz" wrap="square" lIns="0" tIns="6350" rIns="0" bIns="0" rtlCol="0">
            <a:spAutoFit/>
          </a:bodyPr>
          <a:lstStyle/>
          <a:p>
            <a:pPr marL="12700">
              <a:lnSpc>
                <a:spcPct val="100000"/>
              </a:lnSpc>
              <a:spcBef>
                <a:spcPts val="50"/>
              </a:spcBef>
            </a:pPr>
            <a:r>
              <a:rPr sz="1100" spc="-25" dirty="0">
                <a:latin typeface="Cambria"/>
                <a:cs typeface="Cambria"/>
              </a:rPr>
              <a:t>iii</a:t>
            </a:r>
            <a:endParaRPr sz="110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675888" y="8814585"/>
            <a:ext cx="194310" cy="189865"/>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z="1100" spc="-25" dirty="0">
                <a:latin typeface="Cambria"/>
                <a:cs typeface="Cambria"/>
              </a:rPr>
              <a:t>4</a:t>
            </a:fld>
            <a:endParaRPr sz="1100">
              <a:latin typeface="Cambria"/>
              <a:cs typeface="Cambria"/>
            </a:endParaRPr>
          </a:p>
        </p:txBody>
      </p:sp>
      <p:sp>
        <p:nvSpPr>
          <p:cNvPr id="2" name="object 2"/>
          <p:cNvSpPr txBox="1"/>
          <p:nvPr/>
        </p:nvSpPr>
        <p:spPr>
          <a:xfrm>
            <a:off x="837996" y="1139697"/>
            <a:ext cx="5943804" cy="5906553"/>
          </a:xfrm>
          <a:prstGeom prst="rect">
            <a:avLst/>
          </a:prstGeom>
        </p:spPr>
        <p:txBody>
          <a:bodyPr vert="horz" wrap="square" lIns="0" tIns="11430" rIns="0" bIns="0" rtlCol="0">
            <a:spAutoFit/>
          </a:bodyPr>
          <a:lstStyle/>
          <a:p>
            <a:pPr algn="ctr">
              <a:lnSpc>
                <a:spcPct val="100000"/>
              </a:lnSpc>
              <a:spcBef>
                <a:spcPts val="90"/>
              </a:spcBef>
            </a:pPr>
            <a:r>
              <a:rPr sz="1400" b="1" spc="-10" dirty="0">
                <a:latin typeface="Times New Roman"/>
                <a:cs typeface="Times New Roman"/>
              </a:rPr>
              <a:t>ACKNOWLEDGEMENT</a:t>
            </a:r>
            <a:endParaRPr sz="1400" dirty="0">
              <a:latin typeface="Times New Roman"/>
              <a:cs typeface="Times New Roman"/>
            </a:endParaRPr>
          </a:p>
          <a:p>
            <a:pPr>
              <a:lnSpc>
                <a:spcPct val="100000"/>
              </a:lnSpc>
              <a:spcBef>
                <a:spcPts val="625"/>
              </a:spcBef>
            </a:pPr>
            <a:endParaRPr sz="1400" dirty="0">
              <a:latin typeface="Times New Roman"/>
              <a:cs typeface="Times New Roman"/>
            </a:endParaRPr>
          </a:p>
          <a:p>
            <a:pPr marL="12700" marR="5080" algn="just">
              <a:lnSpc>
                <a:spcPct val="143900"/>
              </a:lnSpc>
            </a:pPr>
            <a:r>
              <a:rPr sz="1200" dirty="0">
                <a:latin typeface="Times New Roman"/>
                <a:cs typeface="Times New Roman"/>
              </a:rPr>
              <a:t>I</a:t>
            </a:r>
            <a:r>
              <a:rPr sz="1200" spc="150" dirty="0">
                <a:latin typeface="Times New Roman"/>
                <a:cs typeface="Times New Roman"/>
              </a:rPr>
              <a:t> </a:t>
            </a:r>
            <a:r>
              <a:rPr sz="1200" dirty="0">
                <a:latin typeface="Times New Roman"/>
                <a:cs typeface="Times New Roman"/>
              </a:rPr>
              <a:t>am</a:t>
            </a:r>
            <a:r>
              <a:rPr sz="1200" spc="105" dirty="0">
                <a:latin typeface="Times New Roman"/>
                <a:cs typeface="Times New Roman"/>
              </a:rPr>
              <a:t> </a:t>
            </a:r>
            <a:r>
              <a:rPr sz="1200" dirty="0">
                <a:latin typeface="Times New Roman"/>
                <a:cs typeface="Times New Roman"/>
              </a:rPr>
              <a:t>sincerely</a:t>
            </a:r>
            <a:r>
              <a:rPr sz="1200" spc="105" dirty="0">
                <a:latin typeface="Times New Roman"/>
                <a:cs typeface="Times New Roman"/>
              </a:rPr>
              <a:t> </a:t>
            </a:r>
            <a:r>
              <a:rPr sz="1200" dirty="0">
                <a:latin typeface="Times New Roman"/>
                <a:cs typeface="Times New Roman"/>
              </a:rPr>
              <a:t>grateful</a:t>
            </a:r>
            <a:r>
              <a:rPr sz="1200" spc="10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b="1" dirty="0">
                <a:latin typeface="Times New Roman"/>
                <a:cs typeface="Times New Roman"/>
              </a:rPr>
              <a:t>Ms.</a:t>
            </a:r>
            <a:r>
              <a:rPr sz="1200" b="1" spc="135" dirty="0">
                <a:latin typeface="Times New Roman"/>
                <a:cs typeface="Times New Roman"/>
              </a:rPr>
              <a:t> </a:t>
            </a:r>
            <a:r>
              <a:rPr sz="1200" b="1" dirty="0">
                <a:latin typeface="Times New Roman"/>
                <a:cs typeface="Times New Roman"/>
              </a:rPr>
              <a:t>Priya</a:t>
            </a:r>
            <a:r>
              <a:rPr sz="1200" b="1" spc="150" dirty="0">
                <a:latin typeface="Times New Roman"/>
                <a:cs typeface="Times New Roman"/>
              </a:rPr>
              <a:t> </a:t>
            </a:r>
            <a:r>
              <a:rPr sz="1200" b="1" dirty="0">
                <a:latin typeface="Times New Roman"/>
                <a:cs typeface="Times New Roman"/>
              </a:rPr>
              <a:t>Shekhawat</a:t>
            </a:r>
            <a:r>
              <a:rPr sz="1200" b="1" spc="165" dirty="0">
                <a:latin typeface="Times New Roman"/>
                <a:cs typeface="Times New Roman"/>
              </a:rPr>
              <a:t> </a:t>
            </a:r>
            <a:r>
              <a:rPr sz="1200" dirty="0">
                <a:latin typeface="Times New Roman"/>
                <a:cs typeface="Times New Roman"/>
              </a:rPr>
              <a:t>and</a:t>
            </a:r>
            <a:r>
              <a:rPr sz="1200" spc="150" dirty="0">
                <a:latin typeface="Times New Roman"/>
                <a:cs typeface="Times New Roman"/>
              </a:rPr>
              <a:t> </a:t>
            </a:r>
            <a:r>
              <a:rPr sz="1200" b="1" dirty="0">
                <a:latin typeface="Times New Roman"/>
                <a:cs typeface="Times New Roman"/>
              </a:rPr>
              <a:t>Ms.</a:t>
            </a:r>
            <a:r>
              <a:rPr sz="1200" b="1" spc="135" dirty="0">
                <a:latin typeface="Times New Roman"/>
                <a:cs typeface="Times New Roman"/>
              </a:rPr>
              <a:t> </a:t>
            </a:r>
            <a:r>
              <a:rPr sz="1200" b="1" dirty="0">
                <a:latin typeface="Times New Roman"/>
                <a:cs typeface="Times New Roman"/>
              </a:rPr>
              <a:t>Shivani</a:t>
            </a:r>
            <a:r>
              <a:rPr sz="1200" b="1" spc="150" dirty="0">
                <a:latin typeface="Times New Roman"/>
                <a:cs typeface="Times New Roman"/>
              </a:rPr>
              <a:t> </a:t>
            </a:r>
            <a:r>
              <a:rPr sz="1200" b="1" dirty="0">
                <a:latin typeface="Times New Roman"/>
                <a:cs typeface="Times New Roman"/>
              </a:rPr>
              <a:t>Jain</a:t>
            </a:r>
            <a:r>
              <a:rPr sz="1200" dirty="0">
                <a:latin typeface="Times New Roman"/>
                <a:cs typeface="Times New Roman"/>
              </a:rPr>
              <a:t>,</a:t>
            </a:r>
            <a:r>
              <a:rPr sz="1200" spc="135" dirty="0">
                <a:latin typeface="Times New Roman"/>
                <a:cs typeface="Times New Roman"/>
              </a:rPr>
              <a:t> </a:t>
            </a:r>
            <a:r>
              <a:rPr sz="1200" dirty="0">
                <a:latin typeface="Times New Roman"/>
                <a:cs typeface="Times New Roman"/>
              </a:rPr>
              <a:t>Industrial</a:t>
            </a:r>
            <a:r>
              <a:rPr sz="1200" spc="80" dirty="0">
                <a:latin typeface="Times New Roman"/>
                <a:cs typeface="Times New Roman"/>
              </a:rPr>
              <a:t> </a:t>
            </a:r>
            <a:r>
              <a:rPr sz="1200" spc="-10" dirty="0">
                <a:latin typeface="Times New Roman"/>
                <a:cs typeface="Times New Roman"/>
              </a:rPr>
              <a:t>Training </a:t>
            </a:r>
            <a:r>
              <a:rPr sz="1200" dirty="0">
                <a:latin typeface="Times New Roman"/>
                <a:cs typeface="Times New Roman"/>
              </a:rPr>
              <a:t>coordinator</a:t>
            </a:r>
            <a:r>
              <a:rPr sz="1200" spc="145" dirty="0">
                <a:latin typeface="Times New Roman"/>
                <a:cs typeface="Times New Roman"/>
              </a:rPr>
              <a:t> </a:t>
            </a:r>
            <a:r>
              <a:rPr sz="1200" dirty="0">
                <a:latin typeface="Times New Roman"/>
                <a:cs typeface="Times New Roman"/>
              </a:rPr>
              <a:t>III</a:t>
            </a:r>
            <a:r>
              <a:rPr sz="1200" spc="100" dirty="0">
                <a:latin typeface="Times New Roman"/>
                <a:cs typeface="Times New Roman"/>
              </a:rPr>
              <a:t> </a:t>
            </a:r>
            <a:r>
              <a:rPr sz="1200" dirty="0">
                <a:latin typeface="Times New Roman"/>
                <a:cs typeface="Times New Roman"/>
              </a:rPr>
              <a:t>Year,</a:t>
            </a:r>
            <a:r>
              <a:rPr sz="1200" spc="145" dirty="0">
                <a:latin typeface="Times New Roman"/>
                <a:cs typeface="Times New Roman"/>
              </a:rPr>
              <a:t> </a:t>
            </a:r>
            <a:r>
              <a:rPr sz="1200" dirty="0">
                <a:latin typeface="Times New Roman"/>
                <a:cs typeface="Times New Roman"/>
              </a:rPr>
              <a:t>Information</a:t>
            </a:r>
            <a:r>
              <a:rPr sz="1200" spc="95" dirty="0">
                <a:latin typeface="Times New Roman"/>
                <a:cs typeface="Times New Roman"/>
              </a:rPr>
              <a:t> </a:t>
            </a:r>
            <a:r>
              <a:rPr sz="1200" dirty="0">
                <a:latin typeface="Times New Roman"/>
                <a:cs typeface="Times New Roman"/>
              </a:rPr>
              <a:t>Technology</a:t>
            </a:r>
            <a:r>
              <a:rPr sz="1200" spc="114"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dirty="0">
                <a:latin typeface="Times New Roman"/>
                <a:cs typeface="Times New Roman"/>
              </a:rPr>
              <a:t>Poornima</a:t>
            </a:r>
            <a:r>
              <a:rPr sz="1200" spc="155" dirty="0">
                <a:latin typeface="Times New Roman"/>
                <a:cs typeface="Times New Roman"/>
              </a:rPr>
              <a:t> </a:t>
            </a:r>
            <a:r>
              <a:rPr sz="1200" dirty="0">
                <a:latin typeface="Times New Roman"/>
                <a:cs typeface="Times New Roman"/>
              </a:rPr>
              <a:t>College</a:t>
            </a:r>
            <a:r>
              <a:rPr sz="1200" spc="150" dirty="0">
                <a:latin typeface="Times New Roman"/>
                <a:cs typeface="Times New Roman"/>
              </a:rPr>
              <a:t> </a:t>
            </a:r>
            <a:r>
              <a:rPr sz="1200" dirty="0">
                <a:latin typeface="Times New Roman"/>
                <a:cs typeface="Times New Roman"/>
              </a:rPr>
              <a:t>of</a:t>
            </a:r>
            <a:r>
              <a:rPr sz="1200" spc="125" dirty="0">
                <a:latin typeface="Times New Roman"/>
                <a:cs typeface="Times New Roman"/>
              </a:rPr>
              <a:t> </a:t>
            </a:r>
            <a:r>
              <a:rPr sz="1200" dirty="0">
                <a:latin typeface="Times New Roman"/>
                <a:cs typeface="Times New Roman"/>
              </a:rPr>
              <a:t>Engineering</a:t>
            </a:r>
            <a:r>
              <a:rPr sz="1200" spc="180" dirty="0">
                <a:latin typeface="Times New Roman"/>
                <a:cs typeface="Times New Roman"/>
              </a:rPr>
              <a:t> </a:t>
            </a:r>
            <a:r>
              <a:rPr sz="1200" dirty="0">
                <a:latin typeface="Times New Roman"/>
                <a:cs typeface="Times New Roman"/>
              </a:rPr>
              <a:t>for</a:t>
            </a:r>
            <a:r>
              <a:rPr sz="1200" spc="185" dirty="0">
                <a:latin typeface="Times New Roman"/>
                <a:cs typeface="Times New Roman"/>
              </a:rPr>
              <a:t> </a:t>
            </a:r>
            <a:r>
              <a:rPr sz="1200" spc="-10" dirty="0">
                <a:latin typeface="Times New Roman"/>
                <a:cs typeface="Times New Roman"/>
              </a:rPr>
              <a:t>their </a:t>
            </a:r>
            <a:r>
              <a:rPr sz="1200" dirty="0">
                <a:latin typeface="Times New Roman"/>
                <a:cs typeface="Times New Roman"/>
              </a:rPr>
              <a:t>invaluable</a:t>
            </a:r>
            <a:r>
              <a:rPr sz="1200" spc="35" dirty="0">
                <a:latin typeface="Times New Roman"/>
                <a:cs typeface="Times New Roman"/>
              </a:rPr>
              <a:t> </a:t>
            </a:r>
            <a:r>
              <a:rPr sz="1200" dirty="0">
                <a:latin typeface="Times New Roman"/>
                <a:cs typeface="Times New Roman"/>
              </a:rPr>
              <a:t>guidance</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encouragement</a:t>
            </a:r>
            <a:r>
              <a:rPr sz="1200" spc="45" dirty="0">
                <a:latin typeface="Times New Roman"/>
                <a:cs typeface="Times New Roman"/>
              </a:rPr>
              <a:t> </a:t>
            </a:r>
            <a:r>
              <a:rPr sz="1200" dirty="0">
                <a:latin typeface="Times New Roman"/>
                <a:cs typeface="Times New Roman"/>
              </a:rPr>
              <a:t>throughout</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internship.</a:t>
            </a:r>
            <a:r>
              <a:rPr sz="1200" spc="10" dirty="0">
                <a:latin typeface="Times New Roman"/>
                <a:cs typeface="Times New Roman"/>
              </a:rPr>
              <a:t> </a:t>
            </a:r>
            <a:r>
              <a:rPr sz="1200" dirty="0">
                <a:latin typeface="Times New Roman"/>
                <a:cs typeface="Times New Roman"/>
              </a:rPr>
              <a:t>Their</a:t>
            </a:r>
            <a:r>
              <a:rPr sz="1200" spc="60" dirty="0">
                <a:latin typeface="Times New Roman"/>
                <a:cs typeface="Times New Roman"/>
              </a:rPr>
              <a:t> </a:t>
            </a:r>
            <a:r>
              <a:rPr sz="1200" dirty="0">
                <a:latin typeface="Times New Roman"/>
                <a:cs typeface="Times New Roman"/>
              </a:rPr>
              <a:t>mentorship</a:t>
            </a:r>
            <a:r>
              <a:rPr sz="1200" spc="40"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spc="-20" dirty="0">
                <a:latin typeface="Times New Roman"/>
                <a:cs typeface="Times New Roman"/>
              </a:rPr>
              <a:t>been </a:t>
            </a:r>
            <a:r>
              <a:rPr sz="1200" spc="-10" dirty="0">
                <a:latin typeface="Times New Roman"/>
                <a:cs typeface="Times New Roman"/>
              </a:rPr>
              <a:t>instrumental</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shaping</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innovative</a:t>
            </a:r>
            <a:r>
              <a:rPr sz="1200" dirty="0">
                <a:latin typeface="Times New Roman"/>
                <a:cs typeface="Times New Roman"/>
              </a:rPr>
              <a:t> aspects</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this</a:t>
            </a:r>
            <a:r>
              <a:rPr sz="1200" spc="15" dirty="0">
                <a:latin typeface="Times New Roman"/>
                <a:cs typeface="Times New Roman"/>
              </a:rPr>
              <a:t> </a:t>
            </a:r>
            <a:r>
              <a:rPr sz="1200" spc="-10" dirty="0">
                <a:latin typeface="Times New Roman"/>
                <a:cs typeface="Times New Roman"/>
              </a:rPr>
              <a:t>initiative.</a:t>
            </a:r>
            <a:endParaRPr sz="1200" dirty="0">
              <a:latin typeface="Times New Roman"/>
              <a:cs typeface="Times New Roman"/>
            </a:endParaRPr>
          </a:p>
          <a:p>
            <a:pPr marL="12700" algn="just">
              <a:lnSpc>
                <a:spcPct val="100000"/>
              </a:lnSpc>
              <a:spcBef>
                <a:spcPts val="625"/>
              </a:spcBef>
            </a:pPr>
            <a:r>
              <a:rPr sz="1200" dirty="0">
                <a:latin typeface="Times New Roman"/>
                <a:cs typeface="Times New Roman"/>
              </a:rPr>
              <a:t>I</a:t>
            </a:r>
            <a:r>
              <a:rPr sz="1200" spc="290" dirty="0">
                <a:latin typeface="Times New Roman"/>
                <a:cs typeface="Times New Roman"/>
              </a:rPr>
              <a:t> </a:t>
            </a:r>
            <a:r>
              <a:rPr sz="1200" dirty="0">
                <a:latin typeface="Times New Roman"/>
                <a:cs typeface="Times New Roman"/>
              </a:rPr>
              <a:t>wish</a:t>
            </a:r>
            <a:r>
              <a:rPr sz="1200" spc="260" dirty="0">
                <a:latin typeface="Times New Roman"/>
                <a:cs typeface="Times New Roman"/>
              </a:rPr>
              <a:t> </a:t>
            </a:r>
            <a:r>
              <a:rPr sz="1200" dirty="0">
                <a:latin typeface="Times New Roman"/>
                <a:cs typeface="Times New Roman"/>
              </a:rPr>
              <a:t>to</a:t>
            </a:r>
            <a:r>
              <a:rPr sz="1200" spc="305" dirty="0">
                <a:latin typeface="Times New Roman"/>
                <a:cs typeface="Times New Roman"/>
              </a:rPr>
              <a:t> </a:t>
            </a:r>
            <a:r>
              <a:rPr sz="1200" dirty="0">
                <a:latin typeface="Times New Roman"/>
                <a:cs typeface="Times New Roman"/>
              </a:rPr>
              <a:t>express</a:t>
            </a:r>
            <a:r>
              <a:rPr sz="1200" spc="295" dirty="0">
                <a:latin typeface="Times New Roman"/>
                <a:cs typeface="Times New Roman"/>
              </a:rPr>
              <a:t> </a:t>
            </a:r>
            <a:r>
              <a:rPr sz="1200" dirty="0">
                <a:latin typeface="Times New Roman"/>
                <a:cs typeface="Times New Roman"/>
              </a:rPr>
              <a:t>my</a:t>
            </a:r>
            <a:r>
              <a:rPr sz="1200" spc="235" dirty="0">
                <a:latin typeface="Times New Roman"/>
                <a:cs typeface="Times New Roman"/>
              </a:rPr>
              <a:t> </a:t>
            </a:r>
            <a:r>
              <a:rPr sz="1200" dirty="0">
                <a:latin typeface="Times New Roman"/>
                <a:cs typeface="Times New Roman"/>
              </a:rPr>
              <a:t>profound</a:t>
            </a:r>
            <a:r>
              <a:rPr sz="1200" spc="285" dirty="0">
                <a:latin typeface="Times New Roman"/>
                <a:cs typeface="Times New Roman"/>
              </a:rPr>
              <a:t> </a:t>
            </a:r>
            <a:r>
              <a:rPr sz="1200" dirty="0">
                <a:latin typeface="Times New Roman"/>
                <a:cs typeface="Times New Roman"/>
              </a:rPr>
              <a:t>gratitude</a:t>
            </a:r>
            <a:r>
              <a:rPr sz="1200" spc="250" dirty="0">
                <a:latin typeface="Times New Roman"/>
                <a:cs typeface="Times New Roman"/>
              </a:rPr>
              <a:t> </a:t>
            </a:r>
            <a:r>
              <a:rPr sz="1200" dirty="0">
                <a:latin typeface="Times New Roman"/>
                <a:cs typeface="Times New Roman"/>
              </a:rPr>
              <a:t>to</a:t>
            </a:r>
            <a:r>
              <a:rPr sz="1200" spc="340" dirty="0">
                <a:latin typeface="Times New Roman"/>
                <a:cs typeface="Times New Roman"/>
              </a:rPr>
              <a:t> </a:t>
            </a:r>
            <a:r>
              <a:rPr sz="1200" b="1" dirty="0">
                <a:latin typeface="Times New Roman"/>
                <a:cs typeface="Times New Roman"/>
              </a:rPr>
              <a:t>Dr.</a:t>
            </a:r>
            <a:r>
              <a:rPr sz="1200" b="1" spc="290" dirty="0">
                <a:latin typeface="Times New Roman"/>
                <a:cs typeface="Times New Roman"/>
              </a:rPr>
              <a:t> </a:t>
            </a:r>
            <a:r>
              <a:rPr sz="1200" b="1" dirty="0">
                <a:latin typeface="Times New Roman"/>
                <a:cs typeface="Times New Roman"/>
              </a:rPr>
              <a:t>Gajendra</a:t>
            </a:r>
            <a:r>
              <a:rPr sz="1200" b="1" spc="285" dirty="0">
                <a:latin typeface="Times New Roman"/>
                <a:cs typeface="Times New Roman"/>
              </a:rPr>
              <a:t> </a:t>
            </a:r>
            <a:r>
              <a:rPr sz="1200" b="1" dirty="0">
                <a:latin typeface="Times New Roman"/>
                <a:cs typeface="Times New Roman"/>
              </a:rPr>
              <a:t>Singh</a:t>
            </a:r>
            <a:r>
              <a:rPr sz="1200" b="1" spc="265" dirty="0">
                <a:latin typeface="Times New Roman"/>
                <a:cs typeface="Times New Roman"/>
              </a:rPr>
              <a:t> </a:t>
            </a:r>
            <a:r>
              <a:rPr sz="1200" b="1" dirty="0">
                <a:latin typeface="Times New Roman"/>
                <a:cs typeface="Times New Roman"/>
              </a:rPr>
              <a:t>Rajawat</a:t>
            </a:r>
            <a:r>
              <a:rPr sz="1200" dirty="0">
                <a:latin typeface="Times New Roman"/>
                <a:cs typeface="Times New Roman"/>
              </a:rPr>
              <a:t>,</a:t>
            </a:r>
            <a:r>
              <a:rPr sz="1200" spc="270" dirty="0">
                <a:latin typeface="Times New Roman"/>
                <a:cs typeface="Times New Roman"/>
              </a:rPr>
              <a:t> </a:t>
            </a:r>
            <a:r>
              <a:rPr sz="1200" dirty="0">
                <a:latin typeface="Times New Roman"/>
                <a:cs typeface="Times New Roman"/>
              </a:rPr>
              <a:t>Head</a:t>
            </a:r>
            <a:r>
              <a:rPr sz="1200" spc="260" dirty="0">
                <a:latin typeface="Times New Roman"/>
                <a:cs typeface="Times New Roman"/>
              </a:rPr>
              <a:t> </a:t>
            </a:r>
            <a:r>
              <a:rPr sz="1200" dirty="0">
                <a:latin typeface="Times New Roman"/>
                <a:cs typeface="Times New Roman"/>
              </a:rPr>
              <a:t>of</a:t>
            </a:r>
            <a:r>
              <a:rPr sz="1200" spc="245" dirty="0">
                <a:latin typeface="Times New Roman"/>
                <a:cs typeface="Times New Roman"/>
              </a:rPr>
              <a:t> </a:t>
            </a:r>
            <a:r>
              <a:rPr sz="1200" spc="-25" dirty="0">
                <a:latin typeface="Times New Roman"/>
                <a:cs typeface="Times New Roman"/>
              </a:rPr>
              <a:t>the</a:t>
            </a:r>
            <a:endParaRPr sz="1200" dirty="0">
              <a:latin typeface="Times New Roman"/>
              <a:cs typeface="Times New Roman"/>
            </a:endParaRPr>
          </a:p>
          <a:p>
            <a:pPr marL="12700" marR="13970" algn="just">
              <a:lnSpc>
                <a:spcPct val="143300"/>
              </a:lnSpc>
              <a:spcBef>
                <a:spcPts val="25"/>
              </a:spcBef>
            </a:pPr>
            <a:r>
              <a:rPr sz="1200" dirty="0">
                <a:latin typeface="Times New Roman"/>
                <a:cs typeface="Times New Roman"/>
              </a:rPr>
              <a:t>Information</a:t>
            </a:r>
            <a:r>
              <a:rPr sz="1200" spc="5" dirty="0">
                <a:latin typeface="Times New Roman"/>
                <a:cs typeface="Times New Roman"/>
              </a:rPr>
              <a:t> </a:t>
            </a:r>
            <a:r>
              <a:rPr sz="1200" dirty="0">
                <a:latin typeface="Times New Roman"/>
                <a:cs typeface="Times New Roman"/>
              </a:rPr>
              <a:t>Technology</a:t>
            </a:r>
            <a:r>
              <a:rPr sz="1200" spc="10" dirty="0">
                <a:latin typeface="Times New Roman"/>
                <a:cs typeface="Times New Roman"/>
              </a:rPr>
              <a:t> </a:t>
            </a:r>
            <a:r>
              <a:rPr sz="1200" dirty="0">
                <a:latin typeface="Times New Roman"/>
                <a:cs typeface="Times New Roman"/>
              </a:rPr>
              <a:t>Department</a:t>
            </a:r>
            <a:r>
              <a:rPr sz="1200" spc="7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Poornima</a:t>
            </a:r>
            <a:r>
              <a:rPr sz="1200" spc="45" dirty="0">
                <a:latin typeface="Times New Roman"/>
                <a:cs typeface="Times New Roman"/>
              </a:rPr>
              <a:t> </a:t>
            </a:r>
            <a:r>
              <a:rPr sz="1200" dirty="0">
                <a:latin typeface="Times New Roman"/>
                <a:cs typeface="Times New Roman"/>
              </a:rPr>
              <a:t>College</a:t>
            </a:r>
            <a:r>
              <a:rPr sz="1200" spc="5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Engineering,</a:t>
            </a:r>
            <a:r>
              <a:rPr sz="1200" spc="60" dirty="0">
                <a:latin typeface="Times New Roman"/>
                <a:cs typeface="Times New Roman"/>
              </a:rPr>
              <a:t> </a:t>
            </a:r>
            <a:r>
              <a:rPr sz="1200" dirty="0">
                <a:latin typeface="Times New Roman"/>
                <a:cs typeface="Times New Roman"/>
              </a:rPr>
              <a:t>for</a:t>
            </a:r>
            <a:r>
              <a:rPr sz="1200" spc="60" dirty="0">
                <a:latin typeface="Times New Roman"/>
                <a:cs typeface="Times New Roman"/>
              </a:rPr>
              <a:t> </a:t>
            </a:r>
            <a:r>
              <a:rPr sz="1200" dirty="0">
                <a:latin typeface="Times New Roman"/>
                <a:cs typeface="Times New Roman"/>
              </a:rPr>
              <a:t>his</a:t>
            </a:r>
            <a:r>
              <a:rPr sz="1200" spc="40" dirty="0">
                <a:latin typeface="Times New Roman"/>
                <a:cs typeface="Times New Roman"/>
              </a:rPr>
              <a:t> </a:t>
            </a:r>
            <a:r>
              <a:rPr sz="1200" spc="-10" dirty="0">
                <a:latin typeface="Times New Roman"/>
                <a:cs typeface="Times New Roman"/>
              </a:rPr>
              <a:t>unwavering </a:t>
            </a:r>
            <a:r>
              <a:rPr sz="1200" dirty="0">
                <a:latin typeface="Times New Roman"/>
                <a:cs typeface="Times New Roman"/>
              </a:rPr>
              <a:t>encouragement,</a:t>
            </a:r>
            <a:r>
              <a:rPr sz="1200" spc="-20" dirty="0">
                <a:latin typeface="Times New Roman"/>
                <a:cs typeface="Times New Roman"/>
              </a:rPr>
              <a:t> </a:t>
            </a:r>
            <a:r>
              <a:rPr sz="1200" dirty="0">
                <a:latin typeface="Times New Roman"/>
                <a:cs typeface="Times New Roman"/>
              </a:rPr>
              <a:t>guidance,</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motivation</a:t>
            </a:r>
            <a:r>
              <a:rPr sz="1200" spc="-50"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course</a:t>
            </a:r>
            <a:r>
              <a:rPr sz="1200" spc="-3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spc="-10" dirty="0">
                <a:latin typeface="Times New Roman"/>
                <a:cs typeface="Times New Roman"/>
              </a:rPr>
              <a:t>research.</a:t>
            </a:r>
            <a:endParaRPr sz="1200" dirty="0">
              <a:latin typeface="Times New Roman"/>
              <a:cs typeface="Times New Roman"/>
            </a:endParaRPr>
          </a:p>
          <a:p>
            <a:pPr marL="12700" marR="5715" algn="just">
              <a:lnSpc>
                <a:spcPct val="143300"/>
              </a:lnSpc>
            </a:pPr>
            <a:r>
              <a:rPr sz="1200" dirty="0">
                <a:latin typeface="Times New Roman"/>
                <a:cs typeface="Times New Roman"/>
              </a:rPr>
              <a:t>A</a:t>
            </a:r>
            <a:r>
              <a:rPr sz="1200" spc="114" dirty="0">
                <a:latin typeface="Times New Roman"/>
                <a:cs typeface="Times New Roman"/>
              </a:rPr>
              <a:t> </a:t>
            </a:r>
            <a:r>
              <a:rPr sz="1200" dirty="0">
                <a:latin typeface="Times New Roman"/>
                <a:cs typeface="Times New Roman"/>
              </a:rPr>
              <a:t>special</a:t>
            </a:r>
            <a:r>
              <a:rPr sz="1200" spc="190" dirty="0">
                <a:latin typeface="Times New Roman"/>
                <a:cs typeface="Times New Roman"/>
              </a:rPr>
              <a:t> </a:t>
            </a:r>
            <a:r>
              <a:rPr sz="1200" dirty="0">
                <a:latin typeface="Times New Roman"/>
                <a:cs typeface="Times New Roman"/>
              </a:rPr>
              <a:t>thanks</a:t>
            </a:r>
            <a:r>
              <a:rPr sz="1200" spc="200" dirty="0">
                <a:latin typeface="Times New Roman"/>
                <a:cs typeface="Times New Roman"/>
              </a:rPr>
              <a:t> </a:t>
            </a:r>
            <a:r>
              <a:rPr sz="1200" dirty="0">
                <a:latin typeface="Times New Roman"/>
                <a:cs typeface="Times New Roman"/>
              </a:rPr>
              <a:t>to</a:t>
            </a:r>
            <a:r>
              <a:rPr sz="1200" spc="225" dirty="0">
                <a:latin typeface="Times New Roman"/>
                <a:cs typeface="Times New Roman"/>
              </a:rPr>
              <a:t> </a:t>
            </a:r>
            <a:r>
              <a:rPr sz="1200" b="1" dirty="0">
                <a:latin typeface="Times New Roman"/>
                <a:cs typeface="Times New Roman"/>
              </a:rPr>
              <a:t>Dr.</a:t>
            </a:r>
            <a:r>
              <a:rPr sz="1200" b="1" spc="220" dirty="0">
                <a:latin typeface="Times New Roman"/>
                <a:cs typeface="Times New Roman"/>
              </a:rPr>
              <a:t> </a:t>
            </a:r>
            <a:r>
              <a:rPr sz="1200" b="1" dirty="0">
                <a:latin typeface="Times New Roman"/>
                <a:cs typeface="Times New Roman"/>
              </a:rPr>
              <a:t>Mahesh</a:t>
            </a:r>
            <a:r>
              <a:rPr sz="1200" b="1" spc="215" dirty="0">
                <a:latin typeface="Times New Roman"/>
                <a:cs typeface="Times New Roman"/>
              </a:rPr>
              <a:t> </a:t>
            </a:r>
            <a:r>
              <a:rPr sz="1200" b="1" dirty="0">
                <a:latin typeface="Times New Roman"/>
                <a:cs typeface="Times New Roman"/>
              </a:rPr>
              <a:t>Bundele</a:t>
            </a:r>
            <a:r>
              <a:rPr sz="1200" dirty="0">
                <a:latin typeface="Times New Roman"/>
                <a:cs typeface="Times New Roman"/>
              </a:rPr>
              <a:t>,</a:t>
            </a:r>
            <a:r>
              <a:rPr sz="1200" spc="220" dirty="0">
                <a:latin typeface="Times New Roman"/>
                <a:cs typeface="Times New Roman"/>
              </a:rPr>
              <a:t> </a:t>
            </a:r>
            <a:r>
              <a:rPr sz="1200" dirty="0">
                <a:latin typeface="Times New Roman"/>
                <a:cs typeface="Times New Roman"/>
              </a:rPr>
              <a:t>Director</a:t>
            </a:r>
            <a:r>
              <a:rPr sz="1200" spc="200" dirty="0">
                <a:latin typeface="Times New Roman"/>
                <a:cs typeface="Times New Roman"/>
              </a:rPr>
              <a:t> </a:t>
            </a:r>
            <a:r>
              <a:rPr sz="1200" dirty="0">
                <a:latin typeface="Times New Roman"/>
                <a:cs typeface="Times New Roman"/>
              </a:rPr>
              <a:t>and</a:t>
            </a:r>
            <a:r>
              <a:rPr sz="1200" spc="210" dirty="0">
                <a:latin typeface="Times New Roman"/>
                <a:cs typeface="Times New Roman"/>
              </a:rPr>
              <a:t> </a:t>
            </a:r>
            <a:r>
              <a:rPr sz="1200" dirty="0">
                <a:latin typeface="Times New Roman"/>
                <a:cs typeface="Times New Roman"/>
              </a:rPr>
              <a:t>Principal</a:t>
            </a:r>
            <a:r>
              <a:rPr sz="1200" spc="175" dirty="0">
                <a:latin typeface="Times New Roman"/>
                <a:cs typeface="Times New Roman"/>
              </a:rPr>
              <a:t> </a:t>
            </a:r>
            <a:r>
              <a:rPr sz="1200" dirty="0">
                <a:latin typeface="Times New Roman"/>
                <a:cs typeface="Times New Roman"/>
              </a:rPr>
              <a:t>of</a:t>
            </a:r>
            <a:r>
              <a:rPr sz="1200" spc="175" dirty="0">
                <a:latin typeface="Times New Roman"/>
                <a:cs typeface="Times New Roman"/>
              </a:rPr>
              <a:t> </a:t>
            </a:r>
            <a:r>
              <a:rPr sz="1200" dirty="0">
                <a:latin typeface="Times New Roman"/>
                <a:cs typeface="Times New Roman"/>
              </a:rPr>
              <a:t>Poornima</a:t>
            </a:r>
            <a:r>
              <a:rPr sz="1200" spc="204" dirty="0">
                <a:latin typeface="Times New Roman"/>
                <a:cs typeface="Times New Roman"/>
              </a:rPr>
              <a:t> </a:t>
            </a:r>
            <a:r>
              <a:rPr sz="1200" dirty="0">
                <a:latin typeface="Times New Roman"/>
                <a:cs typeface="Times New Roman"/>
              </a:rPr>
              <a:t>College</a:t>
            </a:r>
            <a:r>
              <a:rPr sz="1200" spc="210" dirty="0">
                <a:latin typeface="Times New Roman"/>
                <a:cs typeface="Times New Roman"/>
              </a:rPr>
              <a:t> </a:t>
            </a:r>
            <a:r>
              <a:rPr sz="1200" spc="-25" dirty="0">
                <a:latin typeface="Times New Roman"/>
                <a:cs typeface="Times New Roman"/>
              </a:rPr>
              <a:t>of </a:t>
            </a:r>
            <a:r>
              <a:rPr sz="1200" dirty="0">
                <a:latin typeface="Times New Roman"/>
                <a:cs typeface="Times New Roman"/>
              </a:rPr>
              <a:t>Engineering,</a:t>
            </a:r>
            <a:r>
              <a:rPr sz="1200" spc="285" dirty="0">
                <a:latin typeface="Times New Roman"/>
                <a:cs typeface="Times New Roman"/>
              </a:rPr>
              <a:t> </a:t>
            </a:r>
            <a:r>
              <a:rPr sz="1200" dirty="0">
                <a:latin typeface="Times New Roman"/>
                <a:cs typeface="Times New Roman"/>
              </a:rPr>
              <a:t>for</a:t>
            </a:r>
            <a:r>
              <a:rPr sz="1200" spc="270" dirty="0">
                <a:latin typeface="Times New Roman"/>
                <a:cs typeface="Times New Roman"/>
              </a:rPr>
              <a:t> </a:t>
            </a:r>
            <a:r>
              <a:rPr sz="1200" dirty="0">
                <a:latin typeface="Times New Roman"/>
                <a:cs typeface="Times New Roman"/>
              </a:rPr>
              <a:t>fostering</a:t>
            </a:r>
            <a:r>
              <a:rPr sz="1200" spc="254" dirty="0">
                <a:latin typeface="Times New Roman"/>
                <a:cs typeface="Times New Roman"/>
              </a:rPr>
              <a:t> </a:t>
            </a:r>
            <a:r>
              <a:rPr sz="1200" dirty="0">
                <a:latin typeface="Times New Roman"/>
                <a:cs typeface="Times New Roman"/>
              </a:rPr>
              <a:t>a</a:t>
            </a:r>
            <a:r>
              <a:rPr sz="1200" spc="254" dirty="0">
                <a:latin typeface="Times New Roman"/>
                <a:cs typeface="Times New Roman"/>
              </a:rPr>
              <a:t> </a:t>
            </a:r>
            <a:r>
              <a:rPr sz="1200" dirty="0">
                <a:latin typeface="Times New Roman"/>
                <a:cs typeface="Times New Roman"/>
              </a:rPr>
              <a:t>conducive</a:t>
            </a:r>
            <a:r>
              <a:rPr sz="1200" spc="275" dirty="0">
                <a:latin typeface="Times New Roman"/>
                <a:cs typeface="Times New Roman"/>
              </a:rPr>
              <a:t> </a:t>
            </a:r>
            <a:r>
              <a:rPr sz="1200" dirty="0">
                <a:latin typeface="Times New Roman"/>
                <a:cs typeface="Times New Roman"/>
              </a:rPr>
              <a:t>learning</a:t>
            </a:r>
            <a:r>
              <a:rPr sz="1200" spc="280" dirty="0">
                <a:latin typeface="Times New Roman"/>
                <a:cs typeface="Times New Roman"/>
              </a:rPr>
              <a:t> </a:t>
            </a:r>
            <a:r>
              <a:rPr sz="1200" dirty="0">
                <a:latin typeface="Times New Roman"/>
                <a:cs typeface="Times New Roman"/>
              </a:rPr>
              <a:t>environment</a:t>
            </a:r>
            <a:r>
              <a:rPr sz="1200" spc="280" dirty="0">
                <a:latin typeface="Times New Roman"/>
                <a:cs typeface="Times New Roman"/>
              </a:rPr>
              <a:t> </a:t>
            </a:r>
            <a:r>
              <a:rPr sz="1200" dirty="0">
                <a:latin typeface="Times New Roman"/>
                <a:cs typeface="Times New Roman"/>
              </a:rPr>
              <a:t>and</a:t>
            </a:r>
            <a:r>
              <a:rPr sz="1200" spc="254" dirty="0">
                <a:latin typeface="Times New Roman"/>
                <a:cs typeface="Times New Roman"/>
              </a:rPr>
              <a:t> </a:t>
            </a:r>
            <a:r>
              <a:rPr sz="1200" dirty="0">
                <a:latin typeface="Times New Roman"/>
                <a:cs typeface="Times New Roman"/>
              </a:rPr>
              <a:t>providing</a:t>
            </a:r>
            <a:r>
              <a:rPr sz="1200" spc="260" dirty="0">
                <a:latin typeface="Times New Roman"/>
                <a:cs typeface="Times New Roman"/>
              </a:rPr>
              <a:t> </a:t>
            </a:r>
            <a:r>
              <a:rPr sz="1200" dirty="0">
                <a:latin typeface="Times New Roman"/>
                <a:cs typeface="Times New Roman"/>
              </a:rPr>
              <a:t>the</a:t>
            </a:r>
            <a:r>
              <a:rPr sz="1200" spc="254" dirty="0">
                <a:latin typeface="Times New Roman"/>
                <a:cs typeface="Times New Roman"/>
              </a:rPr>
              <a:t> </a:t>
            </a:r>
            <a:r>
              <a:rPr sz="1200" spc="-10" dirty="0">
                <a:latin typeface="Times New Roman"/>
                <a:cs typeface="Times New Roman"/>
              </a:rPr>
              <a:t>necessary</a:t>
            </a:r>
            <a:endParaRPr sz="1200" dirty="0">
              <a:latin typeface="Times New Roman"/>
              <a:cs typeface="Times New Roman"/>
            </a:endParaRPr>
          </a:p>
          <a:p>
            <a:pPr marL="12700" algn="just">
              <a:lnSpc>
                <a:spcPct val="100000"/>
              </a:lnSpc>
              <a:spcBef>
                <a:spcPts val="650"/>
              </a:spcBef>
            </a:pPr>
            <a:r>
              <a:rPr sz="1200" dirty="0">
                <a:latin typeface="Times New Roman"/>
                <a:cs typeface="Times New Roman"/>
              </a:rPr>
              <a:t>resources</a:t>
            </a:r>
            <a:r>
              <a:rPr sz="1200" spc="-4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spc="-10" dirty="0">
                <a:latin typeface="Times New Roman"/>
                <a:cs typeface="Times New Roman"/>
              </a:rPr>
              <a:t>project.</a:t>
            </a:r>
            <a:endParaRPr sz="1200" dirty="0">
              <a:latin typeface="Times New Roman"/>
              <a:cs typeface="Times New Roman"/>
            </a:endParaRPr>
          </a:p>
          <a:p>
            <a:pPr marL="12700" marR="8255" algn="just">
              <a:lnSpc>
                <a:spcPct val="143400"/>
              </a:lnSpc>
            </a:pPr>
            <a:r>
              <a:rPr sz="1200" dirty="0">
                <a:latin typeface="Times New Roman"/>
                <a:cs typeface="Times New Roman"/>
              </a:rPr>
              <a:t>I</a:t>
            </a:r>
            <a:r>
              <a:rPr sz="1200" spc="-5" dirty="0">
                <a:latin typeface="Times New Roman"/>
                <a:cs typeface="Times New Roman"/>
              </a:rPr>
              <a:t> </a:t>
            </a:r>
            <a:r>
              <a:rPr sz="1200" dirty="0">
                <a:latin typeface="Times New Roman"/>
                <a:cs typeface="Times New Roman"/>
              </a:rPr>
              <a:t>also</a:t>
            </a:r>
            <a:r>
              <a:rPr sz="1200" spc="5" dirty="0">
                <a:latin typeface="Times New Roman"/>
                <a:cs typeface="Times New Roman"/>
              </a:rPr>
              <a:t> </a:t>
            </a:r>
            <a:r>
              <a:rPr sz="1200" dirty="0">
                <a:latin typeface="Times New Roman"/>
                <a:cs typeface="Times New Roman"/>
              </a:rPr>
              <a:t>wish</a:t>
            </a:r>
            <a:r>
              <a:rPr sz="1200" spc="-3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10" dirty="0">
                <a:latin typeface="Times New Roman"/>
                <a:cs typeface="Times New Roman"/>
              </a:rPr>
              <a:t>acknowledge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visionary</a:t>
            </a:r>
            <a:r>
              <a:rPr sz="1200" spc="-30" dirty="0">
                <a:latin typeface="Times New Roman"/>
                <a:cs typeface="Times New Roman"/>
              </a:rPr>
              <a:t> </a:t>
            </a:r>
            <a:r>
              <a:rPr sz="1200" dirty="0">
                <a:latin typeface="Times New Roman"/>
                <a:cs typeface="Times New Roman"/>
              </a:rPr>
              <a:t>leadership</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b="1" spc="-40" dirty="0">
                <a:latin typeface="Times New Roman"/>
                <a:cs typeface="Times New Roman"/>
              </a:rPr>
              <a:t>Ar.</a:t>
            </a:r>
            <a:r>
              <a:rPr sz="1200" b="1" dirty="0">
                <a:latin typeface="Times New Roman"/>
                <a:cs typeface="Times New Roman"/>
              </a:rPr>
              <a:t> Rahul</a:t>
            </a:r>
            <a:r>
              <a:rPr sz="1200" b="1" spc="-35" dirty="0">
                <a:latin typeface="Times New Roman"/>
                <a:cs typeface="Times New Roman"/>
              </a:rPr>
              <a:t> </a:t>
            </a:r>
            <a:r>
              <a:rPr sz="1200" b="1" dirty="0">
                <a:latin typeface="Times New Roman"/>
                <a:cs typeface="Times New Roman"/>
              </a:rPr>
              <a:t>Singhi</a:t>
            </a:r>
            <a:r>
              <a:rPr sz="1200" dirty="0">
                <a:latin typeface="Times New Roman"/>
                <a:cs typeface="Times New Roman"/>
              </a:rPr>
              <a:t>, Director</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Poornima </a:t>
            </a:r>
            <a:r>
              <a:rPr sz="1200" dirty="0">
                <a:latin typeface="Times New Roman"/>
                <a:cs typeface="Times New Roman"/>
              </a:rPr>
              <a:t>Group,</a:t>
            </a:r>
            <a:r>
              <a:rPr sz="1200" spc="254" dirty="0">
                <a:latin typeface="Times New Roman"/>
                <a:cs typeface="Times New Roman"/>
              </a:rPr>
              <a:t> </a:t>
            </a:r>
            <a:r>
              <a:rPr sz="1200" dirty="0">
                <a:latin typeface="Times New Roman"/>
                <a:cs typeface="Times New Roman"/>
              </a:rPr>
              <a:t>whose</a:t>
            </a:r>
            <a:r>
              <a:rPr sz="1200" spc="245" dirty="0">
                <a:latin typeface="Times New Roman"/>
                <a:cs typeface="Times New Roman"/>
              </a:rPr>
              <a:t> </a:t>
            </a:r>
            <a:r>
              <a:rPr sz="1200" dirty="0">
                <a:latin typeface="Times New Roman"/>
                <a:cs typeface="Times New Roman"/>
              </a:rPr>
              <a:t>support</a:t>
            </a:r>
            <a:r>
              <a:rPr sz="1200" spc="250" dirty="0">
                <a:latin typeface="Times New Roman"/>
                <a:cs typeface="Times New Roman"/>
              </a:rPr>
              <a:t> </a:t>
            </a:r>
            <a:r>
              <a:rPr sz="1200" dirty="0">
                <a:latin typeface="Times New Roman"/>
                <a:cs typeface="Times New Roman"/>
              </a:rPr>
              <a:t>has</a:t>
            </a:r>
            <a:r>
              <a:rPr sz="1200" spc="240" dirty="0">
                <a:latin typeface="Times New Roman"/>
                <a:cs typeface="Times New Roman"/>
              </a:rPr>
              <a:t> </a:t>
            </a:r>
            <a:r>
              <a:rPr sz="1200" dirty="0">
                <a:latin typeface="Times New Roman"/>
                <a:cs typeface="Times New Roman"/>
              </a:rPr>
              <a:t>significantly</a:t>
            </a:r>
            <a:r>
              <a:rPr sz="1200" spc="210" dirty="0">
                <a:latin typeface="Times New Roman"/>
                <a:cs typeface="Times New Roman"/>
              </a:rPr>
              <a:t> </a:t>
            </a:r>
            <a:r>
              <a:rPr sz="1200" dirty="0">
                <a:latin typeface="Times New Roman"/>
                <a:cs typeface="Times New Roman"/>
              </a:rPr>
              <a:t>enriched</a:t>
            </a:r>
            <a:r>
              <a:rPr sz="1200" spc="245" dirty="0">
                <a:latin typeface="Times New Roman"/>
                <a:cs typeface="Times New Roman"/>
              </a:rPr>
              <a:t> </a:t>
            </a:r>
            <a:r>
              <a:rPr sz="1200" dirty="0">
                <a:latin typeface="Times New Roman"/>
                <a:cs typeface="Times New Roman"/>
              </a:rPr>
              <a:t>my</a:t>
            </a:r>
            <a:r>
              <a:rPr sz="1200" spc="225" dirty="0">
                <a:latin typeface="Times New Roman"/>
                <a:cs typeface="Times New Roman"/>
              </a:rPr>
              <a:t> </a:t>
            </a:r>
            <a:r>
              <a:rPr sz="1200" dirty="0">
                <a:latin typeface="Times New Roman"/>
                <a:cs typeface="Times New Roman"/>
              </a:rPr>
              <a:t>academic</a:t>
            </a:r>
            <a:r>
              <a:rPr sz="1200" spc="270" dirty="0">
                <a:latin typeface="Times New Roman"/>
                <a:cs typeface="Times New Roman"/>
              </a:rPr>
              <a:t> </a:t>
            </a:r>
            <a:r>
              <a:rPr sz="1200" dirty="0">
                <a:latin typeface="Times New Roman"/>
                <a:cs typeface="Times New Roman"/>
              </a:rPr>
              <a:t>journey</a:t>
            </a:r>
            <a:r>
              <a:rPr sz="1200" spc="225" dirty="0">
                <a:latin typeface="Times New Roman"/>
                <a:cs typeface="Times New Roman"/>
              </a:rPr>
              <a:t> </a:t>
            </a:r>
            <a:r>
              <a:rPr sz="1200" dirty="0">
                <a:latin typeface="Times New Roman"/>
                <a:cs typeface="Times New Roman"/>
              </a:rPr>
              <a:t>and</a:t>
            </a:r>
            <a:r>
              <a:rPr sz="1200" spc="270" dirty="0">
                <a:latin typeface="Times New Roman"/>
                <a:cs typeface="Times New Roman"/>
              </a:rPr>
              <a:t> </a:t>
            </a:r>
            <a:r>
              <a:rPr sz="1200" dirty="0">
                <a:latin typeface="Times New Roman"/>
                <a:cs typeface="Times New Roman"/>
              </a:rPr>
              <a:t>facilitated</a:t>
            </a:r>
            <a:r>
              <a:rPr sz="1200" spc="22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successful</a:t>
            </a:r>
            <a:r>
              <a:rPr sz="1200" spc="-35" dirty="0">
                <a:latin typeface="Times New Roman"/>
                <a:cs typeface="Times New Roman"/>
              </a:rPr>
              <a:t> </a:t>
            </a:r>
            <a:r>
              <a:rPr sz="1200" dirty="0">
                <a:latin typeface="Times New Roman"/>
                <a:cs typeface="Times New Roman"/>
              </a:rPr>
              <a:t>completion</a:t>
            </a:r>
            <a:r>
              <a:rPr sz="1200"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this </a:t>
            </a:r>
            <a:r>
              <a:rPr sz="1200" spc="-10" dirty="0">
                <a:latin typeface="Times New Roman"/>
                <a:cs typeface="Times New Roman"/>
              </a:rPr>
              <a:t>project.</a:t>
            </a:r>
            <a:endParaRPr sz="1200" dirty="0">
              <a:latin typeface="Times New Roman"/>
              <a:cs typeface="Times New Roman"/>
            </a:endParaRPr>
          </a:p>
          <a:p>
            <a:pPr marL="12700" marR="10795" algn="just">
              <a:lnSpc>
                <a:spcPct val="143300"/>
              </a:lnSpc>
              <a:spcBef>
                <a:spcPts val="25"/>
              </a:spcBef>
            </a:pPr>
            <a:r>
              <a:rPr sz="1200" dirty="0">
                <a:latin typeface="Times New Roman"/>
                <a:cs typeface="Times New Roman"/>
              </a:rPr>
              <a:t>This</a:t>
            </a:r>
            <a:r>
              <a:rPr sz="1200" spc="75" dirty="0">
                <a:latin typeface="Times New Roman"/>
                <a:cs typeface="Times New Roman"/>
              </a:rPr>
              <a:t> </a:t>
            </a:r>
            <a:r>
              <a:rPr sz="1200" dirty="0">
                <a:latin typeface="Times New Roman"/>
                <a:cs typeface="Times New Roman"/>
              </a:rPr>
              <a:t>project,</a:t>
            </a:r>
            <a:r>
              <a:rPr sz="1200" spc="90" dirty="0">
                <a:latin typeface="Times New Roman"/>
                <a:cs typeface="Times New Roman"/>
              </a:rPr>
              <a:t> </a:t>
            </a:r>
            <a:r>
              <a:rPr lang="en-IN" sz="1200" b="1" spc="-10" dirty="0">
                <a:latin typeface="Times New Roman"/>
                <a:cs typeface="Times New Roman"/>
              </a:rPr>
              <a:t>Funds Management System</a:t>
            </a:r>
            <a:r>
              <a:rPr sz="1200" spc="80" dirty="0">
                <a:latin typeface="Times New Roman"/>
                <a:cs typeface="Times New Roman"/>
              </a:rPr>
              <a:t> </a:t>
            </a:r>
            <a:r>
              <a:rPr sz="1200" dirty="0">
                <a:latin typeface="Times New Roman"/>
                <a:cs typeface="Times New Roman"/>
              </a:rPr>
              <a:t>is</a:t>
            </a:r>
            <a:r>
              <a:rPr sz="1200" spc="80" dirty="0">
                <a:latin typeface="Times New Roman"/>
                <a:cs typeface="Times New Roman"/>
              </a:rPr>
              <a:t> </a:t>
            </a: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testament</a:t>
            </a:r>
            <a:r>
              <a:rPr sz="1200" spc="90" dirty="0">
                <a:latin typeface="Times New Roman"/>
                <a:cs typeface="Times New Roman"/>
              </a:rPr>
              <a:t> </a:t>
            </a:r>
            <a:r>
              <a:rPr sz="1200" dirty="0">
                <a:latin typeface="Times New Roman"/>
                <a:cs typeface="Times New Roman"/>
              </a:rPr>
              <a:t>to</a:t>
            </a:r>
            <a:r>
              <a:rPr sz="1200" spc="70" dirty="0">
                <a:latin typeface="Times New Roman"/>
                <a:cs typeface="Times New Roman"/>
              </a:rPr>
              <a:t> </a:t>
            </a:r>
            <a:r>
              <a:rPr sz="1200" dirty="0">
                <a:latin typeface="Times New Roman"/>
                <a:cs typeface="Times New Roman"/>
              </a:rPr>
              <a:t>the</a:t>
            </a:r>
            <a:r>
              <a:rPr sz="1200" spc="90" dirty="0">
                <a:latin typeface="Times New Roman"/>
                <a:cs typeface="Times New Roman"/>
              </a:rPr>
              <a:t> </a:t>
            </a:r>
            <a:r>
              <a:rPr sz="1200" dirty="0">
                <a:latin typeface="Times New Roman"/>
                <a:cs typeface="Times New Roman"/>
              </a:rPr>
              <a:t>collective</a:t>
            </a:r>
            <a:r>
              <a:rPr sz="1200" spc="90" dirty="0">
                <a:latin typeface="Times New Roman"/>
                <a:cs typeface="Times New Roman"/>
              </a:rPr>
              <a:t> </a:t>
            </a:r>
            <a:r>
              <a:rPr sz="1200" dirty="0">
                <a:latin typeface="Times New Roman"/>
                <a:cs typeface="Times New Roman"/>
              </a:rPr>
              <a:t>efforts</a:t>
            </a:r>
            <a:r>
              <a:rPr sz="1200" spc="35" dirty="0">
                <a:latin typeface="Times New Roman"/>
                <a:cs typeface="Times New Roman"/>
              </a:rPr>
              <a:t> </a:t>
            </a:r>
            <a:r>
              <a:rPr sz="1200" dirty="0">
                <a:latin typeface="Times New Roman"/>
                <a:cs typeface="Times New Roman"/>
              </a:rPr>
              <a:t>of</a:t>
            </a:r>
            <a:r>
              <a:rPr sz="1200" spc="55" dirty="0">
                <a:latin typeface="Times New Roman"/>
                <a:cs typeface="Times New Roman"/>
              </a:rPr>
              <a:t> </a:t>
            </a:r>
            <a:r>
              <a:rPr sz="1200" dirty="0">
                <a:latin typeface="Times New Roman"/>
                <a:cs typeface="Times New Roman"/>
              </a:rPr>
              <a:t>all</a:t>
            </a:r>
            <a:r>
              <a:rPr sz="1200" spc="70" dirty="0">
                <a:latin typeface="Times New Roman"/>
                <a:cs typeface="Times New Roman"/>
              </a:rPr>
              <a:t> </a:t>
            </a:r>
            <a:r>
              <a:rPr sz="1200" dirty="0">
                <a:latin typeface="Times New Roman"/>
                <a:cs typeface="Times New Roman"/>
              </a:rPr>
              <a:t>involved,</a:t>
            </a:r>
            <a:r>
              <a:rPr sz="1200" spc="105"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spc="-50" dirty="0">
                <a:latin typeface="Times New Roman"/>
                <a:cs typeface="Times New Roman"/>
              </a:rPr>
              <a:t>I </a:t>
            </a:r>
            <a:r>
              <a:rPr sz="1200" spc="-10" dirty="0">
                <a:latin typeface="Times New Roman"/>
                <a:cs typeface="Times New Roman"/>
              </a:rPr>
              <a:t>sincerely</a:t>
            </a:r>
            <a:r>
              <a:rPr sz="1200" spc="-40" dirty="0">
                <a:latin typeface="Times New Roman"/>
                <a:cs typeface="Times New Roman"/>
              </a:rPr>
              <a:t> </a:t>
            </a:r>
            <a:r>
              <a:rPr sz="1200" dirty="0">
                <a:latin typeface="Times New Roman"/>
                <a:cs typeface="Times New Roman"/>
              </a:rPr>
              <a:t>thank</a:t>
            </a:r>
            <a:r>
              <a:rPr sz="1200" spc="-15" dirty="0">
                <a:latin typeface="Times New Roman"/>
                <a:cs typeface="Times New Roman"/>
              </a:rPr>
              <a:t> </a:t>
            </a:r>
            <a:r>
              <a:rPr sz="1200" dirty="0">
                <a:latin typeface="Times New Roman"/>
                <a:cs typeface="Times New Roman"/>
              </a:rPr>
              <a:t>everyone</a:t>
            </a:r>
            <a:r>
              <a:rPr sz="1200" spc="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their</a:t>
            </a:r>
            <a:r>
              <a:rPr sz="1200" spc="-10" dirty="0">
                <a:latin typeface="Times New Roman"/>
                <a:cs typeface="Times New Roman"/>
              </a:rPr>
              <a:t> contributions.</a:t>
            </a:r>
            <a:endParaRPr sz="1200" dirty="0">
              <a:latin typeface="Times New Roman"/>
              <a:cs typeface="Times New Roman"/>
            </a:endParaRPr>
          </a:p>
          <a:p>
            <a:pPr>
              <a:lnSpc>
                <a:spcPct val="100000"/>
              </a:lnSpc>
              <a:spcBef>
                <a:spcPts val="660"/>
              </a:spcBef>
            </a:pPr>
            <a:endParaRPr sz="1200" dirty="0">
              <a:latin typeface="Times New Roman"/>
              <a:cs typeface="Times New Roman"/>
            </a:endParaRPr>
          </a:p>
          <a:p>
            <a:pPr marL="12700">
              <a:lnSpc>
                <a:spcPct val="100000"/>
              </a:lnSpc>
            </a:pPr>
            <a:r>
              <a:rPr sz="1200" spc="-10" dirty="0">
                <a:latin typeface="Times New Roman"/>
                <a:cs typeface="Times New Roman"/>
              </a:rPr>
              <a:t>Thank</a:t>
            </a:r>
            <a:r>
              <a:rPr sz="1200" spc="-35" dirty="0">
                <a:latin typeface="Times New Roman"/>
                <a:cs typeface="Times New Roman"/>
              </a:rPr>
              <a:t> </a:t>
            </a:r>
            <a:r>
              <a:rPr sz="1200" spc="-25" dirty="0">
                <a:latin typeface="Times New Roman"/>
                <a:cs typeface="Times New Roman"/>
              </a:rPr>
              <a:t>You</a:t>
            </a:r>
            <a:endParaRPr sz="1200" dirty="0">
              <a:latin typeface="Times New Roman"/>
              <a:cs typeface="Times New Roman"/>
            </a:endParaRPr>
          </a:p>
          <a:p>
            <a:pPr>
              <a:lnSpc>
                <a:spcPct val="100000"/>
              </a:lnSpc>
              <a:spcBef>
                <a:spcPts val="20"/>
              </a:spcBef>
            </a:pPr>
            <a:endParaRPr sz="1200" dirty="0">
              <a:latin typeface="Times New Roman"/>
              <a:cs typeface="Times New Roman"/>
            </a:endParaRPr>
          </a:p>
          <a:p>
            <a:pPr marL="12700" marR="4909185" algn="just">
              <a:lnSpc>
                <a:spcPct val="144300"/>
              </a:lnSpc>
              <a:spcBef>
                <a:spcPts val="5"/>
              </a:spcBef>
            </a:pPr>
            <a:r>
              <a:rPr sz="1200" b="1" dirty="0">
                <a:latin typeface="Times New Roman"/>
                <a:cs typeface="Times New Roman"/>
              </a:rPr>
              <a:t>Submitted</a:t>
            </a:r>
            <a:r>
              <a:rPr sz="1200" b="1" spc="-35" dirty="0">
                <a:latin typeface="Times New Roman"/>
                <a:cs typeface="Times New Roman"/>
              </a:rPr>
              <a:t> </a:t>
            </a:r>
            <a:r>
              <a:rPr sz="1200" b="1" spc="-25" dirty="0">
                <a:latin typeface="Times New Roman"/>
                <a:cs typeface="Times New Roman"/>
              </a:rPr>
              <a:t>by: </a:t>
            </a:r>
            <a:endParaRPr lang="en-US" sz="1200" b="1" spc="-25" dirty="0">
              <a:latin typeface="Times New Roman"/>
              <a:cs typeface="Times New Roman"/>
            </a:endParaRPr>
          </a:p>
          <a:p>
            <a:pPr marL="12700" marR="4909185" algn="just">
              <a:lnSpc>
                <a:spcPct val="144300"/>
              </a:lnSpc>
              <a:spcBef>
                <a:spcPts val="5"/>
              </a:spcBef>
            </a:pPr>
            <a:r>
              <a:rPr lang="en-IN" sz="1200" b="1" spc="-25" dirty="0">
                <a:latin typeface="Times New Roman"/>
                <a:cs typeface="Times New Roman"/>
              </a:rPr>
              <a:t>Nirmal Todwal</a:t>
            </a:r>
            <a:r>
              <a:rPr sz="1200" b="1" spc="-20" dirty="0">
                <a:latin typeface="Times New Roman"/>
                <a:cs typeface="Times New Roman"/>
              </a:rPr>
              <a:t> </a:t>
            </a:r>
            <a:r>
              <a:rPr sz="1200" b="1" spc="-10" dirty="0">
                <a:latin typeface="Times New Roman"/>
                <a:cs typeface="Times New Roman"/>
              </a:rPr>
              <a:t>PCE23IT0</a:t>
            </a:r>
            <a:r>
              <a:rPr lang="en-US" sz="1200" b="1" spc="-10" dirty="0">
                <a:latin typeface="Times New Roman"/>
                <a:cs typeface="Times New Roman"/>
              </a:rPr>
              <a:t>35</a:t>
            </a:r>
            <a:endParaRPr sz="12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675888" y="8814585"/>
            <a:ext cx="194310" cy="189865"/>
          </a:xfrm>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z="1100" spc="-25" dirty="0">
                <a:latin typeface="Cambria"/>
                <a:cs typeface="Cambria"/>
              </a:rPr>
              <a:t>5</a:t>
            </a:fld>
            <a:endParaRPr sz="1100">
              <a:latin typeface="Cambria"/>
              <a:cs typeface="Cambria"/>
            </a:endParaRPr>
          </a:p>
        </p:txBody>
      </p:sp>
      <p:sp>
        <p:nvSpPr>
          <p:cNvPr id="2" name="object 2"/>
          <p:cNvSpPr txBox="1"/>
          <p:nvPr/>
        </p:nvSpPr>
        <p:spPr>
          <a:xfrm>
            <a:off x="2804541" y="914146"/>
            <a:ext cx="1920875" cy="238125"/>
          </a:xfrm>
          <a:prstGeom prst="rect">
            <a:avLst/>
          </a:prstGeom>
        </p:spPr>
        <p:txBody>
          <a:bodyPr vert="horz" wrap="square" lIns="0" tIns="11430" rIns="0" bIns="0" rtlCol="0">
            <a:spAutoFit/>
          </a:bodyPr>
          <a:lstStyle/>
          <a:p>
            <a:pPr marL="12700">
              <a:lnSpc>
                <a:spcPct val="100000"/>
              </a:lnSpc>
              <a:spcBef>
                <a:spcPts val="90"/>
              </a:spcBef>
            </a:pPr>
            <a:r>
              <a:rPr sz="1400" b="1" spc="-10" dirty="0">
                <a:latin typeface="Times New Roman"/>
                <a:cs typeface="Times New Roman"/>
              </a:rPr>
              <a:t>TABLE</a:t>
            </a:r>
            <a:r>
              <a:rPr sz="1400" b="1" spc="-55" dirty="0">
                <a:latin typeface="Times New Roman"/>
                <a:cs typeface="Times New Roman"/>
              </a:rPr>
              <a:t> </a:t>
            </a:r>
            <a:r>
              <a:rPr sz="1400" b="1" dirty="0">
                <a:latin typeface="Times New Roman"/>
                <a:cs typeface="Times New Roman"/>
              </a:rPr>
              <a:t>OF</a:t>
            </a:r>
            <a:r>
              <a:rPr sz="1400" b="1" spc="-90" dirty="0">
                <a:latin typeface="Times New Roman"/>
                <a:cs typeface="Times New Roman"/>
              </a:rPr>
              <a:t> </a:t>
            </a:r>
            <a:r>
              <a:rPr sz="1400" b="1" spc="-10" dirty="0">
                <a:latin typeface="Times New Roman"/>
                <a:cs typeface="Times New Roman"/>
              </a:rPr>
              <a:t>CONTENTS</a:t>
            </a:r>
            <a:endParaRPr sz="1400">
              <a:latin typeface="Times New Roman"/>
              <a:cs typeface="Times New Roman"/>
            </a:endParaRPr>
          </a:p>
        </p:txBody>
      </p:sp>
      <p:graphicFrame>
        <p:nvGraphicFramePr>
          <p:cNvPr id="3" name="object 3"/>
          <p:cNvGraphicFramePr>
            <a:graphicFrameLocks noGrp="1"/>
          </p:cNvGraphicFramePr>
          <p:nvPr/>
        </p:nvGraphicFramePr>
        <p:xfrm>
          <a:off x="850696" y="2036698"/>
          <a:ext cx="6180455" cy="5394325"/>
        </p:xfrm>
        <a:graphic>
          <a:graphicData uri="http://schemas.openxmlformats.org/drawingml/2006/table">
            <a:tbl>
              <a:tblPr firstRow="1" bandRow="1">
                <a:tableStyleId>{2D5ABB26-0587-4C30-8999-92F81FD0307C}</a:tableStyleId>
              </a:tblPr>
              <a:tblGrid>
                <a:gridCol w="1103630">
                  <a:extLst>
                    <a:ext uri="{9D8B030D-6E8A-4147-A177-3AD203B41FA5}">
                      <a16:colId xmlns:a16="http://schemas.microsoft.com/office/drawing/2014/main" val="20000"/>
                    </a:ext>
                  </a:extLst>
                </a:gridCol>
                <a:gridCol w="4149725">
                  <a:extLst>
                    <a:ext uri="{9D8B030D-6E8A-4147-A177-3AD203B41FA5}">
                      <a16:colId xmlns:a16="http://schemas.microsoft.com/office/drawing/2014/main" val="20001"/>
                    </a:ext>
                  </a:extLst>
                </a:gridCol>
                <a:gridCol w="927100">
                  <a:extLst>
                    <a:ext uri="{9D8B030D-6E8A-4147-A177-3AD203B41FA5}">
                      <a16:colId xmlns:a16="http://schemas.microsoft.com/office/drawing/2014/main" val="20002"/>
                    </a:ext>
                  </a:extLst>
                </a:gridCol>
              </a:tblGrid>
              <a:tr h="597535">
                <a:tc>
                  <a:txBody>
                    <a:bodyPr/>
                    <a:lstStyle/>
                    <a:p>
                      <a:pPr marL="7620" algn="ctr">
                        <a:lnSpc>
                          <a:spcPct val="100000"/>
                        </a:lnSpc>
                        <a:spcBef>
                          <a:spcPts val="1295"/>
                        </a:spcBef>
                      </a:pPr>
                      <a:r>
                        <a:rPr sz="1200" dirty="0">
                          <a:latin typeface="Times New Roman"/>
                          <a:cs typeface="Times New Roman"/>
                        </a:rPr>
                        <a:t>Serial</a:t>
                      </a:r>
                      <a:r>
                        <a:rPr sz="1200" spc="-70" dirty="0">
                          <a:latin typeface="Times New Roman"/>
                          <a:cs typeface="Times New Roman"/>
                        </a:rPr>
                        <a:t> </a:t>
                      </a:r>
                      <a:r>
                        <a:rPr sz="1200" spc="-25" dirty="0">
                          <a:latin typeface="Times New Roman"/>
                          <a:cs typeface="Times New Roman"/>
                        </a:rPr>
                        <a:t>No.</a:t>
                      </a:r>
                      <a:endParaRPr sz="1200">
                        <a:latin typeface="Times New Roman"/>
                        <a:cs typeface="Times New Roman"/>
                      </a:endParaRPr>
                    </a:p>
                  </a:txBody>
                  <a:tcPr marL="0" marR="0" marT="1644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ct val="100000"/>
                        </a:lnSpc>
                        <a:spcBef>
                          <a:spcPts val="1295"/>
                        </a:spcBef>
                      </a:pPr>
                      <a:r>
                        <a:rPr sz="1200" spc="-10" dirty="0">
                          <a:latin typeface="Times New Roman"/>
                          <a:cs typeface="Times New Roman"/>
                        </a:rPr>
                        <a:t>Description</a:t>
                      </a:r>
                      <a:endParaRPr sz="1200">
                        <a:latin typeface="Times New Roman"/>
                        <a:cs typeface="Times New Roman"/>
                      </a:endParaRPr>
                    </a:p>
                  </a:txBody>
                  <a:tcPr marL="0" marR="0" marT="1644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45"/>
                        </a:lnSpc>
                      </a:pPr>
                      <a:r>
                        <a:rPr sz="1200" spc="-20" dirty="0">
                          <a:latin typeface="Times New Roman"/>
                          <a:cs typeface="Times New Roman"/>
                        </a:rPr>
                        <a:t>Page</a:t>
                      </a:r>
                      <a:endParaRPr sz="1200">
                        <a:latin typeface="Times New Roman"/>
                        <a:cs typeface="Times New Roman"/>
                      </a:endParaRPr>
                    </a:p>
                    <a:p>
                      <a:pPr algn="ctr">
                        <a:lnSpc>
                          <a:spcPct val="100000"/>
                        </a:lnSpc>
                        <a:spcBef>
                          <a:spcPts val="645"/>
                        </a:spcBef>
                      </a:pPr>
                      <a:r>
                        <a:rPr sz="1200" spc="-10" dirty="0">
                          <a:latin typeface="Times New Roman"/>
                          <a:cs typeface="Times New Roman"/>
                        </a:rPr>
                        <a:t>Number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40995">
                <a:tc>
                  <a:txBody>
                    <a:bodyPr/>
                    <a:lstStyle/>
                    <a:p>
                      <a:pPr marL="4445" algn="ctr">
                        <a:lnSpc>
                          <a:spcPts val="1345"/>
                        </a:lnSpc>
                      </a:pPr>
                      <a:r>
                        <a:rPr sz="1200" spc="-25"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spc="-10" dirty="0">
                          <a:latin typeface="Times New Roman"/>
                          <a:cs typeface="Times New Roman"/>
                        </a:rPr>
                        <a:t>Title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080" algn="ctr">
                        <a:lnSpc>
                          <a:spcPts val="1345"/>
                        </a:lnSpc>
                      </a:pPr>
                      <a:r>
                        <a:rPr sz="1200" spc="-50" dirty="0">
                          <a:latin typeface="Times New Roman"/>
                          <a:cs typeface="Times New Roman"/>
                        </a:rPr>
                        <a:t>i</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2580">
                <a:tc>
                  <a:txBody>
                    <a:bodyPr/>
                    <a:lstStyle/>
                    <a:p>
                      <a:pPr marL="4445" algn="ctr">
                        <a:lnSpc>
                          <a:spcPts val="1345"/>
                        </a:lnSpc>
                      </a:pPr>
                      <a:r>
                        <a:rPr sz="1200" spc="-25" dirty="0">
                          <a:latin typeface="Times New Roman"/>
                          <a:cs typeface="Times New Roman"/>
                        </a:rPr>
                        <a:t>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Candidate</a:t>
                      </a:r>
                      <a:r>
                        <a:rPr sz="1200" spc="-35" dirty="0">
                          <a:latin typeface="Times New Roman"/>
                          <a:cs typeface="Times New Roman"/>
                        </a:rPr>
                        <a:t> </a:t>
                      </a:r>
                      <a:r>
                        <a:rPr sz="1200" spc="-10" dirty="0">
                          <a:latin typeface="Times New Roman"/>
                          <a:cs typeface="Times New Roman"/>
                        </a:rPr>
                        <a:t>Declaration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45"/>
                        </a:lnSpc>
                      </a:pPr>
                      <a:r>
                        <a:rPr sz="1200" spc="-25" dirty="0">
                          <a:latin typeface="Times New Roman"/>
                          <a:cs typeface="Times New Roman"/>
                        </a:rPr>
                        <a:t>ii</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2580">
                <a:tc>
                  <a:txBody>
                    <a:bodyPr/>
                    <a:lstStyle/>
                    <a:p>
                      <a:pPr marL="4445" algn="ctr">
                        <a:lnSpc>
                          <a:spcPts val="1345"/>
                        </a:lnSpc>
                      </a:pPr>
                      <a:r>
                        <a:rPr sz="1200" spc="-25" dirty="0">
                          <a:latin typeface="Times New Roman"/>
                          <a:cs typeface="Times New Roman"/>
                        </a:rPr>
                        <a:t>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Department</a:t>
                      </a:r>
                      <a:r>
                        <a:rPr sz="1200" spc="-70" dirty="0">
                          <a:latin typeface="Times New Roman"/>
                          <a:cs typeface="Times New Roman"/>
                        </a:rPr>
                        <a:t> </a:t>
                      </a:r>
                      <a:r>
                        <a:rPr sz="1200" spc="-10" dirty="0">
                          <a:latin typeface="Times New Roman"/>
                          <a:cs typeface="Times New Roman"/>
                        </a:rPr>
                        <a:t>Certificate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1345"/>
                        </a:lnSpc>
                      </a:pPr>
                      <a:r>
                        <a:rPr sz="1200" spc="-25" dirty="0">
                          <a:latin typeface="Times New Roman"/>
                          <a:cs typeface="Times New Roman"/>
                        </a:rPr>
                        <a:t>iii</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32105">
                <a:tc>
                  <a:txBody>
                    <a:bodyPr/>
                    <a:lstStyle/>
                    <a:p>
                      <a:pPr marL="4445" algn="ctr">
                        <a:lnSpc>
                          <a:spcPts val="1345"/>
                        </a:lnSpc>
                      </a:pPr>
                      <a:r>
                        <a:rPr sz="1200" spc="-25"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spc="-10" dirty="0">
                          <a:latin typeface="Times New Roman"/>
                          <a:cs typeface="Times New Roman"/>
                        </a:rPr>
                        <a:t>Acknowledgement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270" algn="ctr">
                        <a:lnSpc>
                          <a:spcPts val="1345"/>
                        </a:lnSpc>
                      </a:pPr>
                      <a:r>
                        <a:rPr sz="1200" spc="-25" dirty="0">
                          <a:latin typeface="Times New Roman"/>
                          <a:cs typeface="Times New Roman"/>
                        </a:rPr>
                        <a:t>iv</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37820">
                <a:tc>
                  <a:txBody>
                    <a:bodyPr/>
                    <a:lstStyle/>
                    <a:p>
                      <a:pPr marL="4445" algn="ctr">
                        <a:lnSpc>
                          <a:spcPts val="1345"/>
                        </a:lnSpc>
                      </a:pPr>
                      <a:r>
                        <a:rPr sz="1200" spc="-25"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spc="-30" dirty="0">
                          <a:latin typeface="Times New Roman"/>
                          <a:cs typeface="Times New Roman"/>
                        </a:rPr>
                        <a:t>Table</a:t>
                      </a:r>
                      <a:r>
                        <a:rPr sz="1200" spc="-35" dirty="0">
                          <a:latin typeface="Times New Roman"/>
                          <a:cs typeface="Times New Roman"/>
                        </a:rPr>
                        <a:t> </a:t>
                      </a:r>
                      <a:r>
                        <a:rPr sz="1200" dirty="0">
                          <a:latin typeface="Times New Roman"/>
                          <a:cs typeface="Times New Roman"/>
                        </a:rPr>
                        <a:t>of</a:t>
                      </a:r>
                      <a:r>
                        <a:rPr sz="1200" spc="-75" dirty="0">
                          <a:latin typeface="Times New Roman"/>
                          <a:cs typeface="Times New Roman"/>
                        </a:rPr>
                        <a:t> </a:t>
                      </a:r>
                      <a:r>
                        <a:rPr sz="1200" spc="-10" dirty="0">
                          <a:latin typeface="Times New Roman"/>
                          <a:cs typeface="Times New Roman"/>
                        </a:rPr>
                        <a:t>Contents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1345"/>
                        </a:lnSpc>
                      </a:pPr>
                      <a:r>
                        <a:rPr sz="1200" spc="-50" dirty="0">
                          <a:latin typeface="Times New Roman"/>
                          <a:cs typeface="Times New Roman"/>
                        </a:rPr>
                        <a:t>v</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37820">
                <a:tc>
                  <a:txBody>
                    <a:bodyPr/>
                    <a:lstStyle/>
                    <a:p>
                      <a:pPr marL="3175" algn="ctr">
                        <a:lnSpc>
                          <a:spcPts val="1370"/>
                        </a:lnSpc>
                      </a:pPr>
                      <a:r>
                        <a:rPr sz="1200" spc="-50" dirty="0">
                          <a:latin typeface="Times New Roman"/>
                          <a:cs typeface="Times New Roman"/>
                        </a:rPr>
                        <a:t>6</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70"/>
                        </a:lnSpc>
                      </a:pPr>
                      <a:r>
                        <a:rPr sz="1200" spc="-10" dirty="0">
                          <a:latin typeface="Times New Roman"/>
                          <a:cs typeface="Times New Roman"/>
                        </a:rPr>
                        <a:t>Abstract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1370"/>
                        </a:lnSpc>
                      </a:pPr>
                      <a:r>
                        <a:rPr sz="1200" spc="-50"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41630">
                <a:tc>
                  <a:txBody>
                    <a:bodyPr/>
                    <a:lstStyle/>
                    <a:p>
                      <a:pPr marL="4445" algn="ctr">
                        <a:lnSpc>
                          <a:spcPts val="1345"/>
                        </a:lnSpc>
                      </a:pPr>
                      <a:r>
                        <a:rPr sz="1200" spc="-25" dirty="0">
                          <a:latin typeface="Times New Roman"/>
                          <a:cs typeface="Times New Roman"/>
                        </a:rPr>
                        <a:t>7.</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Chapter</a:t>
                      </a:r>
                      <a:r>
                        <a:rPr sz="1200" spc="-25" dirty="0">
                          <a:latin typeface="Times New Roman"/>
                          <a:cs typeface="Times New Roman"/>
                        </a:rPr>
                        <a:t> </a:t>
                      </a:r>
                      <a:r>
                        <a:rPr sz="1200" dirty="0">
                          <a:latin typeface="Times New Roman"/>
                          <a:cs typeface="Times New Roman"/>
                        </a:rPr>
                        <a:t>1:</a:t>
                      </a:r>
                      <a:r>
                        <a:rPr sz="1200" spc="-25" dirty="0">
                          <a:latin typeface="Times New Roman"/>
                          <a:cs typeface="Times New Roman"/>
                        </a:rPr>
                        <a:t> </a:t>
                      </a:r>
                      <a:r>
                        <a:rPr sz="1200" spc="-10" dirty="0">
                          <a:latin typeface="Times New Roman"/>
                          <a:cs typeface="Times New Roman"/>
                        </a:rPr>
                        <a:t>Introduction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540" algn="ctr">
                        <a:lnSpc>
                          <a:spcPts val="1345"/>
                        </a:lnSpc>
                      </a:pPr>
                      <a:r>
                        <a:rPr sz="1200" spc="-30" dirty="0">
                          <a:latin typeface="Times New Roman"/>
                          <a:cs typeface="Times New Roman"/>
                        </a:rPr>
                        <a:t>2-</a:t>
                      </a:r>
                      <a:r>
                        <a:rPr sz="1200" spc="-50"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34645">
                <a:tc>
                  <a:txBody>
                    <a:bodyPr/>
                    <a:lstStyle/>
                    <a:p>
                      <a:pPr marL="4445" algn="ctr">
                        <a:lnSpc>
                          <a:spcPts val="1345"/>
                        </a:lnSpc>
                      </a:pPr>
                      <a:r>
                        <a:rPr sz="1200" spc="-25" dirty="0">
                          <a:latin typeface="Times New Roman"/>
                          <a:cs typeface="Times New Roman"/>
                        </a:rPr>
                        <a:t>8.</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Chapter</a:t>
                      </a:r>
                      <a:r>
                        <a:rPr sz="1200" spc="-35" dirty="0">
                          <a:latin typeface="Times New Roman"/>
                          <a:cs typeface="Times New Roman"/>
                        </a:rPr>
                        <a:t> </a:t>
                      </a:r>
                      <a:r>
                        <a:rPr sz="1200" dirty="0">
                          <a:latin typeface="Times New Roman"/>
                          <a:cs typeface="Times New Roman"/>
                        </a:rPr>
                        <a:t>2:</a:t>
                      </a:r>
                      <a:r>
                        <a:rPr sz="1200" spc="220" dirty="0">
                          <a:latin typeface="Times New Roman"/>
                          <a:cs typeface="Times New Roman"/>
                        </a:rPr>
                        <a:t> </a:t>
                      </a:r>
                      <a:r>
                        <a:rPr sz="1200" spc="-20" dirty="0">
                          <a:latin typeface="Times New Roman"/>
                          <a:cs typeface="Times New Roman"/>
                        </a:rPr>
                        <a:t>Technical</a:t>
                      </a:r>
                      <a:r>
                        <a:rPr sz="1200" spc="-60" dirty="0">
                          <a:latin typeface="Times New Roman"/>
                          <a:cs typeface="Times New Roman"/>
                        </a:rPr>
                        <a:t> </a:t>
                      </a:r>
                      <a:r>
                        <a:rPr sz="1200" dirty="0">
                          <a:latin typeface="Times New Roman"/>
                          <a:cs typeface="Times New Roman"/>
                        </a:rPr>
                        <a:t>Training</a:t>
                      </a:r>
                      <a:r>
                        <a:rPr sz="1200" spc="-10" dirty="0">
                          <a:latin typeface="Times New Roman"/>
                          <a:cs typeface="Times New Roman"/>
                        </a:rPr>
                        <a:t> Platform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890" algn="ctr">
                        <a:lnSpc>
                          <a:spcPts val="1345"/>
                        </a:lnSpc>
                      </a:pPr>
                      <a:r>
                        <a:rPr sz="1200" dirty="0">
                          <a:latin typeface="Times New Roman"/>
                          <a:cs typeface="Times New Roman"/>
                        </a:rPr>
                        <a:t>5-</a:t>
                      </a:r>
                      <a:r>
                        <a:rPr sz="1200" spc="-60" dirty="0">
                          <a:latin typeface="Times New Roman"/>
                          <a:cs typeface="Times New Roman"/>
                        </a:rPr>
                        <a:t>7</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59410">
                <a:tc>
                  <a:txBody>
                    <a:bodyPr/>
                    <a:lstStyle/>
                    <a:p>
                      <a:pPr marL="4445" algn="ctr">
                        <a:lnSpc>
                          <a:spcPts val="1370"/>
                        </a:lnSpc>
                      </a:pPr>
                      <a:r>
                        <a:rPr sz="1200" spc="-25" dirty="0">
                          <a:latin typeface="Times New Roman"/>
                          <a:cs typeface="Times New Roman"/>
                        </a:rPr>
                        <a:t>9.</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70"/>
                        </a:lnSpc>
                      </a:pPr>
                      <a:r>
                        <a:rPr sz="1200" dirty="0">
                          <a:latin typeface="Times New Roman"/>
                          <a:cs typeface="Times New Roman"/>
                        </a:rPr>
                        <a:t>Chapter</a:t>
                      </a:r>
                      <a:r>
                        <a:rPr sz="1200" spc="5" dirty="0">
                          <a:latin typeface="Times New Roman"/>
                          <a:cs typeface="Times New Roman"/>
                        </a:rPr>
                        <a:t> </a:t>
                      </a:r>
                      <a:r>
                        <a:rPr sz="1200" dirty="0">
                          <a:latin typeface="Times New Roman"/>
                          <a:cs typeface="Times New Roman"/>
                        </a:rPr>
                        <a:t>3:</a:t>
                      </a:r>
                      <a:r>
                        <a:rPr sz="1200" spc="-70" dirty="0">
                          <a:latin typeface="Times New Roman"/>
                          <a:cs typeface="Times New Roman"/>
                        </a:rPr>
                        <a:t> </a:t>
                      </a:r>
                      <a:r>
                        <a:rPr sz="1200" spc="-10" dirty="0">
                          <a:latin typeface="Times New Roman"/>
                          <a:cs typeface="Times New Roman"/>
                        </a:rPr>
                        <a:t>Technology</a:t>
                      </a:r>
                      <a:r>
                        <a:rPr sz="1200" spc="-45" dirty="0">
                          <a:latin typeface="Times New Roman"/>
                          <a:cs typeface="Times New Roman"/>
                        </a:rPr>
                        <a:t> </a:t>
                      </a:r>
                      <a:r>
                        <a:rPr sz="1200" spc="-10" dirty="0">
                          <a:latin typeface="Times New Roman"/>
                          <a:cs typeface="Times New Roman"/>
                        </a:rPr>
                        <a:t>Specification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15" algn="ctr">
                        <a:lnSpc>
                          <a:spcPts val="1370"/>
                        </a:lnSpc>
                      </a:pPr>
                      <a:r>
                        <a:rPr sz="1200" spc="-55" dirty="0">
                          <a:latin typeface="Times New Roman"/>
                          <a:cs typeface="Times New Roman"/>
                        </a:rPr>
                        <a:t>8-</a:t>
                      </a:r>
                      <a:r>
                        <a:rPr sz="1200" spc="-25" dirty="0">
                          <a:latin typeface="Times New Roman"/>
                          <a:cs typeface="Times New Roman"/>
                        </a:rPr>
                        <a:t>19</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56870">
                <a:tc>
                  <a:txBody>
                    <a:bodyPr/>
                    <a:lstStyle/>
                    <a:p>
                      <a:pPr marL="4445" algn="ctr">
                        <a:lnSpc>
                          <a:spcPts val="1345"/>
                        </a:lnSpc>
                      </a:pPr>
                      <a:r>
                        <a:rPr sz="1200" spc="-25" dirty="0">
                          <a:latin typeface="Times New Roman"/>
                          <a:cs typeface="Times New Roman"/>
                        </a:rPr>
                        <a:t>10.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Chapter</a:t>
                      </a:r>
                      <a:r>
                        <a:rPr sz="1200" spc="-30" dirty="0">
                          <a:latin typeface="Times New Roman"/>
                          <a:cs typeface="Times New Roman"/>
                        </a:rPr>
                        <a:t> </a:t>
                      </a:r>
                      <a:r>
                        <a:rPr sz="1200" dirty="0">
                          <a:latin typeface="Times New Roman"/>
                          <a:cs typeface="Times New Roman"/>
                        </a:rPr>
                        <a:t>4:</a:t>
                      </a:r>
                      <a:r>
                        <a:rPr sz="1200" spc="-50" dirty="0">
                          <a:latin typeface="Times New Roman"/>
                          <a:cs typeface="Times New Roman"/>
                        </a:rPr>
                        <a:t> </a:t>
                      </a:r>
                      <a:r>
                        <a:rPr sz="1200" dirty="0">
                          <a:latin typeface="Times New Roman"/>
                          <a:cs typeface="Times New Roman"/>
                        </a:rPr>
                        <a:t>Project</a:t>
                      </a:r>
                      <a:r>
                        <a:rPr sz="1200" spc="-10" dirty="0">
                          <a:latin typeface="Times New Roman"/>
                          <a:cs typeface="Times New Roman"/>
                        </a:rPr>
                        <a:t> 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890" algn="ctr">
                        <a:lnSpc>
                          <a:spcPts val="1345"/>
                        </a:lnSpc>
                      </a:pPr>
                      <a:r>
                        <a:rPr sz="1200" spc="-10" dirty="0">
                          <a:latin typeface="Times New Roman"/>
                          <a:cs typeface="Times New Roman"/>
                        </a:rPr>
                        <a:t>10-</a:t>
                      </a:r>
                      <a:r>
                        <a:rPr sz="1200" spc="-35" dirty="0">
                          <a:latin typeface="Times New Roman"/>
                          <a:cs typeface="Times New Roman"/>
                        </a:rPr>
                        <a:t>13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37820">
                <a:tc>
                  <a:txBody>
                    <a:bodyPr/>
                    <a:lstStyle/>
                    <a:p>
                      <a:pPr marL="1270" algn="ctr">
                        <a:lnSpc>
                          <a:spcPts val="1345"/>
                        </a:lnSpc>
                      </a:pPr>
                      <a:r>
                        <a:rPr sz="1200" spc="-25" dirty="0">
                          <a:latin typeface="Times New Roman"/>
                          <a:cs typeface="Times New Roman"/>
                        </a:rPr>
                        <a:t>11.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Chapter</a:t>
                      </a:r>
                      <a:r>
                        <a:rPr sz="1200" spc="-5" dirty="0">
                          <a:latin typeface="Times New Roman"/>
                          <a:cs typeface="Times New Roman"/>
                        </a:rPr>
                        <a:t> </a:t>
                      </a:r>
                      <a:r>
                        <a:rPr sz="1200" dirty="0">
                          <a:latin typeface="Times New Roman"/>
                          <a:cs typeface="Times New Roman"/>
                        </a:rPr>
                        <a:t>5:</a:t>
                      </a:r>
                      <a:r>
                        <a:rPr sz="1200" spc="-25" dirty="0">
                          <a:latin typeface="Times New Roman"/>
                          <a:cs typeface="Times New Roman"/>
                        </a:rPr>
                        <a:t> </a:t>
                      </a:r>
                      <a:r>
                        <a:rPr sz="1200" dirty="0">
                          <a:latin typeface="Times New Roman"/>
                          <a:cs typeface="Times New Roman"/>
                        </a:rPr>
                        <a:t>Snapshots</a:t>
                      </a:r>
                      <a:r>
                        <a:rPr sz="1200" spc="-4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Project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45"/>
                        </a:lnSpc>
                      </a:pPr>
                      <a:r>
                        <a:rPr sz="1200" spc="-30" dirty="0">
                          <a:latin typeface="Times New Roman"/>
                          <a:cs typeface="Times New Roman"/>
                        </a:rPr>
                        <a:t>14-</a:t>
                      </a:r>
                      <a:r>
                        <a:rPr sz="1200" spc="-25" dirty="0">
                          <a:latin typeface="Times New Roman"/>
                          <a:cs typeface="Times New Roman"/>
                        </a:rPr>
                        <a:t>17</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56235">
                <a:tc>
                  <a:txBody>
                    <a:bodyPr/>
                    <a:lstStyle/>
                    <a:p>
                      <a:pPr marL="4445" algn="ctr">
                        <a:lnSpc>
                          <a:spcPts val="1345"/>
                        </a:lnSpc>
                      </a:pPr>
                      <a:r>
                        <a:rPr sz="1200" spc="-25" dirty="0">
                          <a:latin typeface="Times New Roman"/>
                          <a:cs typeface="Times New Roman"/>
                        </a:rPr>
                        <a:t>12.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45"/>
                        </a:lnSpc>
                      </a:pPr>
                      <a:r>
                        <a:rPr sz="1200" dirty="0">
                          <a:latin typeface="Times New Roman"/>
                          <a:cs typeface="Times New Roman"/>
                        </a:rPr>
                        <a:t>Chapter 6:</a:t>
                      </a:r>
                      <a:r>
                        <a:rPr sz="1200" spc="285" dirty="0">
                          <a:latin typeface="Times New Roman"/>
                          <a:cs typeface="Times New Roman"/>
                        </a:rPr>
                        <a:t> </a:t>
                      </a:r>
                      <a:r>
                        <a:rPr sz="1200" dirty="0">
                          <a:latin typeface="Times New Roman"/>
                          <a:cs typeface="Times New Roman"/>
                        </a:rPr>
                        <a:t>Future</a:t>
                      </a:r>
                      <a:r>
                        <a:rPr sz="1200" spc="-30" dirty="0">
                          <a:latin typeface="Times New Roman"/>
                          <a:cs typeface="Times New Roman"/>
                        </a:rPr>
                        <a:t> </a:t>
                      </a:r>
                      <a:r>
                        <a:rPr sz="1200" dirty="0">
                          <a:latin typeface="Times New Roman"/>
                          <a:cs typeface="Times New Roman"/>
                        </a:rPr>
                        <a:t>Scope</a:t>
                      </a:r>
                      <a:r>
                        <a:rPr sz="1200" spc="-5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0" dirty="0">
                          <a:latin typeface="Times New Roman"/>
                          <a:cs typeface="Times New Roman"/>
                        </a:rPr>
                        <a:t>Project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45"/>
                        </a:lnSpc>
                      </a:pPr>
                      <a:r>
                        <a:rPr sz="1200" spc="-10" dirty="0">
                          <a:latin typeface="Times New Roman"/>
                          <a:cs typeface="Times New Roman"/>
                        </a:rPr>
                        <a:t>18-</a:t>
                      </a:r>
                      <a:r>
                        <a:rPr sz="1200" spc="-35" dirty="0">
                          <a:latin typeface="Times New Roman"/>
                          <a:cs typeface="Times New Roman"/>
                        </a:rPr>
                        <a:t>20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56870">
                <a:tc>
                  <a:txBody>
                    <a:bodyPr/>
                    <a:lstStyle/>
                    <a:p>
                      <a:pPr marL="4445" algn="ctr">
                        <a:lnSpc>
                          <a:spcPts val="1370"/>
                        </a:lnSpc>
                      </a:pPr>
                      <a:r>
                        <a:rPr sz="1200" spc="-25" dirty="0">
                          <a:latin typeface="Times New Roman"/>
                          <a:cs typeface="Times New Roman"/>
                        </a:rPr>
                        <a:t>13.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70"/>
                        </a:lnSpc>
                      </a:pPr>
                      <a:r>
                        <a:rPr sz="1200" dirty="0">
                          <a:latin typeface="Times New Roman"/>
                          <a:cs typeface="Times New Roman"/>
                        </a:rPr>
                        <a:t>Chapter</a:t>
                      </a:r>
                      <a:r>
                        <a:rPr sz="1200" spc="-5" dirty="0">
                          <a:latin typeface="Times New Roman"/>
                          <a:cs typeface="Times New Roman"/>
                        </a:rPr>
                        <a:t> </a:t>
                      </a:r>
                      <a:r>
                        <a:rPr sz="1200" dirty="0">
                          <a:latin typeface="Times New Roman"/>
                          <a:cs typeface="Times New Roman"/>
                        </a:rPr>
                        <a:t>7:</a:t>
                      </a:r>
                      <a:r>
                        <a:rPr sz="1200" spc="-20" dirty="0">
                          <a:latin typeface="Times New Roman"/>
                          <a:cs typeface="Times New Roman"/>
                        </a:rPr>
                        <a:t> </a:t>
                      </a:r>
                      <a:r>
                        <a:rPr sz="1200" spc="-10" dirty="0">
                          <a:latin typeface="Times New Roman"/>
                          <a:cs typeface="Times New Roman"/>
                        </a:rPr>
                        <a:t>Conclusion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15" algn="ctr">
                        <a:lnSpc>
                          <a:spcPts val="1370"/>
                        </a:lnSpc>
                      </a:pPr>
                      <a:r>
                        <a:rPr sz="1200" spc="-10" dirty="0">
                          <a:latin typeface="Times New Roman"/>
                          <a:cs typeface="Times New Roman"/>
                        </a:rPr>
                        <a:t>21-</a:t>
                      </a:r>
                      <a:r>
                        <a:rPr sz="1200" spc="-35" dirty="0">
                          <a:latin typeface="Times New Roman"/>
                          <a:cs typeface="Times New Roman"/>
                        </a:rPr>
                        <a:t>23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359410">
                <a:tc>
                  <a:txBody>
                    <a:bodyPr/>
                    <a:lstStyle/>
                    <a:p>
                      <a:pPr marL="4445" algn="ctr">
                        <a:lnSpc>
                          <a:spcPts val="1370"/>
                        </a:lnSpc>
                      </a:pPr>
                      <a:r>
                        <a:rPr sz="1200" spc="-25" dirty="0">
                          <a:latin typeface="Times New Roman"/>
                          <a:cs typeface="Times New Roman"/>
                        </a:rPr>
                        <a:t>14.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ts val="1370"/>
                        </a:lnSpc>
                      </a:pPr>
                      <a:r>
                        <a:rPr sz="1200" dirty="0">
                          <a:latin typeface="Times New Roman"/>
                          <a:cs typeface="Times New Roman"/>
                        </a:rPr>
                        <a:t>Chapter</a:t>
                      </a:r>
                      <a:r>
                        <a:rPr sz="1200" spc="-5" dirty="0">
                          <a:latin typeface="Times New Roman"/>
                          <a:cs typeface="Times New Roman"/>
                        </a:rPr>
                        <a:t> </a:t>
                      </a:r>
                      <a:r>
                        <a:rPr sz="1200" dirty="0">
                          <a:latin typeface="Times New Roman"/>
                          <a:cs typeface="Times New Roman"/>
                        </a:rPr>
                        <a:t>8:</a:t>
                      </a:r>
                      <a:r>
                        <a:rPr sz="1200" spc="-30" dirty="0">
                          <a:latin typeface="Times New Roman"/>
                          <a:cs typeface="Times New Roman"/>
                        </a:rPr>
                        <a:t> </a:t>
                      </a:r>
                      <a:r>
                        <a:rPr sz="1200" spc="-10" dirty="0">
                          <a:latin typeface="Times New Roman"/>
                          <a:cs typeface="Times New Roman"/>
                        </a:rPr>
                        <a:t>References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15" algn="ctr">
                        <a:lnSpc>
                          <a:spcPts val="1370"/>
                        </a:lnSpc>
                      </a:pPr>
                      <a:r>
                        <a:rPr sz="1200" spc="-25" dirty="0">
                          <a:latin typeface="Times New Roman"/>
                          <a:cs typeface="Times New Roman"/>
                        </a:rPr>
                        <a:t>24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a:t>
            </a:r>
          </a:p>
        </p:txBody>
      </p:sp>
      <p:sp>
        <p:nvSpPr>
          <p:cNvPr id="2" name="object 2"/>
          <p:cNvSpPr txBox="1"/>
          <p:nvPr/>
        </p:nvSpPr>
        <p:spPr>
          <a:xfrm>
            <a:off x="3390138" y="889761"/>
            <a:ext cx="989965" cy="238125"/>
          </a:xfrm>
          <a:prstGeom prst="rect">
            <a:avLst/>
          </a:prstGeom>
        </p:spPr>
        <p:txBody>
          <a:bodyPr vert="horz" wrap="square" lIns="0" tIns="11430" rIns="0" bIns="0" rtlCol="0">
            <a:spAutoFit/>
          </a:bodyPr>
          <a:lstStyle/>
          <a:p>
            <a:pPr marL="12700">
              <a:lnSpc>
                <a:spcPct val="100000"/>
              </a:lnSpc>
              <a:spcBef>
                <a:spcPts val="90"/>
              </a:spcBef>
            </a:pPr>
            <a:r>
              <a:rPr sz="1400" b="1" spc="-10" dirty="0">
                <a:latin typeface="Times New Roman"/>
                <a:cs typeface="Times New Roman"/>
              </a:rPr>
              <a:t>ABSTRACT</a:t>
            </a:r>
            <a:endParaRPr sz="1400">
              <a:latin typeface="Times New Roman"/>
              <a:cs typeface="Times New Roman"/>
            </a:endParaRPr>
          </a:p>
        </p:txBody>
      </p:sp>
      <p:sp>
        <p:nvSpPr>
          <p:cNvPr id="3" name="object 3"/>
          <p:cNvSpPr txBox="1"/>
          <p:nvPr/>
        </p:nvSpPr>
        <p:spPr>
          <a:xfrm>
            <a:off x="902004" y="1658238"/>
            <a:ext cx="5970905" cy="6685804"/>
          </a:xfrm>
          <a:prstGeom prst="rect">
            <a:avLst/>
          </a:prstGeom>
        </p:spPr>
        <p:txBody>
          <a:bodyPr vert="horz" wrap="square" lIns="0" tIns="14604" rIns="0" bIns="0" rtlCol="0">
            <a:spAutoFit/>
          </a:bodyPr>
          <a:lstStyle/>
          <a:p>
            <a:r>
              <a:rPr lang="en-US" sz="1200" dirty="0"/>
              <a:t>This project implements a responsive, secure, and citizen-centric platform named </a:t>
            </a:r>
            <a:r>
              <a:rPr lang="en-US" sz="1200" b="1" dirty="0"/>
              <a:t>NIDHI-SETU: A Secure Bridge Between Citizens and Government Funds</a:t>
            </a:r>
            <a:r>
              <a:rPr lang="en-US" sz="1200" dirty="0"/>
              <a:t>. It is designed using modern full stack web technologies — </a:t>
            </a:r>
            <a:r>
              <a:rPr lang="en-US" sz="1200" b="1" dirty="0"/>
              <a:t>React.js</a:t>
            </a:r>
            <a:r>
              <a:rPr lang="en-US" sz="1200" dirty="0"/>
              <a:t> and </a:t>
            </a:r>
            <a:r>
              <a:rPr lang="en-US" sz="1200" b="1" dirty="0"/>
              <a:t>Tailwind CSS</a:t>
            </a:r>
            <a:r>
              <a:rPr lang="en-US" sz="1200" dirty="0"/>
              <a:t> for the front-end interface, ensuring an interactive, user-friendly, and responsive design; </a:t>
            </a:r>
            <a:r>
              <a:rPr lang="en-US" sz="1200" b="1" dirty="0"/>
              <a:t>Node.js</a:t>
            </a:r>
            <a:r>
              <a:rPr lang="en-US" sz="1200" dirty="0"/>
              <a:t> and </a:t>
            </a:r>
            <a:r>
              <a:rPr lang="en-US" sz="1200" b="1" dirty="0"/>
              <a:t>Express.js</a:t>
            </a:r>
            <a:r>
              <a:rPr lang="en-US" sz="1200" dirty="0"/>
              <a:t> for the backend to handle API endpoints, data processing, and system logic; and </a:t>
            </a:r>
            <a:r>
              <a:rPr lang="en-US" sz="1200" b="1" dirty="0"/>
              <a:t>Firebase</a:t>
            </a:r>
            <a:r>
              <a:rPr lang="en-US" sz="1200" dirty="0"/>
              <a:t> for authentication, real-time database management, hosting, and secure data storage.</a:t>
            </a:r>
          </a:p>
          <a:p>
            <a:r>
              <a:rPr lang="en-US" sz="1200" dirty="0"/>
              <a:t>The system ensures </a:t>
            </a:r>
            <a:r>
              <a:rPr lang="en-US" sz="1200" b="1" dirty="0"/>
              <a:t>transparency and security in government fund disbursement</a:t>
            </a:r>
            <a:r>
              <a:rPr lang="en-US" sz="1200" dirty="0"/>
              <a:t> by linking beneficiary verification with </a:t>
            </a:r>
            <a:r>
              <a:rPr lang="en-US" sz="1200" b="1" dirty="0"/>
              <a:t>Aadhaar, death registries, and life certificate databases</a:t>
            </a:r>
            <a:r>
              <a:rPr lang="en-US" sz="1200" dirty="0"/>
              <a:t>. It enables real-time verification through </a:t>
            </a:r>
            <a:r>
              <a:rPr lang="en-US" sz="1200" b="1" dirty="0"/>
              <a:t>3D face authentication (via </a:t>
            </a:r>
            <a:r>
              <a:rPr lang="en-US" sz="1200" b="1" dirty="0" err="1"/>
              <a:t>Supabase</a:t>
            </a:r>
            <a:r>
              <a:rPr lang="en-US" sz="1200" b="1" dirty="0"/>
              <a:t>)</a:t>
            </a:r>
            <a:r>
              <a:rPr lang="en-US" sz="1200" dirty="0"/>
              <a:t> and </a:t>
            </a:r>
            <a:r>
              <a:rPr lang="en-US" sz="1200" b="1" dirty="0"/>
              <a:t>voice verification (via Twilio AI Bot)</a:t>
            </a:r>
            <a:r>
              <a:rPr lang="en-US" sz="1200" dirty="0"/>
              <a:t> to confirm the liveness of beneficiaries before releasing funds. Admin users can access </a:t>
            </a:r>
            <a:r>
              <a:rPr lang="en-US" sz="1200" b="1" dirty="0"/>
              <a:t>secure dashboards</a:t>
            </a:r>
            <a:r>
              <a:rPr lang="en-US" sz="1200" dirty="0"/>
              <a:t> to monitor verification status, review flagged cases, manage records, and generate analytical insights.</a:t>
            </a:r>
          </a:p>
          <a:p>
            <a:r>
              <a:rPr lang="en-US" sz="1200" dirty="0"/>
              <a:t>Core features include </a:t>
            </a:r>
            <a:r>
              <a:rPr lang="en-US" sz="1200" b="1" dirty="0"/>
              <a:t>secure authentication, real-time beneficiary verification, AI-driven fraud detection, role-based access control</a:t>
            </a:r>
            <a:r>
              <a:rPr lang="en-US" sz="1200" dirty="0"/>
              <a:t>, and </a:t>
            </a:r>
            <a:r>
              <a:rPr lang="en-US" sz="1200" b="1" dirty="0"/>
              <a:t>data encryption for integrity and compliance</a:t>
            </a:r>
            <a:r>
              <a:rPr lang="en-US" sz="1200" dirty="0"/>
              <a:t>. The architecture demonstrates seamless </a:t>
            </a:r>
            <a:r>
              <a:rPr lang="en-US" sz="1200" b="1" dirty="0"/>
              <a:t>integration of AI and web technologies</a:t>
            </a:r>
            <a:r>
              <a:rPr lang="en-US" sz="1200" dirty="0"/>
              <a:t> in a government-oriented application, showcasing strong understanding of </a:t>
            </a:r>
            <a:r>
              <a:rPr lang="en-US" sz="1200" b="1" dirty="0"/>
              <a:t>RESTful APIs, cloud services, and asynchronous data handling</a:t>
            </a:r>
            <a:r>
              <a:rPr lang="en-US" sz="1200" dirty="0"/>
              <a:t>.</a:t>
            </a:r>
          </a:p>
          <a:p>
            <a:r>
              <a:rPr lang="en-US" sz="1200" dirty="0"/>
              <a:t>The project reflects a practical implementation of </a:t>
            </a:r>
            <a:r>
              <a:rPr lang="en-US" sz="1200" b="1" dirty="0"/>
              <a:t>Full Stack Web Development</a:t>
            </a:r>
            <a:r>
              <a:rPr lang="en-US" sz="1200" dirty="0"/>
              <a:t> concepts, combining usability, reliability, and scalability. It serves as a prototype for </a:t>
            </a:r>
            <a:r>
              <a:rPr lang="en-US" sz="1200" b="1" dirty="0"/>
              <a:t>e-Governance solutions</a:t>
            </a:r>
            <a:r>
              <a:rPr lang="en-US" sz="1200" dirty="0"/>
              <a:t> aimed at improving transparency and efficiency in social security fund distribution.</a:t>
            </a:r>
          </a:p>
          <a:p>
            <a:pPr>
              <a:lnSpc>
                <a:spcPct val="100000"/>
              </a:lnSpc>
              <a:spcBef>
                <a:spcPts val="1350"/>
              </a:spcBef>
            </a:pPr>
            <a:endParaRPr sz="1200" dirty="0">
              <a:latin typeface="Times New Roman"/>
              <a:cs typeface="Times New Roman"/>
            </a:endParaRPr>
          </a:p>
          <a:p>
            <a:pPr marL="12700">
              <a:lnSpc>
                <a:spcPct val="100000"/>
              </a:lnSpc>
            </a:pPr>
            <a:r>
              <a:rPr sz="1400" b="1" dirty="0">
                <a:latin typeface="Times New Roman"/>
                <a:cs typeface="Times New Roman"/>
              </a:rPr>
              <a:t>Key</a:t>
            </a:r>
            <a:r>
              <a:rPr sz="1400" b="1" spc="-15" dirty="0">
                <a:latin typeface="Times New Roman"/>
                <a:cs typeface="Times New Roman"/>
              </a:rPr>
              <a:t> </a:t>
            </a:r>
            <a:r>
              <a:rPr sz="1400" b="1" spc="-10" dirty="0">
                <a:latin typeface="Times New Roman"/>
                <a:cs typeface="Times New Roman"/>
              </a:rPr>
              <a:t>features:</a:t>
            </a:r>
            <a:endParaRPr sz="1400" dirty="0">
              <a:latin typeface="Times New Roman"/>
              <a:cs typeface="Times New Roman"/>
            </a:endParaRPr>
          </a:p>
          <a:p>
            <a:pPr marL="469900" indent="-228600">
              <a:lnSpc>
                <a:spcPct val="100000"/>
              </a:lnSpc>
              <a:spcBef>
                <a:spcPts val="730"/>
              </a:spcBef>
              <a:buSzPct val="83333"/>
              <a:buFont typeface="Symbol"/>
              <a:buChar char=""/>
              <a:tabLst>
                <a:tab pos="469900" algn="l"/>
              </a:tabLst>
            </a:pPr>
            <a:r>
              <a:rPr sz="1200" dirty="0">
                <a:latin typeface="Times New Roman"/>
                <a:cs typeface="Times New Roman"/>
              </a:rPr>
              <a:t>Responsive</a:t>
            </a:r>
            <a:r>
              <a:rPr sz="1200" spc="-40" dirty="0">
                <a:latin typeface="Times New Roman"/>
                <a:cs typeface="Times New Roman"/>
              </a:rPr>
              <a:t> </a:t>
            </a:r>
            <a:r>
              <a:rPr sz="1200" dirty="0">
                <a:latin typeface="Times New Roman"/>
                <a:cs typeface="Times New Roman"/>
              </a:rPr>
              <a:t>React</a:t>
            </a:r>
            <a:r>
              <a:rPr sz="1200" spc="-10" dirty="0">
                <a:latin typeface="Times New Roman"/>
                <a:cs typeface="Times New Roman"/>
              </a:rPr>
              <a:t> </a:t>
            </a:r>
            <a:r>
              <a:rPr sz="1200" dirty="0">
                <a:latin typeface="Times New Roman"/>
                <a:cs typeface="Times New Roman"/>
              </a:rPr>
              <a:t>UI</a:t>
            </a:r>
            <a:r>
              <a:rPr sz="1200" spc="-30" dirty="0">
                <a:latin typeface="Times New Roman"/>
                <a:cs typeface="Times New Roman"/>
              </a:rPr>
              <a:t> </a:t>
            </a:r>
            <a:r>
              <a:rPr sz="1200" dirty="0">
                <a:latin typeface="Times New Roman"/>
                <a:cs typeface="Times New Roman"/>
              </a:rPr>
              <a:t>with</a:t>
            </a:r>
            <a:r>
              <a:rPr sz="1200" spc="-55" dirty="0">
                <a:latin typeface="Times New Roman"/>
                <a:cs typeface="Times New Roman"/>
              </a:rPr>
              <a:t> </a:t>
            </a:r>
            <a:r>
              <a:rPr sz="1200" dirty="0">
                <a:latin typeface="Times New Roman"/>
                <a:cs typeface="Times New Roman"/>
              </a:rPr>
              <a:t>reusable</a:t>
            </a:r>
            <a:r>
              <a:rPr sz="1200" spc="-35" dirty="0">
                <a:latin typeface="Times New Roman"/>
                <a:cs typeface="Times New Roman"/>
              </a:rPr>
              <a:t> </a:t>
            </a:r>
            <a:r>
              <a:rPr sz="1200" spc="-10" dirty="0">
                <a:latin typeface="Times New Roman"/>
                <a:cs typeface="Times New Roman"/>
              </a:rPr>
              <a:t>components.</a:t>
            </a:r>
            <a:endParaRPr sz="1200" dirty="0">
              <a:latin typeface="Times New Roman"/>
              <a:cs typeface="Times New Roman"/>
            </a:endParaRPr>
          </a:p>
          <a:p>
            <a:pPr marL="469900" indent="-228600">
              <a:lnSpc>
                <a:spcPct val="100000"/>
              </a:lnSpc>
              <a:spcBef>
                <a:spcPts val="625"/>
              </a:spcBef>
              <a:buSzPct val="83333"/>
              <a:buFont typeface="Symbol"/>
              <a:buChar char=""/>
              <a:tabLst>
                <a:tab pos="469900" algn="l"/>
              </a:tabLst>
            </a:pPr>
            <a:r>
              <a:rPr sz="1200" spc="-10" dirty="0">
                <a:latin typeface="Times New Roman"/>
                <a:cs typeface="Times New Roman"/>
              </a:rPr>
              <a:t>Firebase</a:t>
            </a:r>
            <a:r>
              <a:rPr sz="1200" spc="-40" dirty="0">
                <a:latin typeface="Times New Roman"/>
                <a:cs typeface="Times New Roman"/>
              </a:rPr>
              <a:t> </a:t>
            </a:r>
            <a:r>
              <a:rPr sz="1200" spc="-10" dirty="0">
                <a:latin typeface="Times New Roman"/>
                <a:cs typeface="Times New Roman"/>
              </a:rPr>
              <a:t>Authentication</a:t>
            </a:r>
            <a:r>
              <a:rPr sz="1200"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secure</a:t>
            </a:r>
            <a:r>
              <a:rPr sz="1200" spc="15" dirty="0">
                <a:latin typeface="Times New Roman"/>
                <a:cs typeface="Times New Roman"/>
              </a:rPr>
              <a:t> </a:t>
            </a:r>
            <a:r>
              <a:rPr sz="1200" spc="-10" dirty="0">
                <a:latin typeface="Times New Roman"/>
                <a:cs typeface="Times New Roman"/>
              </a:rPr>
              <a:t>sign-in/sign-</a:t>
            </a:r>
            <a:r>
              <a:rPr sz="1200" spc="-25" dirty="0">
                <a:latin typeface="Times New Roman"/>
                <a:cs typeface="Times New Roman"/>
              </a:rPr>
              <a:t>up.</a:t>
            </a:r>
            <a:endParaRPr sz="1200" dirty="0">
              <a:latin typeface="Times New Roman"/>
              <a:cs typeface="Times New Roman"/>
            </a:endParaRPr>
          </a:p>
          <a:p>
            <a:pPr marL="469900" indent="-228600">
              <a:lnSpc>
                <a:spcPct val="100000"/>
              </a:lnSpc>
              <a:spcBef>
                <a:spcPts val="620"/>
              </a:spcBef>
              <a:buSzPct val="83333"/>
              <a:buFont typeface="Symbol"/>
              <a:buChar char=""/>
              <a:tabLst>
                <a:tab pos="469900" algn="l"/>
              </a:tabLst>
            </a:pPr>
            <a:r>
              <a:rPr sz="1200" spc="-25" dirty="0">
                <a:latin typeface="Times New Roman"/>
                <a:cs typeface="Times New Roman"/>
              </a:rPr>
              <a:t>Vehicle</a:t>
            </a:r>
            <a:r>
              <a:rPr sz="1200" spc="-45" dirty="0">
                <a:latin typeface="Times New Roman"/>
                <a:cs typeface="Times New Roman"/>
              </a:rPr>
              <a:t> </a:t>
            </a:r>
            <a:r>
              <a:rPr sz="1200" dirty="0">
                <a:latin typeface="Times New Roman"/>
                <a:cs typeface="Times New Roman"/>
              </a:rPr>
              <a:t>with</a:t>
            </a:r>
            <a:r>
              <a:rPr sz="1200" spc="-55" dirty="0">
                <a:latin typeface="Times New Roman"/>
                <a:cs typeface="Times New Roman"/>
              </a:rPr>
              <a:t> </a:t>
            </a:r>
            <a:r>
              <a:rPr sz="1200" dirty="0">
                <a:latin typeface="Times New Roman"/>
                <a:cs typeface="Times New Roman"/>
              </a:rPr>
              <a:t>search,</a:t>
            </a:r>
            <a:r>
              <a:rPr sz="1200" spc="-10" dirty="0">
                <a:latin typeface="Times New Roman"/>
                <a:cs typeface="Times New Roman"/>
              </a:rPr>
              <a:t> </a:t>
            </a:r>
            <a:r>
              <a:rPr sz="1200" dirty="0">
                <a:latin typeface="Times New Roman"/>
                <a:cs typeface="Times New Roman"/>
              </a:rPr>
              <a:t>filters,</a:t>
            </a:r>
            <a:r>
              <a:rPr sz="1200" spc="-2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detailed</a:t>
            </a:r>
            <a:r>
              <a:rPr sz="1200" spc="-35" dirty="0">
                <a:latin typeface="Times New Roman"/>
                <a:cs typeface="Times New Roman"/>
              </a:rPr>
              <a:t> </a:t>
            </a:r>
            <a:r>
              <a:rPr sz="1200" spc="-10" dirty="0">
                <a:latin typeface="Times New Roman"/>
                <a:cs typeface="Times New Roman"/>
              </a:rPr>
              <a:t>pages.</a:t>
            </a:r>
            <a:endParaRPr sz="1200" dirty="0">
              <a:latin typeface="Times New Roman"/>
              <a:cs typeface="Times New Roman"/>
            </a:endParaRPr>
          </a:p>
          <a:p>
            <a:pPr marL="469900" indent="-228600">
              <a:lnSpc>
                <a:spcPct val="100000"/>
              </a:lnSpc>
              <a:spcBef>
                <a:spcPts val="630"/>
              </a:spcBef>
              <a:buSzPct val="83333"/>
              <a:buFont typeface="Symbol"/>
              <a:buChar char=""/>
              <a:tabLst>
                <a:tab pos="469900" algn="l"/>
              </a:tabLst>
            </a:pPr>
            <a:r>
              <a:rPr sz="1200" dirty="0">
                <a:latin typeface="Times New Roman"/>
                <a:cs typeface="Times New Roman"/>
              </a:rPr>
              <a:t>Booking</a:t>
            </a:r>
            <a:r>
              <a:rPr sz="1200" spc="5" dirty="0">
                <a:latin typeface="Times New Roman"/>
                <a:cs typeface="Times New Roman"/>
              </a:rPr>
              <a:t> </a:t>
            </a:r>
            <a:r>
              <a:rPr sz="1200" dirty="0">
                <a:latin typeface="Times New Roman"/>
                <a:cs typeface="Times New Roman"/>
              </a:rPr>
              <a:t>flow</a:t>
            </a:r>
            <a:r>
              <a:rPr sz="1200" spc="-2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spc="-10" dirty="0">
                <a:latin typeface="Times New Roman"/>
                <a:cs typeface="Times New Roman"/>
              </a:rPr>
              <a:t>availability</a:t>
            </a:r>
            <a:r>
              <a:rPr sz="1200" spc="-35" dirty="0">
                <a:latin typeface="Times New Roman"/>
                <a:cs typeface="Times New Roman"/>
              </a:rPr>
              <a:t> </a:t>
            </a:r>
            <a:r>
              <a:rPr sz="1200" dirty="0">
                <a:latin typeface="Times New Roman"/>
                <a:cs typeface="Times New Roman"/>
              </a:rPr>
              <a:t>checks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confirmations.</a:t>
            </a:r>
            <a:endParaRPr sz="1200" dirty="0">
              <a:latin typeface="Times New Roman"/>
              <a:cs typeface="Times New Roman"/>
            </a:endParaRPr>
          </a:p>
          <a:p>
            <a:pPr marL="469900" indent="-228600">
              <a:lnSpc>
                <a:spcPct val="100000"/>
              </a:lnSpc>
              <a:spcBef>
                <a:spcPts val="645"/>
              </a:spcBef>
              <a:buSzPct val="83333"/>
              <a:buFont typeface="Symbol"/>
              <a:buChar char=""/>
              <a:tabLst>
                <a:tab pos="469900" algn="l"/>
              </a:tabLst>
            </a:pP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dashboard:</a:t>
            </a:r>
            <a:r>
              <a:rPr sz="1200" spc="5" dirty="0">
                <a:latin typeface="Times New Roman"/>
                <a:cs typeface="Times New Roman"/>
              </a:rPr>
              <a:t> </a:t>
            </a:r>
            <a:r>
              <a:rPr sz="1200" spc="-10" dirty="0">
                <a:latin typeface="Times New Roman"/>
                <a:cs typeface="Times New Roman"/>
              </a:rPr>
              <a:t>add/edit/remove</a:t>
            </a:r>
            <a:r>
              <a:rPr sz="1200" spc="20" dirty="0">
                <a:latin typeface="Times New Roman"/>
                <a:cs typeface="Times New Roman"/>
              </a:rPr>
              <a:t> </a:t>
            </a:r>
            <a:r>
              <a:rPr sz="1200" spc="-10" dirty="0">
                <a:latin typeface="Times New Roman"/>
                <a:cs typeface="Times New Roman"/>
              </a:rPr>
              <a:t>vehicles,</a:t>
            </a:r>
            <a:r>
              <a:rPr sz="1200" spc="15" dirty="0">
                <a:latin typeface="Times New Roman"/>
                <a:cs typeface="Times New Roman"/>
              </a:rPr>
              <a:t> </a:t>
            </a:r>
            <a:r>
              <a:rPr sz="1200" spc="-10" dirty="0">
                <a:latin typeface="Times New Roman"/>
                <a:cs typeface="Times New Roman"/>
              </a:rPr>
              <a:t>view/manage</a:t>
            </a:r>
            <a:r>
              <a:rPr sz="1200" spc="20" dirty="0">
                <a:latin typeface="Times New Roman"/>
                <a:cs typeface="Times New Roman"/>
              </a:rPr>
              <a:t> </a:t>
            </a:r>
            <a:r>
              <a:rPr sz="1200" spc="-10" dirty="0">
                <a:latin typeface="Times New Roman"/>
                <a:cs typeface="Times New Roman"/>
              </a:rPr>
              <a:t>bookings.</a:t>
            </a:r>
            <a:endParaRPr sz="1200" dirty="0">
              <a:latin typeface="Times New Roman"/>
              <a:cs typeface="Times New Roman"/>
            </a:endParaRPr>
          </a:p>
          <a:p>
            <a:pPr marL="469900" indent="-228600">
              <a:lnSpc>
                <a:spcPct val="100000"/>
              </a:lnSpc>
              <a:spcBef>
                <a:spcPts val="625"/>
              </a:spcBef>
              <a:buSzPct val="83333"/>
              <a:buFont typeface="Symbol"/>
              <a:buChar char=""/>
              <a:tabLst>
                <a:tab pos="469900" algn="l"/>
              </a:tabLst>
            </a:pPr>
            <a:r>
              <a:rPr sz="1200" spc="-10" dirty="0">
                <a:latin typeface="Times New Roman"/>
                <a:cs typeface="Times New Roman"/>
              </a:rPr>
              <a:t>Node.js</a:t>
            </a:r>
            <a:r>
              <a:rPr sz="1200" spc="-65" dirty="0">
                <a:latin typeface="Times New Roman"/>
                <a:cs typeface="Times New Roman"/>
              </a:rPr>
              <a:t> </a:t>
            </a:r>
            <a:r>
              <a:rPr sz="1200" dirty="0">
                <a:latin typeface="Times New Roman"/>
                <a:cs typeface="Times New Roman"/>
              </a:rPr>
              <a:t>APIs</a:t>
            </a:r>
            <a:r>
              <a:rPr sz="1200" spc="5" dirty="0">
                <a:latin typeface="Times New Roman"/>
                <a:cs typeface="Times New Roman"/>
              </a:rPr>
              <a:t> </a:t>
            </a:r>
            <a:r>
              <a:rPr sz="1200" dirty="0">
                <a:latin typeface="Times New Roman"/>
                <a:cs typeface="Times New Roman"/>
              </a:rPr>
              <a:t>for </a:t>
            </a:r>
            <a:r>
              <a:rPr sz="1200" spc="-10" dirty="0">
                <a:latin typeface="Times New Roman"/>
                <a:cs typeface="Times New Roman"/>
              </a:rPr>
              <a:t>server-</a:t>
            </a:r>
            <a:r>
              <a:rPr sz="1200" dirty="0">
                <a:latin typeface="Times New Roman"/>
                <a:cs typeface="Times New Roman"/>
              </a:rPr>
              <a:t>side</a:t>
            </a:r>
            <a:r>
              <a:rPr sz="1200" spc="15" dirty="0">
                <a:latin typeface="Times New Roman"/>
                <a:cs typeface="Times New Roman"/>
              </a:rPr>
              <a:t> </a:t>
            </a:r>
            <a:r>
              <a:rPr sz="1200" spc="-1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business</a:t>
            </a:r>
            <a:r>
              <a:rPr sz="1200" spc="-20" dirty="0">
                <a:latin typeface="Times New Roman"/>
                <a:cs typeface="Times New Roman"/>
              </a:rPr>
              <a:t> </a:t>
            </a:r>
            <a:r>
              <a:rPr sz="1200" spc="-10" dirty="0">
                <a:latin typeface="Times New Roman"/>
                <a:cs typeface="Times New Roman"/>
              </a:rPr>
              <a:t>rules.</a:t>
            </a:r>
            <a:endParaRPr sz="1200" dirty="0">
              <a:latin typeface="Times New Roman"/>
              <a:cs typeface="Times New Roman"/>
            </a:endParaRPr>
          </a:p>
          <a:p>
            <a:pPr marL="469900" indent="-228600">
              <a:lnSpc>
                <a:spcPct val="100000"/>
              </a:lnSpc>
              <a:spcBef>
                <a:spcPts val="625"/>
              </a:spcBef>
              <a:buSzPct val="83333"/>
              <a:buFont typeface="Symbol"/>
              <a:buChar char=""/>
              <a:tabLst>
                <a:tab pos="469900" algn="l"/>
              </a:tabLst>
            </a:pPr>
            <a:r>
              <a:rPr sz="1200" spc="-10" dirty="0">
                <a:latin typeface="Times New Roman"/>
                <a:cs typeface="Times New Roman"/>
              </a:rPr>
              <a:t>Realtime</a:t>
            </a:r>
            <a:r>
              <a:rPr sz="1200" spc="-30" dirty="0">
                <a:latin typeface="Times New Roman"/>
                <a:cs typeface="Times New Roman"/>
              </a:rPr>
              <a:t> </a:t>
            </a:r>
            <a:r>
              <a:rPr sz="1200" dirty="0">
                <a:latin typeface="Times New Roman"/>
                <a:cs typeface="Times New Roman"/>
              </a:rPr>
              <a:t>DB</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persistent storage;</a:t>
            </a:r>
            <a:r>
              <a:rPr sz="1200" spc="-45" dirty="0">
                <a:latin typeface="Times New Roman"/>
                <a:cs typeface="Times New Roman"/>
              </a:rPr>
              <a:t> </a:t>
            </a:r>
            <a:r>
              <a:rPr sz="1200" dirty="0">
                <a:latin typeface="Times New Roman"/>
                <a:cs typeface="Times New Roman"/>
              </a:rPr>
              <a:t>optional</a:t>
            </a:r>
            <a:r>
              <a:rPr sz="1200" spc="-40" dirty="0">
                <a:latin typeface="Times New Roman"/>
                <a:cs typeface="Times New Roman"/>
              </a:rPr>
              <a:t> </a:t>
            </a:r>
            <a:r>
              <a:rPr sz="1200" dirty="0">
                <a:latin typeface="Times New Roman"/>
                <a:cs typeface="Times New Roman"/>
              </a:rPr>
              <a:t>hosting</a:t>
            </a:r>
            <a:r>
              <a:rPr sz="1200" spc="-45"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spc="-10" dirty="0">
                <a:latin typeface="Times New Roman"/>
                <a:cs typeface="Times New Roman"/>
              </a:rPr>
              <a:t>Firebase.</a:t>
            </a:r>
            <a:endParaRPr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a:t>
            </a:r>
          </a:p>
        </p:txBody>
      </p:sp>
      <p:sp>
        <p:nvSpPr>
          <p:cNvPr id="2" name="object 2"/>
          <p:cNvSpPr txBox="1"/>
          <p:nvPr/>
        </p:nvSpPr>
        <p:spPr>
          <a:xfrm>
            <a:off x="902004" y="889761"/>
            <a:ext cx="5972175" cy="8082982"/>
          </a:xfrm>
          <a:prstGeom prst="rect">
            <a:avLst/>
          </a:prstGeom>
        </p:spPr>
        <p:txBody>
          <a:bodyPr vert="horz" wrap="square" lIns="0" tIns="11430" rIns="0" bIns="0" rtlCol="0">
            <a:spAutoFit/>
          </a:bodyPr>
          <a:lstStyle/>
          <a:p>
            <a:pPr marR="60960" algn="ctr">
              <a:lnSpc>
                <a:spcPct val="100000"/>
              </a:lnSpc>
              <a:spcBef>
                <a:spcPts val="90"/>
              </a:spcBef>
            </a:pPr>
            <a:r>
              <a:rPr sz="1400" b="1" dirty="0">
                <a:latin typeface="Times New Roman"/>
                <a:cs typeface="Times New Roman"/>
              </a:rPr>
              <a:t>Chapter</a:t>
            </a:r>
            <a:r>
              <a:rPr sz="1400" b="1" spc="-85" dirty="0">
                <a:latin typeface="Times New Roman"/>
                <a:cs typeface="Times New Roman"/>
              </a:rPr>
              <a:t> </a:t>
            </a:r>
            <a:r>
              <a:rPr sz="1400" b="1" spc="-50" dirty="0">
                <a:latin typeface="Times New Roman"/>
                <a:cs typeface="Times New Roman"/>
              </a:rPr>
              <a:t>1</a:t>
            </a:r>
            <a:endParaRPr sz="1400" dirty="0">
              <a:latin typeface="Times New Roman"/>
              <a:cs typeface="Times New Roman"/>
            </a:endParaRPr>
          </a:p>
          <a:p>
            <a:pPr marR="60325" algn="ctr">
              <a:lnSpc>
                <a:spcPct val="100000"/>
              </a:lnSpc>
              <a:spcBef>
                <a:spcPts val="1535"/>
              </a:spcBef>
            </a:pPr>
            <a:r>
              <a:rPr sz="1400" b="1" spc="-10" dirty="0">
                <a:latin typeface="Times New Roman"/>
                <a:cs typeface="Times New Roman"/>
              </a:rPr>
              <a:t>Introduction</a:t>
            </a:r>
            <a:endParaRPr sz="1400" dirty="0">
              <a:latin typeface="Times New Roman"/>
              <a:cs typeface="Times New Roman"/>
            </a:endParaRPr>
          </a:p>
          <a:p>
            <a:pPr>
              <a:lnSpc>
                <a:spcPct val="100000"/>
              </a:lnSpc>
              <a:spcBef>
                <a:spcPts val="890"/>
              </a:spcBef>
            </a:pPr>
            <a:endParaRPr sz="1400" dirty="0">
              <a:latin typeface="Times New Roman"/>
              <a:cs typeface="Times New Roman"/>
            </a:endParaRPr>
          </a:p>
          <a:p>
            <a:r>
              <a:rPr lang="en-US" sz="1200" b="1" dirty="0"/>
              <a:t>NIDHI-SETU</a:t>
            </a:r>
            <a:r>
              <a:rPr lang="en-US" sz="1200" dirty="0"/>
              <a:t> is a web-based platform developed to ensure </a:t>
            </a:r>
            <a:r>
              <a:rPr lang="en-US" sz="1200" b="1" dirty="0"/>
              <a:t>secure, transparent, and efficient disbursement of government welfare funds</a:t>
            </a:r>
            <a:r>
              <a:rPr lang="en-US" sz="1200" dirty="0"/>
              <a:t> to eligible beneficiaries. In the modern era of digital governance, where technology plays a vital role in improving public service delivery, this project addresses a critical challenge — preventing fraudulent or duplicate transactions in welfare schemes while preserving the dignity and rights of genuine citizens.</a:t>
            </a:r>
          </a:p>
          <a:p>
            <a:r>
              <a:rPr lang="en-US" sz="1200" dirty="0"/>
              <a:t>The primary objective of this project is to design and implement an </a:t>
            </a:r>
            <a:r>
              <a:rPr lang="en-US" sz="1200" b="1" dirty="0"/>
              <a:t>automated, user-friendly, and intelligent verification system</a:t>
            </a:r>
            <a:r>
              <a:rPr lang="en-US" sz="1200" dirty="0"/>
              <a:t> that connects citizens with government departments through a secure digital bridge. </a:t>
            </a:r>
            <a:r>
              <a:rPr lang="en-US" sz="1200" b="1" dirty="0"/>
              <a:t>NIDHI-SETU</a:t>
            </a:r>
            <a:r>
              <a:rPr lang="en-US" sz="1200" dirty="0"/>
              <a:t> simplifies and digitizes the verification and fund transfer process using </a:t>
            </a:r>
            <a:r>
              <a:rPr lang="en-US" sz="1200" b="1" dirty="0"/>
              <a:t>AI-powered authentication</a:t>
            </a:r>
            <a:r>
              <a:rPr lang="en-US" sz="1200" dirty="0"/>
              <a:t>, including </a:t>
            </a:r>
            <a:r>
              <a:rPr lang="en-US" sz="1200" b="1" dirty="0"/>
              <a:t>3D face verification, voice recognition, and real-time database matching</a:t>
            </a:r>
            <a:r>
              <a:rPr lang="en-US" sz="1200" dirty="0"/>
              <a:t>.</a:t>
            </a:r>
          </a:p>
          <a:p>
            <a:r>
              <a:rPr lang="en-US" sz="1200" dirty="0"/>
              <a:t>Traditionally, the process of verifying beneficiaries for pension or welfare schemes involved manual verification, physical document submission, and delayed data updates. This often led to errors such as </a:t>
            </a:r>
            <a:r>
              <a:rPr lang="en-US" sz="1200" b="1" dirty="0"/>
              <a:t>payments to deceased or ineligible individuals</a:t>
            </a:r>
            <a:r>
              <a:rPr lang="en-US" sz="1200" dirty="0"/>
              <a:t> and </a:t>
            </a:r>
            <a:r>
              <a:rPr lang="en-US" sz="1200" b="1" dirty="0"/>
              <a:t>identity mismatches</a:t>
            </a:r>
            <a:r>
              <a:rPr lang="en-US" sz="1200" dirty="0"/>
              <a:t>. The introduction of </a:t>
            </a:r>
            <a:r>
              <a:rPr lang="en-US" sz="1200" b="1" dirty="0"/>
              <a:t>NIDHI-SETU</a:t>
            </a:r>
            <a:r>
              <a:rPr lang="en-US" sz="1200" dirty="0"/>
              <a:t> overcomes these limitations by providing a </a:t>
            </a:r>
            <a:r>
              <a:rPr lang="en-US" sz="1200" b="1" dirty="0"/>
              <a:t>centralized, automated, and transparent online platform</a:t>
            </a:r>
            <a:r>
              <a:rPr lang="en-US" sz="1200" dirty="0"/>
              <a:t> that integrates with </a:t>
            </a:r>
            <a:r>
              <a:rPr lang="en-US" sz="1200" b="1" dirty="0"/>
              <a:t>Aadhaar, death registries, and life certificate databases</a:t>
            </a:r>
            <a:r>
              <a:rPr lang="en-US" sz="1200" dirty="0"/>
              <a:t> to ensure only eligible, living beneficiaries receive government aid.</a:t>
            </a:r>
          </a:p>
          <a:p>
            <a:r>
              <a:rPr lang="en-US" sz="1200" dirty="0"/>
              <a:t>This project is built using a </a:t>
            </a:r>
            <a:r>
              <a:rPr lang="en-US" sz="1200" b="1" dirty="0"/>
              <a:t>Full Stack Web Development</a:t>
            </a:r>
            <a:r>
              <a:rPr lang="en-US" sz="1200" dirty="0"/>
              <a:t> approach, employing modern technologies such as </a:t>
            </a:r>
            <a:r>
              <a:rPr lang="en-US" sz="1200" b="1" dirty="0"/>
              <a:t>React.js</a:t>
            </a:r>
            <a:r>
              <a:rPr lang="en-US" sz="1200" dirty="0"/>
              <a:t> and </a:t>
            </a:r>
            <a:r>
              <a:rPr lang="en-US" sz="1200" b="1" dirty="0"/>
              <a:t>Tailwind CSS</a:t>
            </a:r>
            <a:r>
              <a:rPr lang="en-US" sz="1200" dirty="0"/>
              <a:t> for the front-end, </a:t>
            </a:r>
            <a:r>
              <a:rPr lang="en-US" sz="1200" b="1" dirty="0"/>
              <a:t>Node.js</a:t>
            </a:r>
            <a:r>
              <a:rPr lang="en-US" sz="1200" dirty="0"/>
              <a:t> and </a:t>
            </a:r>
            <a:r>
              <a:rPr lang="en-US" sz="1200" b="1" dirty="0"/>
              <a:t>Express.js</a:t>
            </a:r>
            <a:r>
              <a:rPr lang="en-US" sz="1200" dirty="0"/>
              <a:t> for backend services, and </a:t>
            </a:r>
            <a:r>
              <a:rPr lang="en-US" sz="1200" b="1" dirty="0"/>
              <a:t>Firebase</a:t>
            </a:r>
            <a:r>
              <a:rPr lang="en-US" sz="1200" dirty="0"/>
              <a:t> for authentication, real-time database, and hosting. The system also integrates </a:t>
            </a:r>
            <a:r>
              <a:rPr lang="en-US" sz="1200" b="1" dirty="0" err="1"/>
              <a:t>Supabase</a:t>
            </a:r>
            <a:r>
              <a:rPr lang="en-US" sz="1200" b="1" dirty="0"/>
              <a:t> for 3D face verification</a:t>
            </a:r>
            <a:r>
              <a:rPr lang="en-US" sz="1200" dirty="0"/>
              <a:t> and </a:t>
            </a:r>
            <a:r>
              <a:rPr lang="en-US" sz="1200" b="1" dirty="0"/>
              <a:t>Twilio AI for voice-based liveness detection</a:t>
            </a:r>
            <a:r>
              <a:rPr lang="en-US" sz="1200" dirty="0"/>
              <a:t>.</a:t>
            </a:r>
          </a:p>
          <a:p>
            <a:pPr>
              <a:lnSpc>
                <a:spcPct val="100000"/>
              </a:lnSpc>
            </a:pPr>
            <a:endParaRPr sz="1200" dirty="0">
              <a:latin typeface="Times New Roman"/>
              <a:cs typeface="Times New Roman"/>
            </a:endParaRPr>
          </a:p>
          <a:p>
            <a:pPr>
              <a:lnSpc>
                <a:spcPct val="100000"/>
              </a:lnSpc>
              <a:spcBef>
                <a:spcPts val="300"/>
              </a:spcBef>
            </a:pPr>
            <a:endParaRPr sz="1200" dirty="0">
              <a:latin typeface="Times New Roman"/>
              <a:cs typeface="Times New Roman"/>
            </a:endParaRPr>
          </a:p>
          <a:p>
            <a:pPr marL="12700" algn="just">
              <a:lnSpc>
                <a:spcPct val="100000"/>
              </a:lnSpc>
              <a:spcBef>
                <a:spcPts val="5"/>
              </a:spcBef>
            </a:pPr>
            <a:r>
              <a:rPr sz="1400" b="1" dirty="0">
                <a:latin typeface="Times New Roman"/>
                <a:cs typeface="Times New Roman"/>
              </a:rPr>
              <a:t>1.1</a:t>
            </a:r>
            <a:r>
              <a:rPr sz="1400" b="1" spc="-35" dirty="0">
                <a:latin typeface="Times New Roman"/>
                <a:cs typeface="Times New Roman"/>
              </a:rPr>
              <a:t> </a:t>
            </a:r>
            <a:r>
              <a:rPr sz="1400" b="1" dirty="0">
                <a:latin typeface="Times New Roman"/>
                <a:cs typeface="Times New Roman"/>
              </a:rPr>
              <a:t>Purpose</a:t>
            </a:r>
            <a:r>
              <a:rPr sz="1400" b="1" spc="-30" dirty="0">
                <a:latin typeface="Times New Roman"/>
                <a:cs typeface="Times New Roman"/>
              </a:rPr>
              <a:t> </a:t>
            </a:r>
            <a:r>
              <a:rPr sz="1400" b="1" dirty="0">
                <a:latin typeface="Times New Roman"/>
                <a:cs typeface="Times New Roman"/>
              </a:rPr>
              <a:t>of</a:t>
            </a:r>
            <a:r>
              <a:rPr sz="1400" b="1" spc="-25" dirty="0">
                <a:latin typeface="Times New Roman"/>
                <a:cs typeface="Times New Roman"/>
              </a:rPr>
              <a:t> </a:t>
            </a:r>
            <a:r>
              <a:rPr sz="1400" b="1" dirty="0">
                <a:latin typeface="Times New Roman"/>
                <a:cs typeface="Times New Roman"/>
              </a:rPr>
              <a:t>the</a:t>
            </a:r>
            <a:r>
              <a:rPr sz="1400" b="1" spc="-30" dirty="0">
                <a:latin typeface="Times New Roman"/>
                <a:cs typeface="Times New Roman"/>
              </a:rPr>
              <a:t> </a:t>
            </a:r>
            <a:r>
              <a:rPr sz="1400" b="1" spc="-10" dirty="0">
                <a:latin typeface="Times New Roman"/>
                <a:cs typeface="Times New Roman"/>
              </a:rPr>
              <a:t>System</a:t>
            </a:r>
            <a:endParaRPr lang="en-US" sz="1400" b="1" spc="-10" dirty="0">
              <a:latin typeface="Times New Roman"/>
              <a:cs typeface="Times New Roman"/>
            </a:endParaRPr>
          </a:p>
          <a:p>
            <a:pPr marL="12700" algn="just">
              <a:lnSpc>
                <a:spcPct val="100000"/>
              </a:lnSpc>
              <a:spcBef>
                <a:spcPts val="5"/>
              </a:spcBef>
            </a:pPr>
            <a:endParaRPr sz="1400" dirty="0">
              <a:latin typeface="Times New Roman"/>
              <a:cs typeface="Times New Roman"/>
            </a:endParaRPr>
          </a:p>
          <a:p>
            <a:r>
              <a:rPr lang="en-US" sz="1200" dirty="0"/>
              <a:t>The main purpose of developing the </a:t>
            </a:r>
            <a:r>
              <a:rPr lang="en-US" sz="1200" b="1" dirty="0"/>
              <a:t>NIDHI-SETU System</a:t>
            </a:r>
            <a:r>
              <a:rPr lang="en-US" sz="1200" dirty="0"/>
              <a:t> is to create a </a:t>
            </a:r>
            <a:r>
              <a:rPr lang="en-US" sz="1200" b="1" dirty="0"/>
              <a:t>secure and intelligent digital platform</a:t>
            </a:r>
            <a:r>
              <a:rPr lang="en-US" sz="1200" dirty="0"/>
              <a:t> that bridges the gap between </a:t>
            </a:r>
            <a:r>
              <a:rPr lang="en-US" sz="1200" b="1" dirty="0"/>
              <a:t>citizens and government welfare departments</a:t>
            </a:r>
            <a:r>
              <a:rPr lang="en-US" sz="1200" dirty="0"/>
              <a:t>. The system aims to make the process of </a:t>
            </a:r>
            <a:r>
              <a:rPr lang="en-US" sz="1200" b="1" dirty="0"/>
              <a:t>fund disbursement, beneficiary verification, and record management</a:t>
            </a:r>
            <a:r>
              <a:rPr lang="en-US" sz="1200" dirty="0"/>
              <a:t> more </a:t>
            </a:r>
            <a:r>
              <a:rPr lang="en-US" sz="1200" b="1" dirty="0"/>
              <a:t>transparent, efficient, and tamper-proof</a:t>
            </a:r>
            <a:r>
              <a:rPr lang="en-US" sz="1200" dirty="0"/>
              <a:t> through the use of </a:t>
            </a:r>
            <a:r>
              <a:rPr lang="en-US" sz="1200" b="1" dirty="0"/>
              <a:t>modern web technologies and AI-driven automation</a:t>
            </a:r>
            <a:r>
              <a:rPr lang="en-US" sz="1200" dirty="0"/>
              <a:t>.</a:t>
            </a:r>
          </a:p>
          <a:p>
            <a:r>
              <a:rPr lang="en-US" sz="1200" dirty="0"/>
              <a:t>For government administrators, the platform provides a </a:t>
            </a:r>
            <a:r>
              <a:rPr lang="en-US" sz="1200" b="1" dirty="0"/>
              <a:t>centralized management system</a:t>
            </a:r>
            <a:r>
              <a:rPr lang="en-US" sz="1200" dirty="0"/>
              <a:t> that simplifies beneficiary verification, prevents fraudulent or duplicate payments, and ensures that social welfare funds reach only </a:t>
            </a:r>
            <a:r>
              <a:rPr lang="en-US" sz="1200" b="1" dirty="0"/>
              <a:t>eligible and living recipients</a:t>
            </a:r>
            <a:r>
              <a:rPr lang="en-US" sz="1200" dirty="0"/>
              <a:t>. This reduces administrative workload, minimizes human errors, and enhances operational efficiency across departments.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3</a:t>
            </a:r>
          </a:p>
        </p:txBody>
      </p:sp>
      <p:sp>
        <p:nvSpPr>
          <p:cNvPr id="2" name="object 2"/>
          <p:cNvSpPr txBox="1"/>
          <p:nvPr/>
        </p:nvSpPr>
        <p:spPr>
          <a:xfrm>
            <a:off x="902004" y="782276"/>
            <a:ext cx="5902960" cy="7232236"/>
          </a:xfrm>
          <a:prstGeom prst="rect">
            <a:avLst/>
          </a:prstGeom>
        </p:spPr>
        <p:txBody>
          <a:bodyPr vert="horz" wrap="square" lIns="0" tIns="118745" rIns="0" bIns="0" rtlCol="0">
            <a:spAutoFit/>
          </a:bodyPr>
          <a:lstStyle/>
          <a:p>
            <a:pPr marL="280670" lvl="1" indent="-267970">
              <a:lnSpc>
                <a:spcPct val="100000"/>
              </a:lnSpc>
              <a:spcBef>
                <a:spcPts val="935"/>
              </a:spcBef>
              <a:buAutoNum type="arabicPeriod" startAt="2"/>
              <a:tabLst>
                <a:tab pos="280670" algn="l"/>
              </a:tabLst>
            </a:pPr>
            <a:r>
              <a:rPr sz="1400" b="1" dirty="0">
                <a:latin typeface="Times New Roman"/>
                <a:cs typeface="Times New Roman"/>
              </a:rPr>
              <a:t>Objectives</a:t>
            </a:r>
            <a:r>
              <a:rPr sz="1400" b="1" spc="-30" dirty="0">
                <a:latin typeface="Times New Roman"/>
                <a:cs typeface="Times New Roman"/>
              </a:rPr>
              <a:t> </a:t>
            </a:r>
            <a:r>
              <a:rPr sz="1400" b="1" dirty="0">
                <a:latin typeface="Times New Roman"/>
                <a:cs typeface="Times New Roman"/>
              </a:rPr>
              <a:t>of</a:t>
            </a:r>
            <a:r>
              <a:rPr sz="1400" b="1" spc="-55" dirty="0">
                <a:latin typeface="Times New Roman"/>
                <a:cs typeface="Times New Roman"/>
              </a:rPr>
              <a:t> </a:t>
            </a:r>
            <a:r>
              <a:rPr sz="1400" b="1" dirty="0">
                <a:latin typeface="Times New Roman"/>
                <a:cs typeface="Times New Roman"/>
              </a:rPr>
              <a:t>the</a:t>
            </a:r>
            <a:r>
              <a:rPr sz="1400" b="1" spc="-55" dirty="0">
                <a:latin typeface="Times New Roman"/>
                <a:cs typeface="Times New Roman"/>
              </a:rPr>
              <a:t> </a:t>
            </a:r>
            <a:r>
              <a:rPr sz="1400" b="1" spc="-10" dirty="0">
                <a:latin typeface="Times New Roman"/>
                <a:cs typeface="Times New Roman"/>
              </a:rPr>
              <a:t>Project</a:t>
            </a:r>
            <a:endParaRPr sz="1400" dirty="0">
              <a:latin typeface="Times New Roman"/>
              <a:cs typeface="Times New Roman"/>
            </a:endParaRPr>
          </a:p>
          <a:p>
            <a:pPr marL="12700">
              <a:lnSpc>
                <a:spcPct val="100000"/>
              </a:lnSpc>
              <a:spcBef>
                <a:spcPts val="730"/>
              </a:spcBef>
            </a:pPr>
            <a:r>
              <a:rPr lang="en-US" sz="1200" dirty="0"/>
              <a:t>The primary objectives of the </a:t>
            </a:r>
            <a:r>
              <a:rPr lang="en-US" sz="1200" b="1" dirty="0"/>
              <a:t>NIDHI-SETU System</a:t>
            </a:r>
            <a:r>
              <a:rPr lang="en-US" sz="1200" dirty="0"/>
              <a:t> are:</a:t>
            </a:r>
          </a:p>
          <a:p>
            <a:pPr marL="12700">
              <a:lnSpc>
                <a:spcPct val="100000"/>
              </a:lnSpc>
              <a:spcBef>
                <a:spcPts val="730"/>
              </a:spcBef>
            </a:pPr>
            <a:r>
              <a:rPr lang="en-US" sz="1200" dirty="0"/>
              <a:t>To </a:t>
            </a:r>
            <a:r>
              <a:rPr lang="en-US" sz="1200" b="1" dirty="0"/>
              <a:t>design and develop a secure, web-based beneficiary verification and fund disbursement platform</a:t>
            </a:r>
            <a:r>
              <a:rPr lang="en-US" sz="1200" dirty="0"/>
              <a:t> using modern full stack web technologies.</a:t>
            </a:r>
          </a:p>
          <a:p>
            <a:pPr marL="469900" marR="10795" lvl="2" indent="-229235">
              <a:lnSpc>
                <a:spcPct val="143500"/>
              </a:lnSpc>
              <a:spcBef>
                <a:spcPts val="25"/>
              </a:spcBef>
              <a:buAutoNum type="arabicPeriod"/>
              <a:tabLst>
                <a:tab pos="469900" algn="l"/>
              </a:tabLst>
            </a:pPr>
            <a:r>
              <a:rPr lang="en-US" sz="1200" dirty="0"/>
              <a:t>To </a:t>
            </a:r>
            <a:r>
              <a:rPr lang="en-US" sz="1200" b="1" dirty="0"/>
              <a:t>automate the verification process</a:t>
            </a:r>
            <a:r>
              <a:rPr lang="en-US" sz="1200" dirty="0"/>
              <a:t> by integrating real-time data from Aadhaar, death registries, and life certificate databases.</a:t>
            </a:r>
          </a:p>
          <a:p>
            <a:pPr marL="469900" marR="10795" lvl="2" indent="-229235">
              <a:lnSpc>
                <a:spcPct val="143500"/>
              </a:lnSpc>
              <a:spcBef>
                <a:spcPts val="25"/>
              </a:spcBef>
              <a:buAutoNum type="arabicPeriod"/>
              <a:tabLst>
                <a:tab pos="469900" algn="l"/>
              </a:tabLst>
            </a:pPr>
            <a:r>
              <a:rPr lang="en-US" sz="1200" dirty="0"/>
              <a:t>To </a:t>
            </a:r>
            <a:r>
              <a:rPr lang="en-US" sz="1200" b="1" dirty="0"/>
              <a:t>prevent fraudulent or duplicate fund transfers</a:t>
            </a:r>
            <a:r>
              <a:rPr lang="en-US" sz="1200" dirty="0"/>
              <a:t> by ensuring only eligible and living beneficiaries receive welfare payments</a:t>
            </a:r>
          </a:p>
          <a:p>
            <a:pPr marL="469900" marR="10795" lvl="2" indent="-229235">
              <a:lnSpc>
                <a:spcPct val="143500"/>
              </a:lnSpc>
              <a:spcBef>
                <a:spcPts val="25"/>
              </a:spcBef>
              <a:buAutoNum type="arabicPeriod"/>
              <a:tabLst>
                <a:tab pos="469900" algn="l"/>
              </a:tabLst>
            </a:pPr>
            <a:r>
              <a:rPr lang="en-US" sz="1200" dirty="0"/>
              <a:t>To implement </a:t>
            </a:r>
            <a:r>
              <a:rPr lang="en-US" sz="1200" b="1" dirty="0"/>
              <a:t>AI-based 3D face and voice authentication</a:t>
            </a:r>
            <a:r>
              <a:rPr lang="en-US" sz="1200" dirty="0"/>
              <a:t> modules for liveness verification using </a:t>
            </a:r>
            <a:r>
              <a:rPr lang="en-US" sz="1200" b="1" dirty="0" err="1"/>
              <a:t>Supabase</a:t>
            </a:r>
            <a:r>
              <a:rPr lang="en-US" sz="1200" dirty="0"/>
              <a:t> and </a:t>
            </a:r>
            <a:r>
              <a:rPr lang="en-US" sz="1200" b="1" dirty="0"/>
              <a:t>Twilio AI</a:t>
            </a:r>
            <a:r>
              <a:rPr lang="en-US" sz="1200" dirty="0"/>
              <a:t>.</a:t>
            </a:r>
            <a:endParaRPr sz="1200" dirty="0">
              <a:latin typeface="Times New Roman"/>
              <a:cs typeface="Times New Roman"/>
            </a:endParaRPr>
          </a:p>
          <a:p>
            <a:pPr lvl="2">
              <a:lnSpc>
                <a:spcPct val="100000"/>
              </a:lnSpc>
              <a:spcBef>
                <a:spcPts val="555"/>
              </a:spcBef>
              <a:buFont typeface="Times New Roman"/>
              <a:buAutoNum type="arabicPeriod"/>
            </a:pPr>
            <a:endParaRPr sz="1200" dirty="0">
              <a:latin typeface="Times New Roman"/>
              <a:cs typeface="Times New Roman"/>
            </a:endParaRPr>
          </a:p>
          <a:p>
            <a:pPr marL="280670" lvl="1" indent="-267970">
              <a:lnSpc>
                <a:spcPct val="100000"/>
              </a:lnSpc>
              <a:buAutoNum type="arabicPeriod" startAt="3"/>
              <a:tabLst>
                <a:tab pos="280670" algn="l"/>
              </a:tabLst>
            </a:pPr>
            <a:r>
              <a:rPr sz="1400" b="1" dirty="0">
                <a:latin typeface="Times New Roman"/>
                <a:cs typeface="Times New Roman"/>
              </a:rPr>
              <a:t>Full</a:t>
            </a:r>
            <a:r>
              <a:rPr sz="1400" b="1" spc="-40" dirty="0">
                <a:latin typeface="Times New Roman"/>
                <a:cs typeface="Times New Roman"/>
              </a:rPr>
              <a:t> </a:t>
            </a:r>
            <a:r>
              <a:rPr sz="1400" b="1" dirty="0">
                <a:latin typeface="Times New Roman"/>
                <a:cs typeface="Times New Roman"/>
              </a:rPr>
              <a:t>Name</a:t>
            </a:r>
            <a:r>
              <a:rPr sz="1400" b="1" spc="-5" dirty="0">
                <a:latin typeface="Times New Roman"/>
                <a:cs typeface="Times New Roman"/>
              </a:rPr>
              <a:t> </a:t>
            </a:r>
            <a:r>
              <a:rPr sz="1400" b="1" dirty="0">
                <a:latin typeface="Times New Roman"/>
                <a:cs typeface="Times New Roman"/>
              </a:rPr>
              <a:t>of</a:t>
            </a:r>
            <a:r>
              <a:rPr sz="1400" b="1" spc="-15" dirty="0">
                <a:latin typeface="Times New Roman"/>
                <a:cs typeface="Times New Roman"/>
              </a:rPr>
              <a:t> </a:t>
            </a:r>
            <a:r>
              <a:rPr sz="1400" b="1" dirty="0">
                <a:latin typeface="Times New Roman"/>
                <a:cs typeface="Times New Roman"/>
              </a:rPr>
              <a:t>the</a:t>
            </a:r>
            <a:r>
              <a:rPr sz="1400" b="1" spc="-40" dirty="0">
                <a:latin typeface="Times New Roman"/>
                <a:cs typeface="Times New Roman"/>
              </a:rPr>
              <a:t> </a:t>
            </a:r>
            <a:r>
              <a:rPr sz="1400" b="1" spc="-20" dirty="0">
                <a:latin typeface="Times New Roman"/>
                <a:cs typeface="Times New Roman"/>
              </a:rPr>
              <a:t>Technical</a:t>
            </a:r>
            <a:r>
              <a:rPr sz="1400" b="1" spc="-45" dirty="0">
                <a:latin typeface="Times New Roman"/>
                <a:cs typeface="Times New Roman"/>
              </a:rPr>
              <a:t> </a:t>
            </a:r>
            <a:r>
              <a:rPr sz="1400" b="1" spc="-10" dirty="0">
                <a:latin typeface="Times New Roman"/>
                <a:cs typeface="Times New Roman"/>
              </a:rPr>
              <a:t>Training/Course</a:t>
            </a:r>
            <a:endParaRPr sz="1400" dirty="0">
              <a:latin typeface="Times New Roman"/>
              <a:cs typeface="Times New Roman"/>
            </a:endParaRPr>
          </a:p>
          <a:p>
            <a:pPr marL="12700">
              <a:lnSpc>
                <a:spcPct val="100000"/>
              </a:lnSpc>
              <a:spcBef>
                <a:spcPts val="1545"/>
              </a:spcBef>
            </a:pPr>
            <a:r>
              <a:rPr sz="1200" dirty="0">
                <a:latin typeface="Times New Roman"/>
                <a:cs typeface="Times New Roman"/>
              </a:rPr>
              <a:t>Full</a:t>
            </a:r>
            <a:r>
              <a:rPr sz="1200" spc="-55" dirty="0">
                <a:latin typeface="Times New Roman"/>
                <a:cs typeface="Times New Roman"/>
              </a:rPr>
              <a:t> </a:t>
            </a:r>
            <a:r>
              <a:rPr sz="1200" dirty="0">
                <a:latin typeface="Times New Roman"/>
                <a:cs typeface="Times New Roman"/>
              </a:rPr>
              <a:t>Stack</a:t>
            </a:r>
            <a:r>
              <a:rPr sz="1200" spc="-10" dirty="0">
                <a:latin typeface="Times New Roman"/>
                <a:cs typeface="Times New Roman"/>
              </a:rPr>
              <a:t> Developer</a:t>
            </a:r>
            <a:r>
              <a:rPr sz="1200" spc="-5" dirty="0">
                <a:latin typeface="Times New Roman"/>
                <a:cs typeface="Times New Roman"/>
              </a:rPr>
              <a:t> </a:t>
            </a:r>
            <a:r>
              <a:rPr sz="1200" dirty="0">
                <a:latin typeface="Times New Roman"/>
                <a:cs typeface="Times New Roman"/>
              </a:rPr>
              <a:t>Internship</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lang="en-IN" sz="1200" dirty="0"/>
              <a:t>NIDHI-SETU </a:t>
            </a:r>
            <a:r>
              <a:rPr lang="en-IN" sz="1200" spc="-10" dirty="0">
                <a:latin typeface="Times New Roman"/>
                <a:cs typeface="Times New Roman"/>
              </a:rPr>
              <a:t>S</a:t>
            </a:r>
            <a:r>
              <a:rPr sz="1200" spc="-10" dirty="0" err="1">
                <a:latin typeface="Times New Roman"/>
                <a:cs typeface="Times New Roman"/>
              </a:rPr>
              <a:t>ystem</a:t>
            </a:r>
            <a:endParaRPr sz="1200" dirty="0">
              <a:latin typeface="Times New Roman"/>
              <a:cs typeface="Times New Roman"/>
            </a:endParaRPr>
          </a:p>
          <a:p>
            <a:pPr>
              <a:lnSpc>
                <a:spcPct val="100000"/>
              </a:lnSpc>
              <a:spcBef>
                <a:spcPts val="55"/>
              </a:spcBef>
            </a:pPr>
            <a:endParaRPr sz="1200" dirty="0">
              <a:latin typeface="Times New Roman"/>
              <a:cs typeface="Times New Roman"/>
            </a:endParaRPr>
          </a:p>
          <a:p>
            <a:pPr marL="277495" lvl="1" indent="-264795">
              <a:lnSpc>
                <a:spcPct val="100000"/>
              </a:lnSpc>
              <a:buAutoNum type="arabicPeriod" startAt="4"/>
              <a:tabLst>
                <a:tab pos="277495" algn="l"/>
              </a:tabLst>
            </a:pPr>
            <a:r>
              <a:rPr sz="1400" b="1" spc="-25" dirty="0">
                <a:latin typeface="Times New Roman"/>
                <a:cs typeface="Times New Roman"/>
              </a:rPr>
              <a:t>Training</a:t>
            </a:r>
            <a:r>
              <a:rPr sz="1400" b="1" spc="-10" dirty="0">
                <a:latin typeface="Times New Roman"/>
                <a:cs typeface="Times New Roman"/>
              </a:rPr>
              <a:t> Platform</a:t>
            </a:r>
            <a:endParaRPr sz="1400" dirty="0">
              <a:latin typeface="Times New Roman"/>
              <a:cs typeface="Times New Roman"/>
            </a:endParaRPr>
          </a:p>
          <a:p>
            <a:pPr marL="12700">
              <a:lnSpc>
                <a:spcPct val="100000"/>
              </a:lnSpc>
              <a:spcBef>
                <a:spcPts val="1545"/>
              </a:spcBef>
            </a:pPr>
            <a:r>
              <a:rPr sz="1200" spc="-10" dirty="0">
                <a:latin typeface="Times New Roman"/>
                <a:cs typeface="Times New Roman"/>
              </a:rPr>
              <a:t>In-</a:t>
            </a:r>
            <a:r>
              <a:rPr sz="1200" dirty="0">
                <a:latin typeface="Times New Roman"/>
                <a:cs typeface="Times New Roman"/>
              </a:rPr>
              <a:t>Person</a:t>
            </a:r>
            <a:r>
              <a:rPr sz="1200" spc="-30" dirty="0">
                <a:latin typeface="Times New Roman"/>
                <a:cs typeface="Times New Roman"/>
              </a:rPr>
              <a:t> </a:t>
            </a:r>
            <a:r>
              <a:rPr sz="1200" dirty="0">
                <a:latin typeface="Times New Roman"/>
                <a:cs typeface="Times New Roman"/>
              </a:rPr>
              <a:t>Corporate</a:t>
            </a:r>
            <a:r>
              <a:rPr sz="1200" spc="-35" dirty="0">
                <a:latin typeface="Times New Roman"/>
                <a:cs typeface="Times New Roman"/>
              </a:rPr>
              <a:t> </a:t>
            </a:r>
            <a:r>
              <a:rPr sz="1200" spc="-10" dirty="0">
                <a:latin typeface="Times New Roman"/>
                <a:cs typeface="Times New Roman"/>
              </a:rPr>
              <a:t>Internship</a:t>
            </a:r>
            <a:r>
              <a:rPr sz="1200" spc="-5" dirty="0">
                <a:latin typeface="Times New Roman"/>
                <a:cs typeface="Times New Roman"/>
              </a:rPr>
              <a:t> </a:t>
            </a:r>
            <a:r>
              <a:rPr sz="1200" dirty="0">
                <a:latin typeface="Times New Roman"/>
                <a:cs typeface="Times New Roman"/>
              </a:rPr>
              <a:t>at</a:t>
            </a:r>
            <a:r>
              <a:rPr sz="1200" spc="45" dirty="0">
                <a:latin typeface="Times New Roman"/>
                <a:cs typeface="Times New Roman"/>
              </a:rPr>
              <a:t> </a:t>
            </a:r>
            <a:r>
              <a:rPr sz="1200" dirty="0">
                <a:latin typeface="Times New Roman"/>
                <a:cs typeface="Times New Roman"/>
              </a:rPr>
              <a:t>Seldom</a:t>
            </a:r>
            <a:r>
              <a:rPr sz="1200" spc="-50" dirty="0">
                <a:latin typeface="Times New Roman"/>
                <a:cs typeface="Times New Roman"/>
              </a:rPr>
              <a:t> </a:t>
            </a:r>
            <a:r>
              <a:rPr sz="1200" dirty="0">
                <a:latin typeface="Times New Roman"/>
                <a:cs typeface="Times New Roman"/>
              </a:rPr>
              <a:t>India</a:t>
            </a:r>
            <a:r>
              <a:rPr sz="1200" spc="-30" dirty="0">
                <a:latin typeface="Times New Roman"/>
                <a:cs typeface="Times New Roman"/>
              </a:rPr>
              <a:t> </a:t>
            </a:r>
            <a:r>
              <a:rPr sz="1200" spc="-10" dirty="0">
                <a:latin typeface="Times New Roman"/>
                <a:cs typeface="Times New Roman"/>
              </a:rPr>
              <a:t>Technologies</a:t>
            </a:r>
            <a:r>
              <a:rPr sz="1200" dirty="0">
                <a:latin typeface="Times New Roman"/>
                <a:cs typeface="Times New Roman"/>
              </a:rPr>
              <a:t> , </a:t>
            </a:r>
            <a:r>
              <a:rPr sz="1200" spc="-10" dirty="0">
                <a:latin typeface="Times New Roman"/>
                <a:cs typeface="Times New Roman"/>
              </a:rPr>
              <a:t>Jaipur</a:t>
            </a:r>
            <a:endParaRPr sz="1200" dirty="0">
              <a:latin typeface="Times New Roman"/>
              <a:cs typeface="Times New Roman"/>
            </a:endParaRPr>
          </a:p>
          <a:p>
            <a:pPr>
              <a:lnSpc>
                <a:spcPct val="100000"/>
              </a:lnSpc>
              <a:spcBef>
                <a:spcPts val="25"/>
              </a:spcBef>
            </a:pPr>
            <a:endParaRPr sz="1200" dirty="0">
              <a:latin typeface="Times New Roman"/>
              <a:cs typeface="Times New Roman"/>
            </a:endParaRPr>
          </a:p>
          <a:p>
            <a:pPr marL="277495" lvl="1" indent="-264795">
              <a:lnSpc>
                <a:spcPct val="100000"/>
              </a:lnSpc>
              <a:buAutoNum type="arabicPeriod" startAt="5"/>
              <a:tabLst>
                <a:tab pos="277495" algn="l"/>
              </a:tabLst>
            </a:pPr>
            <a:r>
              <a:rPr sz="1400" b="1" spc="-20" dirty="0">
                <a:latin typeface="Times New Roman"/>
                <a:cs typeface="Times New Roman"/>
              </a:rPr>
              <a:t>Training</a:t>
            </a:r>
            <a:r>
              <a:rPr sz="1400" b="1" spc="-35" dirty="0">
                <a:latin typeface="Times New Roman"/>
                <a:cs typeface="Times New Roman"/>
              </a:rPr>
              <a:t> </a:t>
            </a:r>
            <a:r>
              <a:rPr sz="1400" b="1" dirty="0">
                <a:latin typeface="Times New Roman"/>
                <a:cs typeface="Times New Roman"/>
              </a:rPr>
              <a:t>Starting</a:t>
            </a:r>
            <a:r>
              <a:rPr sz="1400" b="1" spc="-50" dirty="0">
                <a:latin typeface="Times New Roman"/>
                <a:cs typeface="Times New Roman"/>
              </a:rPr>
              <a:t> </a:t>
            </a:r>
            <a:r>
              <a:rPr sz="1400" b="1" spc="-20" dirty="0">
                <a:latin typeface="Times New Roman"/>
                <a:cs typeface="Times New Roman"/>
              </a:rPr>
              <a:t>Date</a:t>
            </a:r>
            <a:endParaRPr sz="1400" dirty="0">
              <a:latin typeface="Times New Roman"/>
              <a:cs typeface="Times New Roman"/>
            </a:endParaRPr>
          </a:p>
          <a:p>
            <a:pPr marL="12700">
              <a:lnSpc>
                <a:spcPct val="100000"/>
              </a:lnSpc>
              <a:spcBef>
                <a:spcPts val="1550"/>
              </a:spcBef>
            </a:pPr>
            <a:r>
              <a:rPr sz="1200" dirty="0">
                <a:latin typeface="Times New Roman"/>
                <a:cs typeface="Times New Roman"/>
              </a:rPr>
              <a:t>16th</a:t>
            </a:r>
            <a:r>
              <a:rPr sz="1200" spc="-35" dirty="0">
                <a:latin typeface="Times New Roman"/>
                <a:cs typeface="Times New Roman"/>
              </a:rPr>
              <a:t> </a:t>
            </a:r>
            <a:r>
              <a:rPr sz="1200" dirty="0">
                <a:latin typeface="Times New Roman"/>
                <a:cs typeface="Times New Roman"/>
              </a:rPr>
              <a:t>June</a:t>
            </a:r>
            <a:r>
              <a:rPr sz="1200" spc="-15" dirty="0">
                <a:latin typeface="Times New Roman"/>
                <a:cs typeface="Times New Roman"/>
              </a:rPr>
              <a:t> </a:t>
            </a:r>
            <a:r>
              <a:rPr sz="1200" spc="-20" dirty="0">
                <a:latin typeface="Times New Roman"/>
                <a:cs typeface="Times New Roman"/>
              </a:rPr>
              <a:t>2025</a:t>
            </a:r>
            <a:endParaRPr sz="1200" dirty="0">
              <a:latin typeface="Times New Roman"/>
              <a:cs typeface="Times New Roman"/>
            </a:endParaRPr>
          </a:p>
          <a:p>
            <a:pPr>
              <a:lnSpc>
                <a:spcPct val="100000"/>
              </a:lnSpc>
              <a:spcBef>
                <a:spcPts val="50"/>
              </a:spcBef>
            </a:pPr>
            <a:endParaRPr sz="1200" dirty="0">
              <a:latin typeface="Times New Roman"/>
              <a:cs typeface="Times New Roman"/>
            </a:endParaRPr>
          </a:p>
          <a:p>
            <a:pPr marL="277495" lvl="1" indent="-264795">
              <a:lnSpc>
                <a:spcPct val="100000"/>
              </a:lnSpc>
              <a:buAutoNum type="arabicPeriod" startAt="6"/>
              <a:tabLst>
                <a:tab pos="277495" algn="l"/>
              </a:tabLst>
            </a:pPr>
            <a:r>
              <a:rPr sz="1400" b="1" spc="-25" dirty="0">
                <a:latin typeface="Times New Roman"/>
                <a:cs typeface="Times New Roman"/>
              </a:rPr>
              <a:t>Training</a:t>
            </a:r>
            <a:r>
              <a:rPr sz="1400" b="1" spc="-20" dirty="0">
                <a:latin typeface="Times New Roman"/>
                <a:cs typeface="Times New Roman"/>
              </a:rPr>
              <a:t> </a:t>
            </a:r>
            <a:r>
              <a:rPr sz="1400" b="1" dirty="0">
                <a:latin typeface="Times New Roman"/>
                <a:cs typeface="Times New Roman"/>
              </a:rPr>
              <a:t>Ending</a:t>
            </a:r>
            <a:r>
              <a:rPr sz="1400" b="1" spc="-15" dirty="0">
                <a:latin typeface="Times New Roman"/>
                <a:cs typeface="Times New Roman"/>
              </a:rPr>
              <a:t> </a:t>
            </a:r>
            <a:r>
              <a:rPr sz="1400" b="1" spc="-20" dirty="0">
                <a:latin typeface="Times New Roman"/>
                <a:cs typeface="Times New Roman"/>
              </a:rPr>
              <a:t>Date</a:t>
            </a:r>
            <a:endParaRPr sz="1400" dirty="0">
              <a:latin typeface="Times New Roman"/>
              <a:cs typeface="Times New Roman"/>
            </a:endParaRPr>
          </a:p>
          <a:p>
            <a:pPr marL="12700">
              <a:lnSpc>
                <a:spcPct val="100000"/>
              </a:lnSpc>
              <a:spcBef>
                <a:spcPts val="1545"/>
              </a:spcBef>
            </a:pPr>
            <a:r>
              <a:rPr sz="1200" dirty="0">
                <a:latin typeface="Times New Roman"/>
                <a:cs typeface="Times New Roman"/>
              </a:rPr>
              <a:t>31st</a:t>
            </a:r>
            <a:r>
              <a:rPr sz="1200" spc="-10" dirty="0">
                <a:latin typeface="Times New Roman"/>
                <a:cs typeface="Times New Roman"/>
              </a:rPr>
              <a:t> </a:t>
            </a:r>
            <a:r>
              <a:rPr sz="1200" dirty="0">
                <a:latin typeface="Times New Roman"/>
                <a:cs typeface="Times New Roman"/>
              </a:rPr>
              <a:t>July</a:t>
            </a:r>
            <a:r>
              <a:rPr sz="1200" spc="-55" dirty="0">
                <a:latin typeface="Times New Roman"/>
                <a:cs typeface="Times New Roman"/>
              </a:rPr>
              <a:t> </a:t>
            </a:r>
            <a:r>
              <a:rPr sz="1200" spc="-20" dirty="0">
                <a:latin typeface="Times New Roman"/>
                <a:cs typeface="Times New Roman"/>
              </a:rPr>
              <a:t>2025</a:t>
            </a:r>
            <a:endParaRPr sz="1200" dirty="0">
              <a:latin typeface="Times New Roman"/>
              <a:cs typeface="Times New Roman"/>
            </a:endParaRPr>
          </a:p>
          <a:p>
            <a:pPr>
              <a:lnSpc>
                <a:spcPct val="100000"/>
              </a:lnSpc>
              <a:spcBef>
                <a:spcPts val="30"/>
              </a:spcBef>
            </a:pPr>
            <a:endParaRPr sz="1200" dirty="0">
              <a:latin typeface="Times New Roman"/>
              <a:cs typeface="Times New Roman"/>
            </a:endParaRPr>
          </a:p>
          <a:p>
            <a:pPr marL="277495" lvl="1" indent="-264795">
              <a:lnSpc>
                <a:spcPct val="100000"/>
              </a:lnSpc>
              <a:buAutoNum type="arabicPeriod" startAt="7"/>
              <a:tabLst>
                <a:tab pos="277495" algn="l"/>
              </a:tabLst>
            </a:pPr>
            <a:r>
              <a:rPr sz="1400" b="1" spc="-30" dirty="0">
                <a:latin typeface="Times New Roman"/>
                <a:cs typeface="Times New Roman"/>
              </a:rPr>
              <a:t>Total</a:t>
            </a:r>
            <a:r>
              <a:rPr sz="1400" b="1" spc="-40" dirty="0">
                <a:latin typeface="Times New Roman"/>
                <a:cs typeface="Times New Roman"/>
              </a:rPr>
              <a:t> </a:t>
            </a:r>
            <a:r>
              <a:rPr sz="1400" b="1" spc="-20" dirty="0">
                <a:latin typeface="Times New Roman"/>
                <a:cs typeface="Times New Roman"/>
              </a:rPr>
              <a:t>Training</a:t>
            </a:r>
            <a:r>
              <a:rPr sz="1400" b="1" spc="-10" dirty="0">
                <a:latin typeface="Times New Roman"/>
                <a:cs typeface="Times New Roman"/>
              </a:rPr>
              <a:t> Duration</a:t>
            </a:r>
            <a:endParaRPr sz="1400" dirty="0">
              <a:latin typeface="Times New Roman"/>
              <a:cs typeface="Times New Roman"/>
            </a:endParaRPr>
          </a:p>
          <a:p>
            <a:pPr marL="469900" indent="-228600">
              <a:lnSpc>
                <a:spcPct val="100000"/>
              </a:lnSpc>
              <a:spcBef>
                <a:spcPts val="1545"/>
              </a:spcBef>
              <a:buSzPct val="83333"/>
              <a:buFont typeface="Symbol"/>
              <a:buChar char=""/>
              <a:tabLst>
                <a:tab pos="469900" algn="l"/>
              </a:tabLst>
            </a:pPr>
            <a:r>
              <a:rPr sz="1200" spc="-20" dirty="0">
                <a:latin typeface="Times New Roman"/>
                <a:cs typeface="Times New Roman"/>
              </a:rPr>
              <a:t>Total</a:t>
            </a:r>
            <a:r>
              <a:rPr sz="1200" spc="-55" dirty="0">
                <a:latin typeface="Times New Roman"/>
                <a:cs typeface="Times New Roman"/>
              </a:rPr>
              <a:t> </a:t>
            </a:r>
            <a:r>
              <a:rPr sz="1200" dirty="0">
                <a:latin typeface="Times New Roman"/>
                <a:cs typeface="Times New Roman"/>
              </a:rPr>
              <a:t>Days:</a:t>
            </a:r>
            <a:r>
              <a:rPr sz="1200" spc="-5" dirty="0">
                <a:latin typeface="Times New Roman"/>
                <a:cs typeface="Times New Roman"/>
              </a:rPr>
              <a:t> </a:t>
            </a:r>
            <a:r>
              <a:rPr sz="1200" spc="-35" dirty="0">
                <a:latin typeface="Times New Roman"/>
                <a:cs typeface="Times New Roman"/>
              </a:rPr>
              <a:t>45</a:t>
            </a:r>
            <a:endParaRPr sz="1200" dirty="0">
              <a:latin typeface="Times New Roman"/>
              <a:cs typeface="Times New Roman"/>
            </a:endParaRPr>
          </a:p>
          <a:p>
            <a:pPr>
              <a:lnSpc>
                <a:spcPct val="100000"/>
              </a:lnSpc>
              <a:spcBef>
                <a:spcPts val="60"/>
              </a:spcBef>
              <a:buFont typeface="Symbol"/>
              <a:buChar char=""/>
            </a:pPr>
            <a:endParaRPr sz="1200" dirty="0">
              <a:latin typeface="Times New Roman"/>
              <a:cs typeface="Times New Roman"/>
            </a:endParaRPr>
          </a:p>
          <a:p>
            <a:pPr marL="469900" indent="-228600">
              <a:lnSpc>
                <a:spcPct val="100000"/>
              </a:lnSpc>
              <a:buSzPct val="83333"/>
              <a:buFont typeface="Symbol"/>
              <a:buChar char=""/>
              <a:tabLst>
                <a:tab pos="469900" algn="l"/>
              </a:tabLst>
            </a:pPr>
            <a:r>
              <a:rPr sz="1200" dirty="0">
                <a:latin typeface="Times New Roman"/>
                <a:cs typeface="Times New Roman"/>
              </a:rPr>
              <a:t>Hours</a:t>
            </a:r>
            <a:r>
              <a:rPr sz="1200" spc="-35" dirty="0">
                <a:latin typeface="Times New Roman"/>
                <a:cs typeface="Times New Roman"/>
              </a:rPr>
              <a:t> </a:t>
            </a:r>
            <a:r>
              <a:rPr sz="1200" dirty="0">
                <a:latin typeface="Times New Roman"/>
                <a:cs typeface="Times New Roman"/>
              </a:rPr>
              <a:t>per</a:t>
            </a:r>
            <a:r>
              <a:rPr sz="1200" spc="-35" dirty="0">
                <a:latin typeface="Times New Roman"/>
                <a:cs typeface="Times New Roman"/>
              </a:rPr>
              <a:t> </a:t>
            </a:r>
            <a:r>
              <a:rPr sz="1200" dirty="0">
                <a:latin typeface="Times New Roman"/>
                <a:cs typeface="Times New Roman"/>
              </a:rPr>
              <a:t>Day:</a:t>
            </a:r>
            <a:r>
              <a:rPr sz="1200" spc="-10" dirty="0">
                <a:latin typeface="Times New Roman"/>
                <a:cs typeface="Times New Roman"/>
              </a:rPr>
              <a:t> </a:t>
            </a:r>
            <a:r>
              <a:rPr sz="1200" spc="-50" dirty="0">
                <a:latin typeface="Times New Roman"/>
                <a:cs typeface="Times New Roman"/>
              </a:rPr>
              <a:t>5</a:t>
            </a:r>
            <a:endParaRPr sz="1200" dirty="0">
              <a:latin typeface="Times New Roman"/>
              <a:cs typeface="Times New Roman"/>
            </a:endParaRPr>
          </a:p>
        </p:txBody>
      </p:sp>
      <p:sp>
        <p:nvSpPr>
          <p:cNvPr id="5" name="Rectangle 2">
            <a:extLst>
              <a:ext uri="{FF2B5EF4-FFF2-40B4-BE49-F238E27FC236}">
                <a16:creationId xmlns:a16="http://schemas.microsoft.com/office/drawing/2014/main" id="{A518F7B5-4A0C-28B2-7DCF-D0B5415C086B}"/>
              </a:ext>
            </a:extLst>
          </p:cNvPr>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23EB937E-C52F-FA08-3104-0092FC6EF0BA}"/>
              </a:ext>
            </a:extLst>
          </p:cNvPr>
          <p:cNvSpPr>
            <a:spLocks noChangeArrowheads="1"/>
          </p:cNvSpPr>
          <p:nvPr/>
        </p:nvSpPr>
        <p:spPr bwMode="auto">
          <a:xfrm>
            <a:off x="304800" y="120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4</a:t>
            </a:r>
          </a:p>
        </p:txBody>
      </p:sp>
      <p:sp>
        <p:nvSpPr>
          <p:cNvPr id="2" name="object 2"/>
          <p:cNvSpPr txBox="1"/>
          <p:nvPr/>
        </p:nvSpPr>
        <p:spPr>
          <a:xfrm>
            <a:off x="902004" y="889761"/>
            <a:ext cx="1851025" cy="982980"/>
          </a:xfrm>
          <a:prstGeom prst="rect">
            <a:avLst/>
          </a:prstGeom>
        </p:spPr>
        <p:txBody>
          <a:bodyPr vert="horz" wrap="square" lIns="0" tIns="12700" rIns="0" bIns="0" rtlCol="0">
            <a:spAutoFit/>
          </a:bodyPr>
          <a:lstStyle/>
          <a:p>
            <a:pPr marL="469900" indent="-228600">
              <a:lnSpc>
                <a:spcPct val="100000"/>
              </a:lnSpc>
              <a:spcBef>
                <a:spcPts val="100"/>
              </a:spcBef>
              <a:buSzPct val="83333"/>
              <a:buFont typeface="Symbol"/>
              <a:buChar char=""/>
              <a:tabLst>
                <a:tab pos="469900" algn="l"/>
              </a:tabLst>
            </a:pPr>
            <a:r>
              <a:rPr sz="1200" spc="-20" dirty="0">
                <a:latin typeface="Times New Roman"/>
                <a:cs typeface="Times New Roman"/>
              </a:rPr>
              <a:t>Total</a:t>
            </a:r>
            <a:r>
              <a:rPr sz="1200" spc="-40" dirty="0">
                <a:latin typeface="Times New Roman"/>
                <a:cs typeface="Times New Roman"/>
              </a:rPr>
              <a:t> </a:t>
            </a:r>
            <a:r>
              <a:rPr sz="1200" dirty="0">
                <a:latin typeface="Times New Roman"/>
                <a:cs typeface="Times New Roman"/>
              </a:rPr>
              <a:t>Hours:</a:t>
            </a:r>
            <a:r>
              <a:rPr sz="1200" spc="20" dirty="0">
                <a:latin typeface="Times New Roman"/>
                <a:cs typeface="Times New Roman"/>
              </a:rPr>
              <a:t> </a:t>
            </a:r>
            <a:r>
              <a:rPr sz="1200" spc="-25" dirty="0">
                <a:latin typeface="Times New Roman"/>
                <a:cs typeface="Times New Roman"/>
              </a:rPr>
              <a:t>225</a:t>
            </a:r>
            <a:endParaRPr sz="1200">
              <a:latin typeface="Times New Roman"/>
              <a:cs typeface="Times New Roman"/>
            </a:endParaRPr>
          </a:p>
          <a:p>
            <a:pPr>
              <a:lnSpc>
                <a:spcPct val="100000"/>
              </a:lnSpc>
              <a:spcBef>
                <a:spcPts val="50"/>
              </a:spcBef>
            </a:pPr>
            <a:endParaRPr sz="1200">
              <a:latin typeface="Times New Roman"/>
              <a:cs typeface="Times New Roman"/>
            </a:endParaRPr>
          </a:p>
          <a:p>
            <a:pPr marL="12700">
              <a:lnSpc>
                <a:spcPct val="100000"/>
              </a:lnSpc>
            </a:pPr>
            <a:r>
              <a:rPr sz="1400" b="1" dirty="0">
                <a:latin typeface="Times New Roman"/>
                <a:cs typeface="Times New Roman"/>
              </a:rPr>
              <a:t>1.8</a:t>
            </a:r>
            <a:r>
              <a:rPr sz="1400" b="1" spc="-20" dirty="0">
                <a:latin typeface="Times New Roman"/>
                <a:cs typeface="Times New Roman"/>
              </a:rPr>
              <a:t> </a:t>
            </a:r>
            <a:r>
              <a:rPr sz="1400" b="1" dirty="0">
                <a:latin typeface="Times New Roman"/>
                <a:cs typeface="Times New Roman"/>
              </a:rPr>
              <a:t>Date</a:t>
            </a:r>
            <a:r>
              <a:rPr sz="1400" b="1" spc="-1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10" dirty="0">
                <a:latin typeface="Times New Roman"/>
                <a:cs typeface="Times New Roman"/>
              </a:rPr>
              <a:t>Certification</a:t>
            </a:r>
            <a:endParaRPr sz="1400">
              <a:latin typeface="Times New Roman"/>
              <a:cs typeface="Times New Roman"/>
            </a:endParaRPr>
          </a:p>
          <a:p>
            <a:pPr marL="12700">
              <a:lnSpc>
                <a:spcPct val="100000"/>
              </a:lnSpc>
              <a:spcBef>
                <a:spcPts val="1550"/>
              </a:spcBef>
            </a:pPr>
            <a:r>
              <a:rPr sz="1200" dirty="0">
                <a:latin typeface="Times New Roman"/>
                <a:cs typeface="Times New Roman"/>
              </a:rPr>
              <a:t>31st</a:t>
            </a:r>
            <a:r>
              <a:rPr sz="1200" spc="-10" dirty="0">
                <a:latin typeface="Times New Roman"/>
                <a:cs typeface="Times New Roman"/>
              </a:rPr>
              <a:t> </a:t>
            </a:r>
            <a:r>
              <a:rPr sz="1200" dirty="0">
                <a:latin typeface="Times New Roman"/>
                <a:cs typeface="Times New Roman"/>
              </a:rPr>
              <a:t>July</a:t>
            </a:r>
            <a:r>
              <a:rPr sz="1200" spc="-55" dirty="0">
                <a:latin typeface="Times New Roman"/>
                <a:cs typeface="Times New Roman"/>
              </a:rPr>
              <a:t> </a:t>
            </a:r>
            <a:r>
              <a:rPr sz="1200" spc="-20" dirty="0">
                <a:latin typeface="Times New Roman"/>
                <a:cs typeface="Times New Roman"/>
              </a:rPr>
              <a:t>2025</a:t>
            </a:r>
            <a:endParaRPr sz="1200">
              <a:latin typeface="Times New Roman"/>
              <a:cs typeface="Times New Roman"/>
            </a:endParaRPr>
          </a:p>
        </p:txBody>
      </p:sp>
      <p:sp>
        <p:nvSpPr>
          <p:cNvPr id="3" name="object 3"/>
          <p:cNvSpPr txBox="1"/>
          <p:nvPr/>
        </p:nvSpPr>
        <p:spPr>
          <a:xfrm>
            <a:off x="902004" y="2392807"/>
            <a:ext cx="5935980" cy="2442976"/>
          </a:xfrm>
          <a:prstGeom prst="rect">
            <a:avLst/>
          </a:prstGeom>
        </p:spPr>
        <p:txBody>
          <a:bodyPr vert="horz" wrap="square" lIns="0" tIns="11430" rIns="0" bIns="0" rtlCol="0">
            <a:spAutoFit/>
          </a:bodyPr>
          <a:lstStyle/>
          <a:p>
            <a:pPr marL="12700">
              <a:lnSpc>
                <a:spcPct val="100000"/>
              </a:lnSpc>
              <a:spcBef>
                <a:spcPts val="90"/>
              </a:spcBef>
            </a:pPr>
            <a:r>
              <a:rPr sz="1400" b="1" dirty="0">
                <a:latin typeface="Times New Roman"/>
                <a:cs typeface="Times New Roman"/>
              </a:rPr>
              <a:t>1.9 </a:t>
            </a:r>
            <a:r>
              <a:rPr sz="1400" b="1" spc="-10" dirty="0">
                <a:latin typeface="Times New Roman"/>
                <a:cs typeface="Times New Roman"/>
              </a:rPr>
              <a:t>Conclusion</a:t>
            </a:r>
            <a:endParaRPr sz="1400" dirty="0">
              <a:latin typeface="Times New Roman"/>
              <a:cs typeface="Times New Roman"/>
            </a:endParaRPr>
          </a:p>
          <a:p>
            <a:r>
              <a:rPr lang="en-US" sz="1200" dirty="0"/>
              <a:t>The training provided a comprehensive foundation in </a:t>
            </a:r>
            <a:r>
              <a:rPr lang="en-US" sz="1200" b="1" dirty="0"/>
              <a:t>Full Stack Web Development and Cloud Integration</a:t>
            </a:r>
            <a:r>
              <a:rPr lang="en-US" sz="1200" dirty="0"/>
              <a:t> using modern technologies. By applying the concepts and tools learned during the internship, the </a:t>
            </a:r>
            <a:r>
              <a:rPr lang="en-US" sz="1200" b="1" dirty="0"/>
              <a:t>NIDHI-SETU</a:t>
            </a:r>
            <a:r>
              <a:rPr lang="en-US" sz="1200" dirty="0"/>
              <a:t> project was successfully designed and implemented. The project demonstrates the ability to build a </a:t>
            </a:r>
            <a:r>
              <a:rPr lang="en-US" sz="1200" b="1" dirty="0"/>
              <a:t>secure, AI-integrated, and scalable web platform</a:t>
            </a:r>
            <a:r>
              <a:rPr lang="en-US" sz="1200" dirty="0"/>
              <a:t> that ensures transparency and efficiency in government fund disbursement.</a:t>
            </a:r>
          </a:p>
          <a:p>
            <a:r>
              <a:rPr lang="en-US" sz="1200" dirty="0"/>
              <a:t>Through this project, I gained practical experience in </a:t>
            </a:r>
            <a:r>
              <a:rPr lang="en-US" sz="1200" b="1" dirty="0"/>
              <a:t>frontend development using React.js and Tailwind CSS</a:t>
            </a:r>
            <a:r>
              <a:rPr lang="en-US" sz="1200" dirty="0"/>
              <a:t>, </a:t>
            </a:r>
            <a:r>
              <a:rPr lang="en-US" sz="1200" b="1" dirty="0"/>
              <a:t>backend services using Node.js and Express.js</a:t>
            </a:r>
            <a:r>
              <a:rPr lang="en-US" sz="1200" dirty="0"/>
              <a:t>, and </a:t>
            </a:r>
            <a:r>
              <a:rPr lang="en-US" sz="1200" b="1" dirty="0"/>
              <a:t>real-time authentication and data handling using Firebase</a:t>
            </a:r>
            <a:r>
              <a:rPr lang="en-US" sz="1200" dirty="0"/>
              <a:t>. Additionally, integrating </a:t>
            </a:r>
            <a:r>
              <a:rPr lang="en-US" sz="1200" b="1" dirty="0"/>
              <a:t>AI-based verification modules such as </a:t>
            </a:r>
            <a:r>
              <a:rPr lang="en-US" sz="1200" b="1" dirty="0" err="1"/>
              <a:t>Supabase</a:t>
            </a:r>
            <a:r>
              <a:rPr lang="en-US" sz="1200" b="1" dirty="0"/>
              <a:t> (3D Face Authentication)</a:t>
            </a:r>
            <a:r>
              <a:rPr lang="en-US" sz="1200" dirty="0"/>
              <a:t> and </a:t>
            </a:r>
            <a:r>
              <a:rPr lang="en-US" sz="1200" b="1" dirty="0"/>
              <a:t>Twilio AI (Voice Verification)</a:t>
            </a:r>
            <a:r>
              <a:rPr lang="en-US" sz="1200" dirty="0"/>
              <a:t> enhanced my understanding of how advanced technologies can be applied to real-world e-governance solutions.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5</a:t>
            </a:r>
          </a:p>
        </p:txBody>
      </p:sp>
      <p:sp>
        <p:nvSpPr>
          <p:cNvPr id="2" name="object 2"/>
          <p:cNvSpPr txBox="1"/>
          <p:nvPr/>
        </p:nvSpPr>
        <p:spPr>
          <a:xfrm>
            <a:off x="902004" y="889761"/>
            <a:ext cx="5970905" cy="3851054"/>
          </a:xfrm>
          <a:prstGeom prst="rect">
            <a:avLst/>
          </a:prstGeom>
        </p:spPr>
        <p:txBody>
          <a:bodyPr vert="horz" wrap="square" lIns="0" tIns="11430" rIns="0" bIns="0" rtlCol="0">
            <a:spAutoFit/>
          </a:bodyPr>
          <a:lstStyle/>
          <a:p>
            <a:pPr algn="ctr">
              <a:lnSpc>
                <a:spcPct val="100000"/>
              </a:lnSpc>
              <a:spcBef>
                <a:spcPts val="90"/>
              </a:spcBef>
            </a:pPr>
            <a:r>
              <a:rPr sz="1400" b="1" dirty="0">
                <a:latin typeface="Times New Roman"/>
                <a:cs typeface="Times New Roman"/>
              </a:rPr>
              <a:t>Chapter</a:t>
            </a:r>
            <a:r>
              <a:rPr sz="1400" b="1" spc="-85" dirty="0">
                <a:latin typeface="Times New Roman"/>
                <a:cs typeface="Times New Roman"/>
              </a:rPr>
              <a:t> </a:t>
            </a:r>
            <a:r>
              <a:rPr sz="1400" b="1" spc="-50" dirty="0">
                <a:latin typeface="Times New Roman"/>
                <a:cs typeface="Times New Roman"/>
              </a:rPr>
              <a:t>2</a:t>
            </a:r>
            <a:endParaRPr sz="1400" dirty="0">
              <a:latin typeface="Times New Roman"/>
              <a:cs typeface="Times New Roman"/>
            </a:endParaRPr>
          </a:p>
          <a:p>
            <a:pPr marL="34925" algn="ctr">
              <a:lnSpc>
                <a:spcPct val="100000"/>
              </a:lnSpc>
              <a:spcBef>
                <a:spcPts val="1535"/>
              </a:spcBef>
            </a:pPr>
            <a:r>
              <a:rPr sz="1400" b="1" spc="-25" dirty="0">
                <a:latin typeface="Times New Roman"/>
                <a:cs typeface="Times New Roman"/>
              </a:rPr>
              <a:t>Technical</a:t>
            </a:r>
            <a:r>
              <a:rPr sz="1400" b="1" spc="-20" dirty="0">
                <a:latin typeface="Times New Roman"/>
                <a:cs typeface="Times New Roman"/>
              </a:rPr>
              <a:t> Training</a:t>
            </a:r>
            <a:r>
              <a:rPr sz="1400" b="1" dirty="0">
                <a:latin typeface="Times New Roman"/>
                <a:cs typeface="Times New Roman"/>
              </a:rPr>
              <a:t> </a:t>
            </a:r>
            <a:r>
              <a:rPr sz="1400" b="1" spc="-10" dirty="0">
                <a:latin typeface="Times New Roman"/>
                <a:cs typeface="Times New Roman"/>
              </a:rPr>
              <a:t>Platform</a:t>
            </a:r>
            <a:endParaRPr sz="1400" dirty="0">
              <a:latin typeface="Times New Roman"/>
              <a:cs typeface="Times New Roman"/>
            </a:endParaRPr>
          </a:p>
          <a:p>
            <a:pPr marL="12700" algn="just">
              <a:lnSpc>
                <a:spcPct val="100000"/>
              </a:lnSpc>
              <a:spcBef>
                <a:spcPts val="1540"/>
              </a:spcBef>
            </a:pPr>
            <a:r>
              <a:rPr sz="1400" b="1" dirty="0">
                <a:latin typeface="Times New Roman"/>
                <a:cs typeface="Times New Roman"/>
              </a:rPr>
              <a:t>2.1</a:t>
            </a:r>
            <a:r>
              <a:rPr sz="1400" b="1" spc="-5" dirty="0">
                <a:latin typeface="Times New Roman"/>
                <a:cs typeface="Times New Roman"/>
              </a:rPr>
              <a:t> </a:t>
            </a:r>
            <a:r>
              <a:rPr sz="1400" b="1" spc="-10" dirty="0">
                <a:latin typeface="Times New Roman"/>
                <a:cs typeface="Times New Roman"/>
              </a:rPr>
              <a:t>Introduction</a:t>
            </a:r>
            <a:endParaRPr lang="en-US" sz="1400" b="1" spc="-10" dirty="0">
              <a:latin typeface="Times New Roman"/>
              <a:cs typeface="Times New Roman"/>
            </a:endParaRPr>
          </a:p>
          <a:p>
            <a:pPr marL="12700" algn="just">
              <a:lnSpc>
                <a:spcPct val="100000"/>
              </a:lnSpc>
              <a:spcBef>
                <a:spcPts val="1540"/>
              </a:spcBef>
            </a:pPr>
            <a:endParaRPr sz="1400" dirty="0">
              <a:latin typeface="Times New Roman"/>
              <a:cs typeface="Times New Roman"/>
            </a:endParaRPr>
          </a:p>
          <a:p>
            <a:r>
              <a:rPr lang="en-US" sz="1200" dirty="0"/>
              <a:t>The </a:t>
            </a:r>
            <a:r>
              <a:rPr lang="en-US" sz="1200" b="1" dirty="0"/>
              <a:t>Technical Training Platform</a:t>
            </a:r>
            <a:r>
              <a:rPr lang="en-US" sz="1200" dirty="0"/>
              <a:t> serves as a vital bridge between </a:t>
            </a:r>
            <a:r>
              <a:rPr lang="en-US" sz="1200" b="1" dirty="0"/>
              <a:t>theoretical learning</a:t>
            </a:r>
            <a:r>
              <a:rPr lang="en-US" sz="1200" dirty="0"/>
              <a:t> and </a:t>
            </a:r>
            <a:r>
              <a:rPr lang="en-US" sz="1200" b="1" dirty="0"/>
              <a:t>practical implementation</a:t>
            </a:r>
            <a:r>
              <a:rPr lang="en-US" sz="1200" dirty="0"/>
              <a:t> in modern software development. The training was conducted at </a:t>
            </a:r>
            <a:r>
              <a:rPr lang="en-US" sz="1200" b="1" dirty="0"/>
              <a:t>Seldom India Technologies, Jaipur</a:t>
            </a:r>
            <a:r>
              <a:rPr lang="en-US" sz="1200" dirty="0"/>
              <a:t>, a professional corporate environment that provided hands-on exposure to </a:t>
            </a:r>
            <a:r>
              <a:rPr lang="en-US" sz="1200" b="1" dirty="0"/>
              <a:t>Full Stack Web Development</a:t>
            </a:r>
            <a:r>
              <a:rPr lang="en-US" sz="1200" dirty="0"/>
              <a:t> and </a:t>
            </a:r>
            <a:r>
              <a:rPr lang="en-US" sz="1200" b="1" dirty="0"/>
              <a:t>cloud integration practices</a:t>
            </a:r>
            <a:r>
              <a:rPr lang="en-US" sz="1200" dirty="0"/>
              <a:t>. The main objective of the training was to equip participants with practical experience in utilizing </a:t>
            </a:r>
            <a:r>
              <a:rPr lang="en-US" sz="1200" b="1" dirty="0"/>
              <a:t>modern web technologies and AI-driven tools</a:t>
            </a:r>
            <a:r>
              <a:rPr lang="en-US" sz="1200" dirty="0"/>
              <a:t> through the development of a real-world project — </a:t>
            </a:r>
            <a:r>
              <a:rPr lang="en-US" sz="1200" b="1" dirty="0"/>
              <a:t>NIDHI-SETU</a:t>
            </a:r>
            <a:r>
              <a:rPr lang="en-US" sz="1200" dirty="0"/>
              <a:t>.</a:t>
            </a:r>
          </a:p>
          <a:p>
            <a:r>
              <a:rPr lang="en-US" sz="1200" dirty="0"/>
              <a:t>The training covered various aspects of full stack development, including </a:t>
            </a:r>
            <a:r>
              <a:rPr lang="en-US" sz="1200" b="1" dirty="0"/>
              <a:t>front-end design</a:t>
            </a:r>
            <a:r>
              <a:rPr lang="en-US" sz="1200" dirty="0"/>
              <a:t> using </a:t>
            </a:r>
            <a:r>
              <a:rPr lang="en-US" sz="1200" b="1" dirty="0"/>
              <a:t>React.js</a:t>
            </a:r>
            <a:r>
              <a:rPr lang="en-US" sz="1200" dirty="0"/>
              <a:t> and </a:t>
            </a:r>
            <a:r>
              <a:rPr lang="en-US" sz="1200" b="1" dirty="0"/>
              <a:t>Tailwind CSS</a:t>
            </a:r>
            <a:r>
              <a:rPr lang="en-US" sz="1200" dirty="0"/>
              <a:t>, </a:t>
            </a:r>
            <a:r>
              <a:rPr lang="en-US" sz="1200" b="1" dirty="0"/>
              <a:t>server-side programming</a:t>
            </a:r>
            <a:r>
              <a:rPr lang="en-US" sz="1200" dirty="0"/>
              <a:t> with </a:t>
            </a:r>
            <a:r>
              <a:rPr lang="en-US" sz="1200" b="1" dirty="0"/>
              <a:t>Node.js</a:t>
            </a:r>
            <a:r>
              <a:rPr lang="en-US" sz="1200" dirty="0"/>
              <a:t> and </a:t>
            </a:r>
            <a:r>
              <a:rPr lang="en-US" sz="1200" b="1" dirty="0"/>
              <a:t>Express.js</a:t>
            </a:r>
            <a:r>
              <a:rPr lang="en-US" sz="1200" dirty="0"/>
              <a:t>, and </a:t>
            </a:r>
            <a:r>
              <a:rPr lang="en-US" sz="1200" b="1" dirty="0"/>
              <a:t>real-time data management and authentication</a:t>
            </a:r>
            <a:r>
              <a:rPr lang="en-US" sz="1200" dirty="0"/>
              <a:t> using </a:t>
            </a:r>
            <a:r>
              <a:rPr lang="en-US" sz="1200" b="1" dirty="0"/>
              <a:t>Firebase</a:t>
            </a:r>
            <a:r>
              <a:rPr lang="en-US" sz="1200" dirty="0"/>
              <a:t>. Participants were also introduced to </a:t>
            </a:r>
            <a:r>
              <a:rPr lang="en-US" sz="1200" b="1" dirty="0"/>
              <a:t>AI-powered modules</a:t>
            </a:r>
            <a:r>
              <a:rPr lang="en-US" sz="1200" dirty="0"/>
              <a:t>, integrating </a:t>
            </a:r>
            <a:r>
              <a:rPr lang="en-US" sz="1200" b="1" dirty="0" err="1"/>
              <a:t>Supabase</a:t>
            </a:r>
            <a:r>
              <a:rPr lang="en-US" sz="1200" b="1" dirty="0"/>
              <a:t> for 3D facial recognition</a:t>
            </a:r>
            <a:r>
              <a:rPr lang="en-US" sz="1200" dirty="0"/>
              <a:t> and </a:t>
            </a:r>
            <a:r>
              <a:rPr lang="en-US" sz="1200" b="1" dirty="0"/>
              <a:t>Twilio AI for voice-based verification</a:t>
            </a:r>
            <a:r>
              <a:rPr lang="en-US" sz="1200" dirty="0"/>
              <a:t>, enabling a deeper understanding of how artificial intelligence can enhance e-governance platforms.</a:t>
            </a:r>
          </a:p>
        </p:txBody>
      </p:sp>
      <p:sp>
        <p:nvSpPr>
          <p:cNvPr id="3" name="object 3"/>
          <p:cNvSpPr txBox="1"/>
          <p:nvPr/>
        </p:nvSpPr>
        <p:spPr>
          <a:xfrm>
            <a:off x="902004" y="5575807"/>
            <a:ext cx="5970905" cy="3025775"/>
          </a:xfrm>
          <a:prstGeom prst="rect">
            <a:avLst/>
          </a:prstGeom>
        </p:spPr>
        <p:txBody>
          <a:bodyPr vert="horz" wrap="square" lIns="0" tIns="11430" rIns="0" bIns="0" rtlCol="0">
            <a:spAutoFit/>
          </a:bodyPr>
          <a:lstStyle/>
          <a:p>
            <a:pPr marL="12700" algn="just">
              <a:lnSpc>
                <a:spcPct val="100000"/>
              </a:lnSpc>
              <a:spcBef>
                <a:spcPts val="90"/>
              </a:spcBef>
            </a:pPr>
            <a:r>
              <a:rPr sz="1400" b="1" dirty="0">
                <a:latin typeface="Times New Roman"/>
                <a:cs typeface="Times New Roman"/>
              </a:rPr>
              <a:t>2.2</a:t>
            </a:r>
            <a:r>
              <a:rPr sz="1400" b="1" spc="-35" dirty="0">
                <a:latin typeface="Times New Roman"/>
                <a:cs typeface="Times New Roman"/>
              </a:rPr>
              <a:t> </a:t>
            </a:r>
            <a:r>
              <a:rPr sz="1400" b="1" dirty="0">
                <a:latin typeface="Times New Roman"/>
                <a:cs typeface="Times New Roman"/>
              </a:rPr>
              <a:t>Reason</a:t>
            </a:r>
            <a:r>
              <a:rPr sz="1400" b="1" spc="-35" dirty="0">
                <a:latin typeface="Times New Roman"/>
                <a:cs typeface="Times New Roman"/>
              </a:rPr>
              <a:t> </a:t>
            </a:r>
            <a:r>
              <a:rPr sz="1400" b="1" dirty="0">
                <a:latin typeface="Times New Roman"/>
                <a:cs typeface="Times New Roman"/>
              </a:rPr>
              <a:t>of</a:t>
            </a:r>
            <a:r>
              <a:rPr sz="1400" b="1" spc="-20" dirty="0">
                <a:latin typeface="Times New Roman"/>
                <a:cs typeface="Times New Roman"/>
              </a:rPr>
              <a:t> </a:t>
            </a:r>
            <a:r>
              <a:rPr sz="1400" b="1" dirty="0">
                <a:latin typeface="Times New Roman"/>
                <a:cs typeface="Times New Roman"/>
              </a:rPr>
              <a:t>Selecting</a:t>
            </a:r>
            <a:r>
              <a:rPr sz="1400" b="1" spc="-35" dirty="0">
                <a:latin typeface="Times New Roman"/>
                <a:cs typeface="Times New Roman"/>
              </a:rPr>
              <a:t> </a:t>
            </a:r>
            <a:r>
              <a:rPr sz="1400" b="1" dirty="0">
                <a:latin typeface="Times New Roman"/>
                <a:cs typeface="Times New Roman"/>
              </a:rPr>
              <a:t>this</a:t>
            </a:r>
            <a:r>
              <a:rPr sz="1400" b="1" spc="-30" dirty="0">
                <a:latin typeface="Times New Roman"/>
                <a:cs typeface="Times New Roman"/>
              </a:rPr>
              <a:t> </a:t>
            </a:r>
            <a:r>
              <a:rPr sz="1400" b="1" spc="-10" dirty="0">
                <a:latin typeface="Times New Roman"/>
                <a:cs typeface="Times New Roman"/>
              </a:rPr>
              <a:t>Platform</a:t>
            </a:r>
            <a:endParaRPr sz="1400">
              <a:latin typeface="Times New Roman"/>
              <a:cs typeface="Times New Roman"/>
            </a:endParaRPr>
          </a:p>
          <a:p>
            <a:pPr marL="12700" marR="5080" algn="just">
              <a:lnSpc>
                <a:spcPct val="145000"/>
              </a:lnSpc>
              <a:spcBef>
                <a:spcPts val="875"/>
              </a:spcBef>
            </a:pP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decision</a:t>
            </a:r>
            <a:r>
              <a:rPr sz="1200" spc="-3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b="1" dirty="0">
                <a:latin typeface="Times New Roman"/>
                <a:cs typeface="Times New Roman"/>
              </a:rPr>
              <a:t>Seldon</a:t>
            </a:r>
            <a:r>
              <a:rPr sz="1200" b="1" spc="-5" dirty="0">
                <a:latin typeface="Times New Roman"/>
                <a:cs typeface="Times New Roman"/>
              </a:rPr>
              <a:t> </a:t>
            </a:r>
            <a:r>
              <a:rPr sz="1200" b="1" dirty="0">
                <a:latin typeface="Times New Roman"/>
                <a:cs typeface="Times New Roman"/>
              </a:rPr>
              <a:t>India</a:t>
            </a:r>
            <a:r>
              <a:rPr sz="1200" b="1" spc="-55" dirty="0">
                <a:latin typeface="Times New Roman"/>
                <a:cs typeface="Times New Roman"/>
              </a:rPr>
              <a:t> </a:t>
            </a:r>
            <a:r>
              <a:rPr sz="1200" b="1" spc="-20" dirty="0">
                <a:latin typeface="Times New Roman"/>
                <a:cs typeface="Times New Roman"/>
              </a:rPr>
              <a:t>Technologies</a:t>
            </a:r>
            <a:r>
              <a:rPr sz="1200" b="1" spc="15"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technical</a:t>
            </a:r>
            <a:r>
              <a:rPr sz="1200" spc="-50" dirty="0">
                <a:latin typeface="Times New Roman"/>
                <a:cs typeface="Times New Roman"/>
              </a:rPr>
              <a:t> </a:t>
            </a:r>
            <a:r>
              <a:rPr sz="1200" dirty="0">
                <a:latin typeface="Times New Roman"/>
                <a:cs typeface="Times New Roman"/>
              </a:rPr>
              <a:t>training</a:t>
            </a:r>
            <a:r>
              <a:rPr sz="1200" spc="-10" dirty="0">
                <a:latin typeface="Times New Roman"/>
                <a:cs typeface="Times New Roman"/>
              </a:rPr>
              <a:t> platform</a:t>
            </a:r>
            <a:r>
              <a:rPr sz="1200" spc="-55" dirty="0">
                <a:latin typeface="Times New Roman"/>
                <a:cs typeface="Times New Roman"/>
              </a:rPr>
              <a:t> </a:t>
            </a:r>
            <a:r>
              <a:rPr sz="1200" dirty="0">
                <a:latin typeface="Times New Roman"/>
                <a:cs typeface="Times New Roman"/>
              </a:rPr>
              <a:t>was</a:t>
            </a:r>
            <a:r>
              <a:rPr sz="1200" spc="-20" dirty="0">
                <a:latin typeface="Times New Roman"/>
                <a:cs typeface="Times New Roman"/>
              </a:rPr>
              <a:t> </a:t>
            </a:r>
            <a:r>
              <a:rPr sz="1200" dirty="0">
                <a:latin typeface="Times New Roman"/>
                <a:cs typeface="Times New Roman"/>
              </a:rPr>
              <a:t>based</a:t>
            </a:r>
            <a:r>
              <a:rPr sz="1200" spc="-10" dirty="0">
                <a:latin typeface="Times New Roman"/>
                <a:cs typeface="Times New Roman"/>
              </a:rPr>
              <a:t> </a:t>
            </a:r>
            <a:r>
              <a:rPr sz="1200" spc="-25" dirty="0">
                <a:latin typeface="Times New Roman"/>
                <a:cs typeface="Times New Roman"/>
              </a:rPr>
              <a:t>on </a:t>
            </a:r>
            <a:r>
              <a:rPr sz="1200" dirty="0">
                <a:latin typeface="Times New Roman"/>
                <a:cs typeface="Times New Roman"/>
              </a:rPr>
              <a:t>several</a:t>
            </a:r>
            <a:r>
              <a:rPr sz="1200" spc="-50" dirty="0">
                <a:latin typeface="Times New Roman"/>
                <a:cs typeface="Times New Roman"/>
              </a:rPr>
              <a:t> </a:t>
            </a:r>
            <a:r>
              <a:rPr sz="1200" dirty="0">
                <a:latin typeface="Times New Roman"/>
                <a:cs typeface="Times New Roman"/>
              </a:rPr>
              <a:t>key </a:t>
            </a:r>
            <a:r>
              <a:rPr sz="1200" spc="-10" dirty="0">
                <a:latin typeface="Times New Roman"/>
                <a:cs typeface="Times New Roman"/>
              </a:rPr>
              <a:t>factors:</a:t>
            </a:r>
            <a:endParaRPr sz="1200">
              <a:latin typeface="Times New Roman"/>
              <a:cs typeface="Times New Roman"/>
            </a:endParaRPr>
          </a:p>
          <a:p>
            <a:pPr marL="469900" marR="7620" indent="-229235" algn="just">
              <a:lnSpc>
                <a:spcPct val="144300"/>
              </a:lnSpc>
              <a:spcBef>
                <a:spcPts val="780"/>
              </a:spcBef>
              <a:buFont typeface="Times New Roman"/>
              <a:buAutoNum type="arabicPeriod"/>
              <a:tabLst>
                <a:tab pos="469900" algn="l"/>
              </a:tabLst>
            </a:pPr>
            <a:r>
              <a:rPr sz="1200" b="1" spc="-10" dirty="0">
                <a:latin typeface="Times New Roman"/>
                <a:cs typeface="Times New Roman"/>
              </a:rPr>
              <a:t>Industry-</a:t>
            </a:r>
            <a:r>
              <a:rPr sz="1200" b="1" dirty="0">
                <a:latin typeface="Times New Roman"/>
                <a:cs typeface="Times New Roman"/>
              </a:rPr>
              <a:t>Oriented</a:t>
            </a:r>
            <a:r>
              <a:rPr sz="1200" b="1" spc="105" dirty="0">
                <a:latin typeface="Times New Roman"/>
                <a:cs typeface="Times New Roman"/>
              </a:rPr>
              <a:t> </a:t>
            </a:r>
            <a:r>
              <a:rPr sz="1200" b="1" dirty="0">
                <a:latin typeface="Times New Roman"/>
                <a:cs typeface="Times New Roman"/>
              </a:rPr>
              <a:t>Training:</a:t>
            </a:r>
            <a:r>
              <a:rPr sz="1200" b="1" spc="130" dirty="0">
                <a:latin typeface="Times New Roman"/>
                <a:cs typeface="Times New Roman"/>
              </a:rPr>
              <a:t> </a:t>
            </a: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platform</a:t>
            </a:r>
            <a:r>
              <a:rPr sz="1200" spc="85" dirty="0">
                <a:latin typeface="Times New Roman"/>
                <a:cs typeface="Times New Roman"/>
              </a:rPr>
              <a:t> </a:t>
            </a:r>
            <a:r>
              <a:rPr sz="1200" dirty="0">
                <a:latin typeface="Times New Roman"/>
                <a:cs typeface="Times New Roman"/>
              </a:rPr>
              <a:t>offers</a:t>
            </a:r>
            <a:r>
              <a:rPr sz="1200" spc="120" dirty="0">
                <a:latin typeface="Times New Roman"/>
                <a:cs typeface="Times New Roman"/>
              </a:rPr>
              <a:t> </a:t>
            </a:r>
            <a:r>
              <a:rPr sz="1200" dirty="0">
                <a:latin typeface="Times New Roman"/>
                <a:cs typeface="Times New Roman"/>
              </a:rPr>
              <a:t>training</a:t>
            </a:r>
            <a:r>
              <a:rPr sz="1200" spc="130" dirty="0">
                <a:latin typeface="Times New Roman"/>
                <a:cs typeface="Times New Roman"/>
              </a:rPr>
              <a:t> </a:t>
            </a:r>
            <a:r>
              <a:rPr sz="1200" dirty="0">
                <a:latin typeface="Times New Roman"/>
                <a:cs typeface="Times New Roman"/>
              </a:rPr>
              <a:t>that</a:t>
            </a:r>
            <a:r>
              <a:rPr sz="1200" spc="170" dirty="0">
                <a:latin typeface="Times New Roman"/>
                <a:cs typeface="Times New Roman"/>
              </a:rPr>
              <a:t> </a:t>
            </a:r>
            <a:r>
              <a:rPr sz="1200" dirty="0">
                <a:latin typeface="Times New Roman"/>
                <a:cs typeface="Times New Roman"/>
              </a:rPr>
              <a:t>is</a:t>
            </a:r>
            <a:r>
              <a:rPr sz="1200" spc="120" dirty="0">
                <a:latin typeface="Times New Roman"/>
                <a:cs typeface="Times New Roman"/>
              </a:rPr>
              <a:t> </a:t>
            </a:r>
            <a:r>
              <a:rPr sz="1200" dirty="0">
                <a:latin typeface="Times New Roman"/>
                <a:cs typeface="Times New Roman"/>
              </a:rPr>
              <a:t>closely</a:t>
            </a:r>
            <a:r>
              <a:rPr sz="1200" spc="110" dirty="0">
                <a:latin typeface="Times New Roman"/>
                <a:cs typeface="Times New Roman"/>
              </a:rPr>
              <a:t> </a:t>
            </a:r>
            <a:r>
              <a:rPr sz="1200" dirty="0">
                <a:latin typeface="Times New Roman"/>
                <a:cs typeface="Times New Roman"/>
              </a:rPr>
              <a:t>aligned</a:t>
            </a:r>
            <a:r>
              <a:rPr sz="1200" spc="130" dirty="0">
                <a:latin typeface="Times New Roman"/>
                <a:cs typeface="Times New Roman"/>
              </a:rPr>
              <a:t> </a:t>
            </a:r>
            <a:r>
              <a:rPr sz="1200" spc="-20" dirty="0">
                <a:latin typeface="Times New Roman"/>
                <a:cs typeface="Times New Roman"/>
              </a:rPr>
              <a:t>with </a:t>
            </a:r>
            <a:r>
              <a:rPr sz="1200" dirty="0">
                <a:latin typeface="Times New Roman"/>
                <a:cs typeface="Times New Roman"/>
              </a:rPr>
              <a:t>current</a:t>
            </a:r>
            <a:r>
              <a:rPr sz="1200" spc="290" dirty="0">
                <a:latin typeface="Times New Roman"/>
                <a:cs typeface="Times New Roman"/>
              </a:rPr>
              <a:t> </a:t>
            </a:r>
            <a:r>
              <a:rPr sz="1200" dirty="0">
                <a:latin typeface="Times New Roman"/>
                <a:cs typeface="Times New Roman"/>
              </a:rPr>
              <a:t>industry</a:t>
            </a:r>
            <a:r>
              <a:rPr sz="1200" spc="225" dirty="0">
                <a:latin typeface="Times New Roman"/>
                <a:cs typeface="Times New Roman"/>
              </a:rPr>
              <a:t> </a:t>
            </a:r>
            <a:r>
              <a:rPr sz="1200" dirty="0">
                <a:latin typeface="Times New Roman"/>
                <a:cs typeface="Times New Roman"/>
              </a:rPr>
              <a:t>requirements,</a:t>
            </a:r>
            <a:r>
              <a:rPr sz="1200" spc="280" dirty="0">
                <a:latin typeface="Times New Roman"/>
                <a:cs typeface="Times New Roman"/>
              </a:rPr>
              <a:t> </a:t>
            </a:r>
            <a:r>
              <a:rPr sz="1200" dirty="0">
                <a:latin typeface="Times New Roman"/>
                <a:cs typeface="Times New Roman"/>
              </a:rPr>
              <a:t>ensuring</a:t>
            </a:r>
            <a:r>
              <a:rPr sz="1200" spc="270" dirty="0">
                <a:latin typeface="Times New Roman"/>
                <a:cs typeface="Times New Roman"/>
              </a:rPr>
              <a:t> </a:t>
            </a:r>
            <a:r>
              <a:rPr sz="1200" dirty="0">
                <a:latin typeface="Times New Roman"/>
                <a:cs typeface="Times New Roman"/>
              </a:rPr>
              <a:t>practical</a:t>
            </a:r>
            <a:r>
              <a:rPr sz="1200" spc="225" dirty="0">
                <a:latin typeface="Times New Roman"/>
                <a:cs typeface="Times New Roman"/>
              </a:rPr>
              <a:t> </a:t>
            </a:r>
            <a:r>
              <a:rPr sz="1200" dirty="0">
                <a:latin typeface="Times New Roman"/>
                <a:cs typeface="Times New Roman"/>
              </a:rPr>
              <a:t>knowledge</a:t>
            </a:r>
            <a:r>
              <a:rPr sz="1200" spc="265" dirty="0">
                <a:latin typeface="Times New Roman"/>
                <a:cs typeface="Times New Roman"/>
              </a:rPr>
              <a:t> </a:t>
            </a:r>
            <a:r>
              <a:rPr sz="1200" dirty="0">
                <a:latin typeface="Times New Roman"/>
                <a:cs typeface="Times New Roman"/>
              </a:rPr>
              <a:t>applicable</a:t>
            </a:r>
            <a:r>
              <a:rPr sz="1200" spc="290" dirty="0">
                <a:latin typeface="Times New Roman"/>
                <a:cs typeface="Times New Roman"/>
              </a:rPr>
              <a:t> </a:t>
            </a:r>
            <a:r>
              <a:rPr sz="1200" dirty="0">
                <a:latin typeface="Times New Roman"/>
                <a:cs typeface="Times New Roman"/>
              </a:rPr>
              <a:t>in</a:t>
            </a:r>
            <a:r>
              <a:rPr sz="1200" spc="245" dirty="0">
                <a:latin typeface="Times New Roman"/>
                <a:cs typeface="Times New Roman"/>
              </a:rPr>
              <a:t> </a:t>
            </a:r>
            <a:r>
              <a:rPr sz="1200" dirty="0">
                <a:latin typeface="Times New Roman"/>
                <a:cs typeface="Times New Roman"/>
              </a:rPr>
              <a:t>real-</a:t>
            </a:r>
            <a:r>
              <a:rPr sz="1200" spc="-10" dirty="0">
                <a:latin typeface="Times New Roman"/>
                <a:cs typeface="Times New Roman"/>
              </a:rPr>
              <a:t>world projects.</a:t>
            </a:r>
            <a:endParaRPr sz="1200">
              <a:latin typeface="Times New Roman"/>
              <a:cs typeface="Times New Roman"/>
            </a:endParaRPr>
          </a:p>
          <a:p>
            <a:pPr marL="469900" marR="5715" indent="-229235" algn="just">
              <a:lnSpc>
                <a:spcPct val="145000"/>
              </a:lnSpc>
              <a:spcBef>
                <a:spcPts val="765"/>
              </a:spcBef>
              <a:buFont typeface="Times New Roman"/>
              <a:buAutoNum type="arabicPeriod"/>
              <a:tabLst>
                <a:tab pos="469900" algn="l"/>
              </a:tabLst>
            </a:pPr>
            <a:r>
              <a:rPr sz="1200" b="1" spc="-10" dirty="0">
                <a:latin typeface="Times New Roman"/>
                <a:cs typeface="Times New Roman"/>
              </a:rPr>
              <a:t>Hands-</a:t>
            </a:r>
            <a:r>
              <a:rPr sz="1200" b="1" dirty="0">
                <a:latin typeface="Times New Roman"/>
                <a:cs typeface="Times New Roman"/>
              </a:rPr>
              <a:t>On</a:t>
            </a:r>
            <a:r>
              <a:rPr sz="1200" b="1" spc="145" dirty="0">
                <a:latin typeface="Times New Roman"/>
                <a:cs typeface="Times New Roman"/>
              </a:rPr>
              <a:t> </a:t>
            </a:r>
            <a:r>
              <a:rPr sz="1200" b="1" dirty="0">
                <a:latin typeface="Times New Roman"/>
                <a:cs typeface="Times New Roman"/>
              </a:rPr>
              <a:t>Learning:</a:t>
            </a:r>
            <a:r>
              <a:rPr sz="1200" b="1" spc="165" dirty="0">
                <a:latin typeface="Times New Roman"/>
                <a:cs typeface="Times New Roman"/>
              </a:rPr>
              <a:t> </a:t>
            </a:r>
            <a:r>
              <a:rPr sz="1200" dirty="0">
                <a:latin typeface="Times New Roman"/>
                <a:cs typeface="Times New Roman"/>
              </a:rPr>
              <a:t>Participants</a:t>
            </a:r>
            <a:r>
              <a:rPr sz="1200" spc="135" dirty="0">
                <a:latin typeface="Times New Roman"/>
                <a:cs typeface="Times New Roman"/>
              </a:rPr>
              <a:t> </a:t>
            </a:r>
            <a:r>
              <a:rPr sz="1200" dirty="0">
                <a:latin typeface="Times New Roman"/>
                <a:cs typeface="Times New Roman"/>
              </a:rPr>
              <a:t>get</a:t>
            </a:r>
            <a:r>
              <a:rPr sz="1200" spc="15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dirty="0">
                <a:latin typeface="Times New Roman"/>
                <a:cs typeface="Times New Roman"/>
              </a:rPr>
              <a:t>opportunity</a:t>
            </a:r>
            <a:r>
              <a:rPr sz="1200" spc="105"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dirty="0">
                <a:latin typeface="Times New Roman"/>
                <a:cs typeface="Times New Roman"/>
              </a:rPr>
              <a:t>work</a:t>
            </a:r>
            <a:r>
              <a:rPr sz="1200" spc="100" dirty="0">
                <a:latin typeface="Times New Roman"/>
                <a:cs typeface="Times New Roman"/>
              </a:rPr>
              <a:t> </a:t>
            </a:r>
            <a:r>
              <a:rPr sz="1200" dirty="0">
                <a:latin typeface="Times New Roman"/>
                <a:cs typeface="Times New Roman"/>
              </a:rPr>
              <a:t>on</a:t>
            </a:r>
            <a:r>
              <a:rPr sz="1200" spc="145" dirty="0">
                <a:latin typeface="Times New Roman"/>
                <a:cs typeface="Times New Roman"/>
              </a:rPr>
              <a:t> </a:t>
            </a:r>
            <a:r>
              <a:rPr sz="1200" dirty="0">
                <a:latin typeface="Times New Roman"/>
                <a:cs typeface="Times New Roman"/>
              </a:rPr>
              <a:t>live</a:t>
            </a:r>
            <a:r>
              <a:rPr sz="1200" spc="140" dirty="0">
                <a:latin typeface="Times New Roman"/>
                <a:cs typeface="Times New Roman"/>
              </a:rPr>
              <a:t> </a:t>
            </a:r>
            <a:r>
              <a:rPr sz="1200" dirty="0">
                <a:latin typeface="Times New Roman"/>
                <a:cs typeface="Times New Roman"/>
              </a:rPr>
              <a:t>projects,</a:t>
            </a:r>
            <a:r>
              <a:rPr sz="1200" spc="155" dirty="0">
                <a:latin typeface="Times New Roman"/>
                <a:cs typeface="Times New Roman"/>
              </a:rPr>
              <a:t> </a:t>
            </a:r>
            <a:r>
              <a:rPr sz="1200" spc="-10" dirty="0">
                <a:latin typeface="Times New Roman"/>
                <a:cs typeface="Times New Roman"/>
              </a:rPr>
              <a:t>which </a:t>
            </a:r>
            <a:r>
              <a:rPr sz="1200" dirty="0">
                <a:latin typeface="Times New Roman"/>
                <a:cs typeface="Times New Roman"/>
              </a:rPr>
              <a:t>helps</a:t>
            </a:r>
            <a:r>
              <a:rPr sz="1200" spc="-2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understanding</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end-</a:t>
            </a:r>
            <a:r>
              <a:rPr sz="1200" dirty="0">
                <a:latin typeface="Times New Roman"/>
                <a:cs typeface="Times New Roman"/>
              </a:rPr>
              <a:t>to-end</a:t>
            </a:r>
            <a:r>
              <a:rPr sz="1200" spc="-30" dirty="0">
                <a:latin typeface="Times New Roman"/>
                <a:cs typeface="Times New Roman"/>
              </a:rPr>
              <a:t> </a:t>
            </a:r>
            <a:r>
              <a:rPr sz="1200" dirty="0">
                <a:latin typeface="Times New Roman"/>
                <a:cs typeface="Times New Roman"/>
              </a:rPr>
              <a:t>software</a:t>
            </a:r>
            <a:r>
              <a:rPr sz="1200" spc="-35" dirty="0">
                <a:latin typeface="Times New Roman"/>
                <a:cs typeface="Times New Roman"/>
              </a:rPr>
              <a:t> </a:t>
            </a:r>
            <a:r>
              <a:rPr sz="1200" dirty="0">
                <a:latin typeface="Times New Roman"/>
                <a:cs typeface="Times New Roman"/>
              </a:rPr>
              <a:t>development</a:t>
            </a:r>
            <a:r>
              <a:rPr sz="1200" spc="-10" dirty="0">
                <a:latin typeface="Times New Roman"/>
                <a:cs typeface="Times New Roman"/>
              </a:rPr>
              <a:t> lifecycle.</a:t>
            </a:r>
            <a:endParaRPr sz="1200">
              <a:latin typeface="Times New Roman"/>
              <a:cs typeface="Times New Roman"/>
            </a:endParaRPr>
          </a:p>
          <a:p>
            <a:pPr marL="469900" marR="8255" indent="-229235" algn="just">
              <a:lnSpc>
                <a:spcPct val="146700"/>
              </a:lnSpc>
              <a:spcBef>
                <a:spcPts val="720"/>
              </a:spcBef>
              <a:buFont typeface="Times New Roman"/>
              <a:buAutoNum type="arabicPeriod"/>
              <a:tabLst>
                <a:tab pos="469900" algn="l"/>
              </a:tabLst>
            </a:pPr>
            <a:r>
              <a:rPr sz="1200" b="1" dirty="0">
                <a:latin typeface="Times New Roman"/>
                <a:cs typeface="Times New Roman"/>
              </a:rPr>
              <a:t>Expert</a:t>
            </a:r>
            <a:r>
              <a:rPr sz="1200" b="1" spc="70" dirty="0">
                <a:latin typeface="Times New Roman"/>
                <a:cs typeface="Times New Roman"/>
              </a:rPr>
              <a:t> </a:t>
            </a:r>
            <a:r>
              <a:rPr sz="1200" b="1" dirty="0">
                <a:latin typeface="Times New Roman"/>
                <a:cs typeface="Times New Roman"/>
              </a:rPr>
              <a:t>Mentorship:</a:t>
            </a:r>
            <a:r>
              <a:rPr sz="1200" b="1" spc="60" dirty="0">
                <a:latin typeface="Times New Roman"/>
                <a:cs typeface="Times New Roman"/>
              </a:rPr>
              <a:t> </a:t>
            </a:r>
            <a:r>
              <a:rPr sz="1200" dirty="0">
                <a:latin typeface="Times New Roman"/>
                <a:cs typeface="Times New Roman"/>
              </a:rPr>
              <a:t>Experienced</a:t>
            </a:r>
            <a:r>
              <a:rPr sz="1200" spc="70" dirty="0">
                <a:latin typeface="Times New Roman"/>
                <a:cs typeface="Times New Roman"/>
              </a:rPr>
              <a:t> </a:t>
            </a:r>
            <a:r>
              <a:rPr sz="1200" dirty="0">
                <a:latin typeface="Times New Roman"/>
                <a:cs typeface="Times New Roman"/>
              </a:rPr>
              <a:t>professionals</a:t>
            </a:r>
            <a:r>
              <a:rPr sz="1200" spc="55" dirty="0">
                <a:latin typeface="Times New Roman"/>
                <a:cs typeface="Times New Roman"/>
              </a:rPr>
              <a:t> </a:t>
            </a:r>
            <a:r>
              <a:rPr sz="1200" dirty="0">
                <a:latin typeface="Times New Roman"/>
                <a:cs typeface="Times New Roman"/>
              </a:rPr>
              <a:t>provide</a:t>
            </a:r>
            <a:r>
              <a:rPr sz="1200" spc="60" dirty="0">
                <a:latin typeface="Times New Roman"/>
                <a:cs typeface="Times New Roman"/>
              </a:rPr>
              <a:t> </a:t>
            </a:r>
            <a:r>
              <a:rPr sz="1200" dirty="0">
                <a:latin typeface="Times New Roman"/>
                <a:cs typeface="Times New Roman"/>
              </a:rPr>
              <a:t>guidance,</a:t>
            </a:r>
            <a:r>
              <a:rPr sz="1200" spc="75" dirty="0">
                <a:latin typeface="Times New Roman"/>
                <a:cs typeface="Times New Roman"/>
              </a:rPr>
              <a:t> </a:t>
            </a:r>
            <a:r>
              <a:rPr sz="1200" dirty="0">
                <a:latin typeface="Times New Roman"/>
                <a:cs typeface="Times New Roman"/>
              </a:rPr>
              <a:t>support,</a:t>
            </a:r>
            <a:r>
              <a:rPr sz="1200" spc="60"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spc="-10" dirty="0">
                <a:latin typeface="Times New Roman"/>
                <a:cs typeface="Times New Roman"/>
              </a:rPr>
              <a:t>insights </a:t>
            </a:r>
            <a:r>
              <a:rPr sz="1200" dirty="0">
                <a:latin typeface="Times New Roman"/>
                <a:cs typeface="Times New Roman"/>
              </a:rPr>
              <a:t>throughout</a:t>
            </a:r>
            <a:r>
              <a:rPr sz="1200" spc="-4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training</a:t>
            </a:r>
            <a:r>
              <a:rPr sz="1200" spc="-25" dirty="0">
                <a:latin typeface="Times New Roman"/>
                <a:cs typeface="Times New Roman"/>
              </a:rPr>
              <a:t> </a:t>
            </a:r>
            <a:r>
              <a:rPr sz="1200" spc="-10" dirty="0">
                <a:latin typeface="Times New Roman"/>
                <a:cs typeface="Times New Roman"/>
              </a:rPr>
              <a:t>program.</a:t>
            </a:r>
            <a:endParaRPr sz="12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6</a:t>
            </a:r>
          </a:p>
        </p:txBody>
      </p:sp>
      <p:sp>
        <p:nvSpPr>
          <p:cNvPr id="2" name="object 2"/>
          <p:cNvSpPr txBox="1"/>
          <p:nvPr/>
        </p:nvSpPr>
        <p:spPr>
          <a:xfrm>
            <a:off x="1130604" y="807465"/>
            <a:ext cx="5740400" cy="1708785"/>
          </a:xfrm>
          <a:prstGeom prst="rect">
            <a:avLst/>
          </a:prstGeom>
        </p:spPr>
        <p:txBody>
          <a:bodyPr vert="horz" wrap="square" lIns="0" tIns="10795" rIns="0" bIns="0" rtlCol="0">
            <a:spAutoFit/>
          </a:bodyPr>
          <a:lstStyle/>
          <a:p>
            <a:pPr marL="241300" marR="5080" indent="-229235" algn="just">
              <a:lnSpc>
                <a:spcPct val="144300"/>
              </a:lnSpc>
              <a:spcBef>
                <a:spcPts val="85"/>
              </a:spcBef>
              <a:buFont typeface="Times New Roman"/>
              <a:buAutoNum type="arabicPeriod" startAt="4"/>
              <a:tabLst>
                <a:tab pos="241300" algn="l"/>
              </a:tabLst>
            </a:pPr>
            <a:r>
              <a:rPr sz="1200" b="1" dirty="0">
                <a:latin typeface="Times New Roman"/>
                <a:cs typeface="Times New Roman"/>
              </a:rPr>
              <a:t>Use</a:t>
            </a:r>
            <a:r>
              <a:rPr sz="1200" b="1" spc="385" dirty="0">
                <a:latin typeface="Times New Roman"/>
                <a:cs typeface="Times New Roman"/>
              </a:rPr>
              <a:t> </a:t>
            </a:r>
            <a:r>
              <a:rPr sz="1200" b="1" dirty="0">
                <a:latin typeface="Times New Roman"/>
                <a:cs typeface="Times New Roman"/>
              </a:rPr>
              <a:t>of</a:t>
            </a:r>
            <a:r>
              <a:rPr sz="1200" b="1" spc="380" dirty="0">
                <a:latin typeface="Times New Roman"/>
                <a:cs typeface="Times New Roman"/>
              </a:rPr>
              <a:t> </a:t>
            </a:r>
            <a:r>
              <a:rPr sz="1200" b="1" dirty="0">
                <a:latin typeface="Times New Roman"/>
                <a:cs typeface="Times New Roman"/>
              </a:rPr>
              <a:t>Modern</a:t>
            </a:r>
            <a:r>
              <a:rPr sz="1200" b="1" spc="375" dirty="0">
                <a:latin typeface="Times New Roman"/>
                <a:cs typeface="Times New Roman"/>
              </a:rPr>
              <a:t> </a:t>
            </a:r>
            <a:r>
              <a:rPr sz="1200" b="1" dirty="0">
                <a:latin typeface="Times New Roman"/>
                <a:cs typeface="Times New Roman"/>
              </a:rPr>
              <a:t>Technologies:</a:t>
            </a:r>
            <a:r>
              <a:rPr sz="1200" b="1" spc="395" dirty="0">
                <a:latin typeface="Times New Roman"/>
                <a:cs typeface="Times New Roman"/>
              </a:rPr>
              <a:t> </a:t>
            </a:r>
            <a:r>
              <a:rPr sz="1200" dirty="0">
                <a:latin typeface="Times New Roman"/>
                <a:cs typeface="Times New Roman"/>
              </a:rPr>
              <a:t>The</a:t>
            </a:r>
            <a:r>
              <a:rPr sz="1200" spc="390" dirty="0">
                <a:latin typeface="Times New Roman"/>
                <a:cs typeface="Times New Roman"/>
              </a:rPr>
              <a:t> </a:t>
            </a:r>
            <a:r>
              <a:rPr sz="1200" dirty="0">
                <a:latin typeface="Times New Roman"/>
                <a:cs typeface="Times New Roman"/>
              </a:rPr>
              <a:t>platform</a:t>
            </a:r>
            <a:r>
              <a:rPr sz="1200" spc="350" dirty="0">
                <a:latin typeface="Times New Roman"/>
                <a:cs typeface="Times New Roman"/>
              </a:rPr>
              <a:t> </a:t>
            </a:r>
            <a:r>
              <a:rPr sz="1200" dirty="0">
                <a:latin typeface="Times New Roman"/>
                <a:cs typeface="Times New Roman"/>
              </a:rPr>
              <a:t>emphasizes</a:t>
            </a:r>
            <a:r>
              <a:rPr sz="1200" spc="385" dirty="0">
                <a:latin typeface="Times New Roman"/>
                <a:cs typeface="Times New Roman"/>
              </a:rPr>
              <a:t> </a:t>
            </a:r>
            <a:r>
              <a:rPr sz="1200" dirty="0">
                <a:latin typeface="Times New Roman"/>
                <a:cs typeface="Times New Roman"/>
              </a:rPr>
              <a:t>the</a:t>
            </a:r>
            <a:r>
              <a:rPr sz="1200" spc="390" dirty="0">
                <a:latin typeface="Times New Roman"/>
                <a:cs typeface="Times New Roman"/>
              </a:rPr>
              <a:t> </a:t>
            </a:r>
            <a:r>
              <a:rPr sz="1200" dirty="0">
                <a:latin typeface="Times New Roman"/>
                <a:cs typeface="Times New Roman"/>
              </a:rPr>
              <a:t>use</a:t>
            </a:r>
            <a:r>
              <a:rPr sz="1200" spc="385" dirty="0">
                <a:latin typeface="Times New Roman"/>
                <a:cs typeface="Times New Roman"/>
              </a:rPr>
              <a:t> </a:t>
            </a:r>
            <a:r>
              <a:rPr sz="1200" dirty="0">
                <a:latin typeface="Times New Roman"/>
                <a:cs typeface="Times New Roman"/>
              </a:rPr>
              <a:t>of</a:t>
            </a:r>
            <a:r>
              <a:rPr sz="1200" spc="380" dirty="0">
                <a:latin typeface="Times New Roman"/>
                <a:cs typeface="Times New Roman"/>
              </a:rPr>
              <a:t> </a:t>
            </a:r>
            <a:r>
              <a:rPr sz="1200" dirty="0">
                <a:latin typeface="Times New Roman"/>
                <a:cs typeface="Times New Roman"/>
              </a:rPr>
              <a:t>modern</a:t>
            </a:r>
            <a:r>
              <a:rPr sz="1200" spc="370" dirty="0">
                <a:latin typeface="Times New Roman"/>
                <a:cs typeface="Times New Roman"/>
              </a:rPr>
              <a:t> </a:t>
            </a:r>
            <a:r>
              <a:rPr sz="1200" spc="-25" dirty="0">
                <a:latin typeface="Times New Roman"/>
                <a:cs typeface="Times New Roman"/>
              </a:rPr>
              <a:t>web </a:t>
            </a:r>
            <a:r>
              <a:rPr sz="1200" dirty="0">
                <a:latin typeface="Times New Roman"/>
                <a:cs typeface="Times New Roman"/>
              </a:rPr>
              <a:t>development</a:t>
            </a:r>
            <a:r>
              <a:rPr sz="1200" spc="10" dirty="0">
                <a:latin typeface="Times New Roman"/>
                <a:cs typeface="Times New Roman"/>
              </a:rPr>
              <a:t> </a:t>
            </a:r>
            <a:r>
              <a:rPr sz="1200" dirty="0">
                <a:latin typeface="Times New Roman"/>
                <a:cs typeface="Times New Roman"/>
              </a:rPr>
              <a:t>technologies</a:t>
            </a:r>
            <a:r>
              <a:rPr sz="1200" spc="-25" dirty="0">
                <a:latin typeface="Times New Roman"/>
                <a:cs typeface="Times New Roman"/>
              </a:rPr>
              <a:t> </a:t>
            </a:r>
            <a:r>
              <a:rPr sz="1200" dirty="0">
                <a:latin typeface="Times New Roman"/>
                <a:cs typeface="Times New Roman"/>
              </a:rPr>
              <a:t>such</a:t>
            </a:r>
            <a:r>
              <a:rPr sz="1200" spc="-30" dirty="0">
                <a:latin typeface="Times New Roman"/>
                <a:cs typeface="Times New Roman"/>
              </a:rPr>
              <a:t> </a:t>
            </a:r>
            <a:r>
              <a:rPr sz="1200" dirty="0">
                <a:latin typeface="Times New Roman"/>
                <a:cs typeface="Times New Roman"/>
              </a:rPr>
              <a:t>as</a:t>
            </a:r>
            <a:r>
              <a:rPr sz="1200" spc="-20" dirty="0">
                <a:latin typeface="Times New Roman"/>
                <a:cs typeface="Times New Roman"/>
              </a:rPr>
              <a:t> </a:t>
            </a:r>
            <a:r>
              <a:rPr sz="1200" dirty="0">
                <a:latin typeface="Times New Roman"/>
                <a:cs typeface="Times New Roman"/>
              </a:rPr>
              <a:t>React.js, Node.js, and</a:t>
            </a:r>
            <a:r>
              <a:rPr sz="1200" spc="-15" dirty="0">
                <a:latin typeface="Times New Roman"/>
                <a:cs typeface="Times New Roman"/>
              </a:rPr>
              <a:t> </a:t>
            </a:r>
            <a:r>
              <a:rPr sz="1200" dirty="0">
                <a:latin typeface="Times New Roman"/>
                <a:cs typeface="Times New Roman"/>
              </a:rPr>
              <a:t>Firebase, which</a:t>
            </a:r>
            <a:r>
              <a:rPr sz="1200" spc="-35"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essential</a:t>
            </a:r>
            <a:r>
              <a:rPr sz="1200" spc="-10" dirty="0">
                <a:latin typeface="Times New Roman"/>
                <a:cs typeface="Times New Roman"/>
              </a:rPr>
              <a:t> </a:t>
            </a:r>
            <a:r>
              <a:rPr sz="1200" spc="-25" dirty="0">
                <a:latin typeface="Times New Roman"/>
                <a:cs typeface="Times New Roman"/>
              </a:rPr>
              <a:t>for </a:t>
            </a:r>
            <a:r>
              <a:rPr sz="1200" spc="-10" dirty="0">
                <a:latin typeface="Times New Roman"/>
                <a:cs typeface="Times New Roman"/>
              </a:rPr>
              <a:t>full-</a:t>
            </a:r>
            <a:r>
              <a:rPr sz="1200" dirty="0">
                <a:latin typeface="Times New Roman"/>
                <a:cs typeface="Times New Roman"/>
              </a:rPr>
              <a:t>stack </a:t>
            </a:r>
            <a:r>
              <a:rPr sz="1200" spc="-10" dirty="0">
                <a:latin typeface="Times New Roman"/>
                <a:cs typeface="Times New Roman"/>
              </a:rPr>
              <a:t>development.</a:t>
            </a:r>
            <a:endParaRPr sz="1200">
              <a:latin typeface="Times New Roman"/>
              <a:cs typeface="Times New Roman"/>
            </a:endParaRPr>
          </a:p>
          <a:p>
            <a:pPr marL="241300" marR="5080" indent="-229235" algn="just">
              <a:lnSpc>
                <a:spcPct val="145000"/>
              </a:lnSpc>
              <a:spcBef>
                <a:spcPts val="770"/>
              </a:spcBef>
              <a:buFont typeface="Times New Roman"/>
              <a:buAutoNum type="arabicPeriod" startAt="4"/>
              <a:tabLst>
                <a:tab pos="241300" algn="l"/>
              </a:tabLst>
            </a:pPr>
            <a:r>
              <a:rPr sz="1200" b="1" dirty="0">
                <a:latin typeface="Times New Roman"/>
                <a:cs typeface="Times New Roman"/>
              </a:rPr>
              <a:t>Exposure</a:t>
            </a:r>
            <a:r>
              <a:rPr sz="1200" b="1" spc="70" dirty="0">
                <a:latin typeface="Times New Roman"/>
                <a:cs typeface="Times New Roman"/>
              </a:rPr>
              <a:t> </a:t>
            </a:r>
            <a:r>
              <a:rPr sz="1200" b="1" dirty="0">
                <a:latin typeface="Times New Roman"/>
                <a:cs typeface="Times New Roman"/>
              </a:rPr>
              <a:t>to</a:t>
            </a:r>
            <a:r>
              <a:rPr sz="1200" b="1" spc="80" dirty="0">
                <a:latin typeface="Times New Roman"/>
                <a:cs typeface="Times New Roman"/>
              </a:rPr>
              <a:t> </a:t>
            </a:r>
            <a:r>
              <a:rPr sz="1200" b="1" dirty="0">
                <a:latin typeface="Times New Roman"/>
                <a:cs typeface="Times New Roman"/>
              </a:rPr>
              <a:t>Corporate</a:t>
            </a:r>
            <a:r>
              <a:rPr sz="1200" b="1" spc="75" dirty="0">
                <a:latin typeface="Times New Roman"/>
                <a:cs typeface="Times New Roman"/>
              </a:rPr>
              <a:t> </a:t>
            </a:r>
            <a:r>
              <a:rPr sz="1200" b="1" dirty="0">
                <a:latin typeface="Times New Roman"/>
                <a:cs typeface="Times New Roman"/>
              </a:rPr>
              <a:t>Environment:</a:t>
            </a:r>
            <a:r>
              <a:rPr sz="1200" b="1" spc="60" dirty="0">
                <a:latin typeface="Times New Roman"/>
                <a:cs typeface="Times New Roman"/>
              </a:rPr>
              <a:t> </a:t>
            </a:r>
            <a:r>
              <a:rPr sz="1200" dirty="0">
                <a:latin typeface="Times New Roman"/>
                <a:cs typeface="Times New Roman"/>
              </a:rPr>
              <a:t>Training</a:t>
            </a:r>
            <a:r>
              <a:rPr sz="1200" spc="80"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corporate</a:t>
            </a:r>
            <a:r>
              <a:rPr sz="1200" spc="50" dirty="0">
                <a:latin typeface="Times New Roman"/>
                <a:cs typeface="Times New Roman"/>
              </a:rPr>
              <a:t> </a:t>
            </a:r>
            <a:r>
              <a:rPr sz="1200" dirty="0">
                <a:latin typeface="Times New Roman"/>
                <a:cs typeface="Times New Roman"/>
              </a:rPr>
              <a:t>setup</a:t>
            </a:r>
            <a:r>
              <a:rPr sz="1200" spc="55" dirty="0">
                <a:latin typeface="Times New Roman"/>
                <a:cs typeface="Times New Roman"/>
              </a:rPr>
              <a:t> </a:t>
            </a:r>
            <a:r>
              <a:rPr sz="1200" dirty="0">
                <a:latin typeface="Times New Roman"/>
                <a:cs typeface="Times New Roman"/>
              </a:rPr>
              <a:t>helps</a:t>
            </a:r>
            <a:r>
              <a:rPr sz="1200" spc="70" dirty="0">
                <a:latin typeface="Times New Roman"/>
                <a:cs typeface="Times New Roman"/>
              </a:rPr>
              <a:t> </a:t>
            </a:r>
            <a:r>
              <a:rPr sz="1200" spc="-10" dirty="0">
                <a:latin typeface="Times New Roman"/>
                <a:cs typeface="Times New Roman"/>
              </a:rPr>
              <a:t>participants </a:t>
            </a:r>
            <a:r>
              <a:rPr sz="1200" dirty="0">
                <a:latin typeface="Times New Roman"/>
                <a:cs typeface="Times New Roman"/>
              </a:rPr>
              <a:t>understand</a:t>
            </a:r>
            <a:r>
              <a:rPr sz="1200" spc="295" dirty="0">
                <a:latin typeface="Times New Roman"/>
                <a:cs typeface="Times New Roman"/>
              </a:rPr>
              <a:t> </a:t>
            </a:r>
            <a:r>
              <a:rPr sz="1200" dirty="0">
                <a:latin typeface="Times New Roman"/>
                <a:cs typeface="Times New Roman"/>
              </a:rPr>
              <a:t>professional</a:t>
            </a:r>
            <a:r>
              <a:rPr sz="1200" spc="254" dirty="0">
                <a:latin typeface="Times New Roman"/>
                <a:cs typeface="Times New Roman"/>
              </a:rPr>
              <a:t> </a:t>
            </a:r>
            <a:r>
              <a:rPr sz="1200" dirty="0">
                <a:latin typeface="Times New Roman"/>
                <a:cs typeface="Times New Roman"/>
              </a:rPr>
              <a:t>workflows,</a:t>
            </a:r>
            <a:r>
              <a:rPr sz="1200" spc="305" dirty="0">
                <a:latin typeface="Times New Roman"/>
                <a:cs typeface="Times New Roman"/>
              </a:rPr>
              <a:t> </a:t>
            </a:r>
            <a:r>
              <a:rPr sz="1200" dirty="0">
                <a:latin typeface="Times New Roman"/>
                <a:cs typeface="Times New Roman"/>
              </a:rPr>
              <a:t>project</a:t>
            </a:r>
            <a:r>
              <a:rPr sz="1200" spc="315" dirty="0">
                <a:latin typeface="Times New Roman"/>
                <a:cs typeface="Times New Roman"/>
              </a:rPr>
              <a:t> </a:t>
            </a:r>
            <a:r>
              <a:rPr sz="1200" dirty="0">
                <a:latin typeface="Times New Roman"/>
                <a:cs typeface="Times New Roman"/>
              </a:rPr>
              <a:t>management</a:t>
            </a:r>
            <a:r>
              <a:rPr sz="1200" spc="320" dirty="0">
                <a:latin typeface="Times New Roman"/>
                <a:cs typeface="Times New Roman"/>
              </a:rPr>
              <a:t> </a:t>
            </a:r>
            <a:r>
              <a:rPr sz="1200" dirty="0">
                <a:latin typeface="Times New Roman"/>
                <a:cs typeface="Times New Roman"/>
              </a:rPr>
              <a:t>practices,</a:t>
            </a:r>
            <a:r>
              <a:rPr sz="1200" spc="300" dirty="0">
                <a:latin typeface="Times New Roman"/>
                <a:cs typeface="Times New Roman"/>
              </a:rPr>
              <a:t> </a:t>
            </a:r>
            <a:r>
              <a:rPr sz="1200" dirty="0">
                <a:latin typeface="Times New Roman"/>
                <a:cs typeface="Times New Roman"/>
              </a:rPr>
              <a:t>and</a:t>
            </a:r>
            <a:r>
              <a:rPr sz="1200" spc="295" dirty="0">
                <a:latin typeface="Times New Roman"/>
                <a:cs typeface="Times New Roman"/>
              </a:rPr>
              <a:t> </a:t>
            </a:r>
            <a:r>
              <a:rPr sz="1200" spc="-10" dirty="0">
                <a:latin typeface="Times New Roman"/>
                <a:cs typeface="Times New Roman"/>
              </a:rPr>
              <a:t>collaboration </a:t>
            </a:r>
            <a:r>
              <a:rPr sz="1200" dirty="0">
                <a:latin typeface="Times New Roman"/>
                <a:cs typeface="Times New Roman"/>
              </a:rPr>
              <a:t>within</a:t>
            </a:r>
            <a:r>
              <a:rPr sz="1200" spc="-4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3" name="object 3"/>
          <p:cNvSpPr txBox="1"/>
          <p:nvPr/>
        </p:nvSpPr>
        <p:spPr>
          <a:xfrm>
            <a:off x="902004" y="3036188"/>
            <a:ext cx="5968365" cy="4117340"/>
          </a:xfrm>
          <a:prstGeom prst="rect">
            <a:avLst/>
          </a:prstGeom>
        </p:spPr>
        <p:txBody>
          <a:bodyPr vert="horz" wrap="square" lIns="0" tIns="11430" rIns="0" bIns="0" rtlCol="0">
            <a:spAutoFit/>
          </a:bodyPr>
          <a:lstStyle/>
          <a:p>
            <a:pPr marL="12700" algn="just">
              <a:lnSpc>
                <a:spcPct val="100000"/>
              </a:lnSpc>
              <a:spcBef>
                <a:spcPts val="90"/>
              </a:spcBef>
            </a:pPr>
            <a:r>
              <a:rPr sz="1400" b="1" dirty="0">
                <a:latin typeface="Times New Roman"/>
                <a:cs typeface="Times New Roman"/>
              </a:rPr>
              <a:t>2.3</a:t>
            </a:r>
            <a:r>
              <a:rPr sz="1400" b="1" spc="-30" dirty="0">
                <a:latin typeface="Times New Roman"/>
                <a:cs typeface="Times New Roman"/>
              </a:rPr>
              <a:t> </a:t>
            </a:r>
            <a:r>
              <a:rPr sz="1400" b="1" dirty="0">
                <a:latin typeface="Times New Roman"/>
                <a:cs typeface="Times New Roman"/>
              </a:rPr>
              <a:t>Profile</a:t>
            </a:r>
            <a:r>
              <a:rPr sz="1400" b="1" spc="-25" dirty="0">
                <a:latin typeface="Times New Roman"/>
                <a:cs typeface="Times New Roman"/>
              </a:rPr>
              <a:t> </a:t>
            </a:r>
            <a:r>
              <a:rPr sz="1400" b="1" dirty="0">
                <a:latin typeface="Times New Roman"/>
                <a:cs typeface="Times New Roman"/>
              </a:rPr>
              <a:t>of</a:t>
            </a:r>
            <a:r>
              <a:rPr sz="1400" b="1" spc="-20" dirty="0">
                <a:latin typeface="Times New Roman"/>
                <a:cs typeface="Times New Roman"/>
              </a:rPr>
              <a:t> </a:t>
            </a:r>
            <a:r>
              <a:rPr sz="1400" b="1" spc="-10" dirty="0">
                <a:latin typeface="Times New Roman"/>
                <a:cs typeface="Times New Roman"/>
              </a:rPr>
              <a:t>Organization</a:t>
            </a:r>
            <a:r>
              <a:rPr sz="1400" b="1" spc="-30" dirty="0">
                <a:latin typeface="Times New Roman"/>
                <a:cs typeface="Times New Roman"/>
              </a:rPr>
              <a:t> </a:t>
            </a:r>
            <a:r>
              <a:rPr sz="1400" b="1" dirty="0">
                <a:latin typeface="Times New Roman"/>
                <a:cs typeface="Times New Roman"/>
              </a:rPr>
              <a:t>Providing</a:t>
            </a:r>
            <a:r>
              <a:rPr sz="1400" b="1" spc="-30" dirty="0">
                <a:latin typeface="Times New Roman"/>
                <a:cs typeface="Times New Roman"/>
              </a:rPr>
              <a:t> </a:t>
            </a:r>
            <a:r>
              <a:rPr sz="1400" b="1" dirty="0">
                <a:latin typeface="Times New Roman"/>
                <a:cs typeface="Times New Roman"/>
              </a:rPr>
              <a:t>the</a:t>
            </a:r>
            <a:r>
              <a:rPr sz="1400" b="1" spc="-5" dirty="0">
                <a:latin typeface="Times New Roman"/>
                <a:cs typeface="Times New Roman"/>
              </a:rPr>
              <a:t> </a:t>
            </a:r>
            <a:r>
              <a:rPr sz="1400" b="1" spc="-10" dirty="0">
                <a:latin typeface="Times New Roman"/>
                <a:cs typeface="Times New Roman"/>
              </a:rPr>
              <a:t>Course</a:t>
            </a:r>
            <a:endParaRPr sz="1400">
              <a:latin typeface="Times New Roman"/>
              <a:cs typeface="Times New Roman"/>
            </a:endParaRPr>
          </a:p>
          <a:p>
            <a:pPr marL="12700" marR="5080" algn="just">
              <a:lnSpc>
                <a:spcPct val="144000"/>
              </a:lnSpc>
              <a:spcBef>
                <a:spcPts val="885"/>
              </a:spcBef>
            </a:pPr>
            <a:r>
              <a:rPr sz="1200" b="1" dirty="0">
                <a:latin typeface="Times New Roman"/>
                <a:cs typeface="Times New Roman"/>
              </a:rPr>
              <a:t>Seldon</a:t>
            </a:r>
            <a:r>
              <a:rPr sz="1200" b="1" spc="335" dirty="0">
                <a:latin typeface="Times New Roman"/>
                <a:cs typeface="Times New Roman"/>
              </a:rPr>
              <a:t> </a:t>
            </a:r>
            <a:r>
              <a:rPr sz="1200" b="1" dirty="0">
                <a:latin typeface="Times New Roman"/>
                <a:cs typeface="Times New Roman"/>
              </a:rPr>
              <a:t>India</a:t>
            </a:r>
            <a:r>
              <a:rPr sz="1200" b="1" spc="315" dirty="0">
                <a:latin typeface="Times New Roman"/>
                <a:cs typeface="Times New Roman"/>
              </a:rPr>
              <a:t> </a:t>
            </a:r>
            <a:r>
              <a:rPr sz="1200" b="1" dirty="0">
                <a:latin typeface="Times New Roman"/>
                <a:cs typeface="Times New Roman"/>
              </a:rPr>
              <a:t>Technologies</a:t>
            </a:r>
            <a:r>
              <a:rPr sz="1200" b="1" spc="365" dirty="0">
                <a:latin typeface="Times New Roman"/>
                <a:cs typeface="Times New Roman"/>
              </a:rPr>
              <a:t> </a:t>
            </a:r>
            <a:r>
              <a:rPr sz="1200" dirty="0">
                <a:latin typeface="Times New Roman"/>
                <a:cs typeface="Times New Roman"/>
              </a:rPr>
              <a:t>is</a:t>
            </a:r>
            <a:r>
              <a:rPr sz="1200" spc="325" dirty="0">
                <a:latin typeface="Times New Roman"/>
                <a:cs typeface="Times New Roman"/>
              </a:rPr>
              <a:t> </a:t>
            </a:r>
            <a:r>
              <a:rPr sz="1200" dirty="0">
                <a:latin typeface="Times New Roman"/>
                <a:cs typeface="Times New Roman"/>
              </a:rPr>
              <a:t>a</a:t>
            </a:r>
            <a:r>
              <a:rPr sz="1200" spc="335" dirty="0">
                <a:latin typeface="Times New Roman"/>
                <a:cs typeface="Times New Roman"/>
              </a:rPr>
              <a:t> </a:t>
            </a:r>
            <a:r>
              <a:rPr sz="1200" dirty="0">
                <a:latin typeface="Times New Roman"/>
                <a:cs typeface="Times New Roman"/>
              </a:rPr>
              <a:t>professional</a:t>
            </a:r>
            <a:r>
              <a:rPr sz="1200" spc="290" dirty="0">
                <a:latin typeface="Times New Roman"/>
                <a:cs typeface="Times New Roman"/>
              </a:rPr>
              <a:t> </a:t>
            </a:r>
            <a:r>
              <a:rPr sz="1200" dirty="0">
                <a:latin typeface="Times New Roman"/>
                <a:cs typeface="Times New Roman"/>
              </a:rPr>
              <a:t>IT</a:t>
            </a:r>
            <a:r>
              <a:rPr sz="1200" spc="300" dirty="0">
                <a:latin typeface="Times New Roman"/>
                <a:cs typeface="Times New Roman"/>
              </a:rPr>
              <a:t> </a:t>
            </a:r>
            <a:r>
              <a:rPr sz="1200" dirty="0">
                <a:latin typeface="Times New Roman"/>
                <a:cs typeface="Times New Roman"/>
              </a:rPr>
              <a:t>training</a:t>
            </a:r>
            <a:r>
              <a:rPr sz="1200" spc="335" dirty="0">
                <a:latin typeface="Times New Roman"/>
                <a:cs typeface="Times New Roman"/>
              </a:rPr>
              <a:t> </a:t>
            </a:r>
            <a:r>
              <a:rPr sz="1200" dirty="0">
                <a:latin typeface="Times New Roman"/>
                <a:cs typeface="Times New Roman"/>
              </a:rPr>
              <a:t>and</a:t>
            </a:r>
            <a:r>
              <a:rPr sz="1200" spc="335" dirty="0">
                <a:latin typeface="Times New Roman"/>
                <a:cs typeface="Times New Roman"/>
              </a:rPr>
              <a:t> </a:t>
            </a:r>
            <a:r>
              <a:rPr sz="1200" dirty="0">
                <a:latin typeface="Times New Roman"/>
                <a:cs typeface="Times New Roman"/>
              </a:rPr>
              <a:t>consulting</a:t>
            </a:r>
            <a:r>
              <a:rPr sz="1200" spc="335" dirty="0">
                <a:latin typeface="Times New Roman"/>
                <a:cs typeface="Times New Roman"/>
              </a:rPr>
              <a:t> </a:t>
            </a:r>
            <a:r>
              <a:rPr sz="1200" dirty="0">
                <a:latin typeface="Times New Roman"/>
                <a:cs typeface="Times New Roman"/>
              </a:rPr>
              <a:t>organization</a:t>
            </a:r>
            <a:r>
              <a:rPr sz="1200" spc="315" dirty="0">
                <a:latin typeface="Times New Roman"/>
                <a:cs typeface="Times New Roman"/>
              </a:rPr>
              <a:t> </a:t>
            </a:r>
            <a:r>
              <a:rPr sz="1200" spc="-20" dirty="0">
                <a:latin typeface="Times New Roman"/>
                <a:cs typeface="Times New Roman"/>
              </a:rPr>
              <a:t>that </a:t>
            </a:r>
            <a:r>
              <a:rPr sz="1200" dirty="0">
                <a:latin typeface="Times New Roman"/>
                <a:cs typeface="Times New Roman"/>
              </a:rPr>
              <a:t>specializes</a:t>
            </a:r>
            <a:r>
              <a:rPr sz="1200" spc="360" dirty="0">
                <a:latin typeface="Times New Roman"/>
                <a:cs typeface="Times New Roman"/>
              </a:rPr>
              <a:t> </a:t>
            </a:r>
            <a:r>
              <a:rPr sz="1200" dirty="0">
                <a:latin typeface="Times New Roman"/>
                <a:cs typeface="Times New Roman"/>
              </a:rPr>
              <a:t>in</a:t>
            </a:r>
            <a:r>
              <a:rPr sz="1200" spc="325" dirty="0">
                <a:latin typeface="Times New Roman"/>
                <a:cs typeface="Times New Roman"/>
              </a:rPr>
              <a:t> </a:t>
            </a:r>
            <a:r>
              <a:rPr sz="1200" dirty="0">
                <a:latin typeface="Times New Roman"/>
                <a:cs typeface="Times New Roman"/>
              </a:rPr>
              <a:t>providing</a:t>
            </a:r>
            <a:r>
              <a:rPr sz="1200" spc="370" dirty="0">
                <a:latin typeface="Times New Roman"/>
                <a:cs typeface="Times New Roman"/>
              </a:rPr>
              <a:t> </a:t>
            </a:r>
            <a:r>
              <a:rPr sz="1200" spc="-10" dirty="0">
                <a:latin typeface="Times New Roman"/>
                <a:cs typeface="Times New Roman"/>
              </a:rPr>
              <a:t>industry-</a:t>
            </a:r>
            <a:r>
              <a:rPr sz="1200" dirty="0">
                <a:latin typeface="Times New Roman"/>
                <a:cs typeface="Times New Roman"/>
              </a:rPr>
              <a:t>relevant</a:t>
            </a:r>
            <a:r>
              <a:rPr sz="1200" spc="350" dirty="0">
                <a:latin typeface="Times New Roman"/>
                <a:cs typeface="Times New Roman"/>
              </a:rPr>
              <a:t> </a:t>
            </a:r>
            <a:r>
              <a:rPr sz="1200" dirty="0">
                <a:latin typeface="Times New Roman"/>
                <a:cs typeface="Times New Roman"/>
              </a:rPr>
              <a:t>technical</a:t>
            </a:r>
            <a:r>
              <a:rPr sz="1200" spc="330" dirty="0">
                <a:latin typeface="Times New Roman"/>
                <a:cs typeface="Times New Roman"/>
              </a:rPr>
              <a:t> </a:t>
            </a:r>
            <a:r>
              <a:rPr sz="1200" dirty="0">
                <a:latin typeface="Times New Roman"/>
                <a:cs typeface="Times New Roman"/>
              </a:rPr>
              <a:t>courses</a:t>
            </a:r>
            <a:r>
              <a:rPr sz="1200" spc="335" dirty="0">
                <a:latin typeface="Times New Roman"/>
                <a:cs typeface="Times New Roman"/>
              </a:rPr>
              <a:t> </a:t>
            </a:r>
            <a:r>
              <a:rPr sz="1200" dirty="0">
                <a:latin typeface="Times New Roman"/>
                <a:cs typeface="Times New Roman"/>
              </a:rPr>
              <a:t>and</a:t>
            </a:r>
            <a:r>
              <a:rPr sz="1200" spc="350" dirty="0">
                <a:latin typeface="Times New Roman"/>
                <a:cs typeface="Times New Roman"/>
              </a:rPr>
              <a:t> </a:t>
            </a:r>
            <a:r>
              <a:rPr sz="1200" dirty="0">
                <a:latin typeface="Times New Roman"/>
                <a:cs typeface="Times New Roman"/>
              </a:rPr>
              <a:t>corporate</a:t>
            </a:r>
            <a:r>
              <a:rPr sz="1200" spc="345" dirty="0">
                <a:latin typeface="Times New Roman"/>
                <a:cs typeface="Times New Roman"/>
              </a:rPr>
              <a:t> </a:t>
            </a:r>
            <a:r>
              <a:rPr sz="1200" dirty="0">
                <a:latin typeface="Times New Roman"/>
                <a:cs typeface="Times New Roman"/>
              </a:rPr>
              <a:t>internships.</a:t>
            </a:r>
            <a:r>
              <a:rPr sz="1200" spc="335" dirty="0">
                <a:latin typeface="Times New Roman"/>
                <a:cs typeface="Times New Roman"/>
              </a:rPr>
              <a:t> </a:t>
            </a:r>
            <a:r>
              <a:rPr sz="1200" spc="-25" dirty="0">
                <a:latin typeface="Times New Roman"/>
                <a:cs typeface="Times New Roman"/>
              </a:rPr>
              <a:t>The </a:t>
            </a:r>
            <a:r>
              <a:rPr sz="1200" dirty="0">
                <a:latin typeface="Times New Roman"/>
                <a:cs typeface="Times New Roman"/>
              </a:rPr>
              <a:t>organization</a:t>
            </a:r>
            <a:r>
              <a:rPr sz="1200" spc="320" dirty="0">
                <a:latin typeface="Times New Roman"/>
                <a:cs typeface="Times New Roman"/>
              </a:rPr>
              <a:t> </a:t>
            </a:r>
            <a:r>
              <a:rPr sz="1200" dirty="0">
                <a:latin typeface="Times New Roman"/>
                <a:cs typeface="Times New Roman"/>
              </a:rPr>
              <a:t>is</a:t>
            </a:r>
            <a:r>
              <a:rPr sz="1200" spc="310" dirty="0">
                <a:latin typeface="Times New Roman"/>
                <a:cs typeface="Times New Roman"/>
              </a:rPr>
              <a:t> </a:t>
            </a:r>
            <a:r>
              <a:rPr sz="1200" dirty="0">
                <a:latin typeface="Times New Roman"/>
                <a:cs typeface="Times New Roman"/>
              </a:rPr>
              <a:t>committed</a:t>
            </a:r>
            <a:r>
              <a:rPr sz="1200" spc="300" dirty="0">
                <a:latin typeface="Times New Roman"/>
                <a:cs typeface="Times New Roman"/>
              </a:rPr>
              <a:t> </a:t>
            </a:r>
            <a:r>
              <a:rPr sz="1200" dirty="0">
                <a:latin typeface="Times New Roman"/>
                <a:cs typeface="Times New Roman"/>
              </a:rPr>
              <a:t>to</a:t>
            </a:r>
            <a:r>
              <a:rPr sz="1200" spc="345" dirty="0">
                <a:latin typeface="Times New Roman"/>
                <a:cs typeface="Times New Roman"/>
              </a:rPr>
              <a:t> </a:t>
            </a:r>
            <a:r>
              <a:rPr sz="1200" dirty="0">
                <a:latin typeface="Times New Roman"/>
                <a:cs typeface="Times New Roman"/>
              </a:rPr>
              <a:t>bridging</a:t>
            </a:r>
            <a:r>
              <a:rPr sz="1200" spc="325" dirty="0">
                <a:latin typeface="Times New Roman"/>
                <a:cs typeface="Times New Roman"/>
              </a:rPr>
              <a:t> </a:t>
            </a:r>
            <a:r>
              <a:rPr sz="1200" dirty="0">
                <a:latin typeface="Times New Roman"/>
                <a:cs typeface="Times New Roman"/>
              </a:rPr>
              <a:t>the</a:t>
            </a:r>
            <a:r>
              <a:rPr sz="1200" spc="315" dirty="0">
                <a:latin typeface="Times New Roman"/>
                <a:cs typeface="Times New Roman"/>
              </a:rPr>
              <a:t> </a:t>
            </a:r>
            <a:r>
              <a:rPr sz="1200" dirty="0">
                <a:latin typeface="Times New Roman"/>
                <a:cs typeface="Times New Roman"/>
              </a:rPr>
              <a:t>gap</a:t>
            </a:r>
            <a:r>
              <a:rPr sz="1200" spc="325" dirty="0">
                <a:latin typeface="Times New Roman"/>
                <a:cs typeface="Times New Roman"/>
              </a:rPr>
              <a:t> </a:t>
            </a:r>
            <a:r>
              <a:rPr sz="1200" dirty="0">
                <a:latin typeface="Times New Roman"/>
                <a:cs typeface="Times New Roman"/>
              </a:rPr>
              <a:t>between</a:t>
            </a:r>
            <a:r>
              <a:rPr sz="1200" spc="300" dirty="0">
                <a:latin typeface="Times New Roman"/>
                <a:cs typeface="Times New Roman"/>
              </a:rPr>
              <a:t> </a:t>
            </a:r>
            <a:r>
              <a:rPr sz="1200" dirty="0">
                <a:latin typeface="Times New Roman"/>
                <a:cs typeface="Times New Roman"/>
              </a:rPr>
              <a:t>academic</a:t>
            </a:r>
            <a:r>
              <a:rPr sz="1200" spc="320" dirty="0">
                <a:latin typeface="Times New Roman"/>
                <a:cs typeface="Times New Roman"/>
              </a:rPr>
              <a:t> </a:t>
            </a:r>
            <a:r>
              <a:rPr sz="1200" dirty="0">
                <a:latin typeface="Times New Roman"/>
                <a:cs typeface="Times New Roman"/>
              </a:rPr>
              <a:t>knowledge</a:t>
            </a:r>
            <a:r>
              <a:rPr sz="1200" spc="315" dirty="0">
                <a:latin typeface="Times New Roman"/>
                <a:cs typeface="Times New Roman"/>
              </a:rPr>
              <a:t> </a:t>
            </a:r>
            <a:r>
              <a:rPr sz="1200" dirty="0">
                <a:latin typeface="Times New Roman"/>
                <a:cs typeface="Times New Roman"/>
              </a:rPr>
              <a:t>and</a:t>
            </a:r>
            <a:r>
              <a:rPr sz="1200" spc="345" dirty="0">
                <a:latin typeface="Times New Roman"/>
                <a:cs typeface="Times New Roman"/>
              </a:rPr>
              <a:t> </a:t>
            </a:r>
            <a:r>
              <a:rPr sz="1200" spc="-10" dirty="0">
                <a:latin typeface="Times New Roman"/>
                <a:cs typeface="Times New Roman"/>
              </a:rPr>
              <a:t>industry </a:t>
            </a:r>
            <a:r>
              <a:rPr sz="1200" dirty="0">
                <a:latin typeface="Times New Roman"/>
                <a:cs typeface="Times New Roman"/>
              </a:rPr>
              <a:t>requirements</a:t>
            </a:r>
            <a:r>
              <a:rPr sz="1200" spc="-35" dirty="0">
                <a:latin typeface="Times New Roman"/>
                <a:cs typeface="Times New Roman"/>
              </a:rPr>
              <a:t> </a:t>
            </a:r>
            <a:r>
              <a:rPr sz="1200" dirty="0">
                <a:latin typeface="Times New Roman"/>
                <a:cs typeface="Times New Roman"/>
              </a:rPr>
              <a:t>by</a:t>
            </a:r>
            <a:r>
              <a:rPr sz="1200" spc="-65" dirty="0">
                <a:latin typeface="Times New Roman"/>
                <a:cs typeface="Times New Roman"/>
              </a:rPr>
              <a:t> </a:t>
            </a:r>
            <a:r>
              <a:rPr sz="1200" dirty="0">
                <a:latin typeface="Times New Roman"/>
                <a:cs typeface="Times New Roman"/>
              </a:rPr>
              <a:t>offering</a:t>
            </a:r>
            <a:r>
              <a:rPr sz="1200" spc="-5" dirty="0">
                <a:latin typeface="Times New Roman"/>
                <a:cs typeface="Times New Roman"/>
              </a:rPr>
              <a:t> </a:t>
            </a:r>
            <a:r>
              <a:rPr sz="1200" spc="-10" dirty="0">
                <a:latin typeface="Times New Roman"/>
                <a:cs typeface="Times New Roman"/>
              </a:rPr>
              <a:t>hands-</a:t>
            </a:r>
            <a:r>
              <a:rPr sz="1200" dirty="0">
                <a:latin typeface="Times New Roman"/>
                <a:cs typeface="Times New Roman"/>
              </a:rPr>
              <a:t>on</a:t>
            </a:r>
            <a:r>
              <a:rPr sz="1200" spc="-40" dirty="0">
                <a:latin typeface="Times New Roman"/>
                <a:cs typeface="Times New Roman"/>
              </a:rPr>
              <a:t> </a:t>
            </a:r>
            <a:r>
              <a:rPr sz="1200" dirty="0">
                <a:latin typeface="Times New Roman"/>
                <a:cs typeface="Times New Roman"/>
              </a:rPr>
              <a:t>training</a:t>
            </a:r>
            <a:r>
              <a:rPr sz="1200" spc="-20" dirty="0">
                <a:latin typeface="Times New Roman"/>
                <a:cs typeface="Times New Roman"/>
              </a:rPr>
              <a:t> </a:t>
            </a:r>
            <a:r>
              <a:rPr sz="1200" spc="-10" dirty="0">
                <a:latin typeface="Times New Roman"/>
                <a:cs typeface="Times New Roman"/>
              </a:rPr>
              <a:t>programs.</a:t>
            </a:r>
            <a:endParaRPr sz="1200">
              <a:latin typeface="Times New Roman"/>
              <a:cs typeface="Times New Roman"/>
            </a:endParaRPr>
          </a:p>
          <a:p>
            <a:pPr>
              <a:lnSpc>
                <a:spcPct val="100000"/>
              </a:lnSpc>
              <a:spcBef>
                <a:spcPts val="65"/>
              </a:spcBef>
            </a:pPr>
            <a:endParaRPr sz="1200">
              <a:latin typeface="Times New Roman"/>
              <a:cs typeface="Times New Roman"/>
            </a:endParaRPr>
          </a:p>
          <a:p>
            <a:pPr marL="12700" algn="just">
              <a:lnSpc>
                <a:spcPct val="100000"/>
              </a:lnSpc>
            </a:pP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features</a:t>
            </a:r>
            <a:r>
              <a:rPr sz="1200" spc="-1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organization</a:t>
            </a:r>
            <a:r>
              <a:rPr sz="120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469900" marR="5715" indent="-229235">
              <a:lnSpc>
                <a:spcPct val="145000"/>
              </a:lnSpc>
              <a:spcBef>
                <a:spcPts val="765"/>
              </a:spcBef>
              <a:buSzPct val="83333"/>
              <a:buFont typeface="Symbol"/>
              <a:buChar char=""/>
              <a:tabLst>
                <a:tab pos="469900" algn="l"/>
              </a:tabLst>
            </a:pPr>
            <a:r>
              <a:rPr sz="1200" dirty="0">
                <a:latin typeface="Times New Roman"/>
                <a:cs typeface="Times New Roman"/>
              </a:rPr>
              <a:t>Comprehensive</a:t>
            </a:r>
            <a:r>
              <a:rPr sz="1200" spc="110" dirty="0">
                <a:latin typeface="Times New Roman"/>
                <a:cs typeface="Times New Roman"/>
              </a:rPr>
              <a:t> </a:t>
            </a:r>
            <a:r>
              <a:rPr sz="1200" dirty="0">
                <a:latin typeface="Times New Roman"/>
                <a:cs typeface="Times New Roman"/>
              </a:rPr>
              <a:t>training</a:t>
            </a:r>
            <a:r>
              <a:rPr sz="1200" spc="114" dirty="0">
                <a:latin typeface="Times New Roman"/>
                <a:cs typeface="Times New Roman"/>
              </a:rPr>
              <a:t> </a:t>
            </a:r>
            <a:r>
              <a:rPr sz="1200" dirty="0">
                <a:latin typeface="Times New Roman"/>
                <a:cs typeface="Times New Roman"/>
              </a:rPr>
              <a:t>programs</a:t>
            </a:r>
            <a:r>
              <a:rPr sz="1200" spc="130" dirty="0">
                <a:latin typeface="Times New Roman"/>
                <a:cs typeface="Times New Roman"/>
              </a:rPr>
              <a:t> </a:t>
            </a:r>
            <a:r>
              <a:rPr sz="1200" dirty="0">
                <a:latin typeface="Times New Roman"/>
                <a:cs typeface="Times New Roman"/>
              </a:rPr>
              <a:t>in</a:t>
            </a:r>
            <a:r>
              <a:rPr sz="1200" spc="100" dirty="0">
                <a:latin typeface="Times New Roman"/>
                <a:cs typeface="Times New Roman"/>
              </a:rPr>
              <a:t> </a:t>
            </a:r>
            <a:r>
              <a:rPr sz="1200" b="1" dirty="0">
                <a:latin typeface="Times New Roman"/>
                <a:cs typeface="Times New Roman"/>
              </a:rPr>
              <a:t>web</a:t>
            </a:r>
            <a:r>
              <a:rPr sz="1200" b="1" spc="120" dirty="0">
                <a:latin typeface="Times New Roman"/>
                <a:cs typeface="Times New Roman"/>
              </a:rPr>
              <a:t> </a:t>
            </a:r>
            <a:r>
              <a:rPr sz="1200" b="1" dirty="0">
                <a:latin typeface="Times New Roman"/>
                <a:cs typeface="Times New Roman"/>
              </a:rPr>
              <a:t>development,</a:t>
            </a:r>
            <a:r>
              <a:rPr sz="1200" b="1" spc="125" dirty="0">
                <a:latin typeface="Times New Roman"/>
                <a:cs typeface="Times New Roman"/>
              </a:rPr>
              <a:t> </a:t>
            </a:r>
            <a:r>
              <a:rPr sz="1200" b="1" dirty="0">
                <a:latin typeface="Times New Roman"/>
                <a:cs typeface="Times New Roman"/>
              </a:rPr>
              <a:t>cloud</a:t>
            </a:r>
            <a:r>
              <a:rPr sz="1200" b="1" spc="100" dirty="0">
                <a:latin typeface="Times New Roman"/>
                <a:cs typeface="Times New Roman"/>
              </a:rPr>
              <a:t> </a:t>
            </a:r>
            <a:r>
              <a:rPr sz="1200" b="1" dirty="0">
                <a:latin typeface="Times New Roman"/>
                <a:cs typeface="Times New Roman"/>
              </a:rPr>
              <a:t>technologies,</a:t>
            </a:r>
            <a:r>
              <a:rPr sz="1200" b="1" spc="125" dirty="0">
                <a:latin typeface="Times New Roman"/>
                <a:cs typeface="Times New Roman"/>
              </a:rPr>
              <a:t> </a:t>
            </a:r>
            <a:r>
              <a:rPr sz="1200" b="1" dirty="0">
                <a:latin typeface="Times New Roman"/>
                <a:cs typeface="Times New Roman"/>
              </a:rPr>
              <a:t>and</a:t>
            </a:r>
            <a:r>
              <a:rPr sz="1200" b="1" spc="100" dirty="0">
                <a:latin typeface="Times New Roman"/>
                <a:cs typeface="Times New Roman"/>
              </a:rPr>
              <a:t> </a:t>
            </a:r>
            <a:r>
              <a:rPr sz="1200" b="1" spc="-10" dirty="0">
                <a:latin typeface="Times New Roman"/>
                <a:cs typeface="Times New Roman"/>
              </a:rPr>
              <a:t>full- </a:t>
            </a:r>
            <a:r>
              <a:rPr sz="1200" b="1" dirty="0">
                <a:latin typeface="Times New Roman"/>
                <a:cs typeface="Times New Roman"/>
              </a:rPr>
              <a:t>stack</a:t>
            </a:r>
            <a:r>
              <a:rPr sz="1200" b="1" spc="-45" dirty="0">
                <a:latin typeface="Times New Roman"/>
                <a:cs typeface="Times New Roman"/>
              </a:rPr>
              <a:t> </a:t>
            </a:r>
            <a:r>
              <a:rPr sz="1200" b="1" spc="-10" dirty="0">
                <a:latin typeface="Times New Roman"/>
                <a:cs typeface="Times New Roman"/>
              </a:rPr>
              <a:t>development</a:t>
            </a:r>
            <a:r>
              <a:rPr sz="1200" spc="-10" dirty="0">
                <a:latin typeface="Times New Roman"/>
                <a:cs typeface="Times New Roman"/>
              </a:rPr>
              <a:t>.</a:t>
            </a:r>
            <a:endParaRPr sz="1200">
              <a:latin typeface="Times New Roman"/>
              <a:cs typeface="Times New Roman"/>
            </a:endParaRPr>
          </a:p>
          <a:p>
            <a:pPr>
              <a:lnSpc>
                <a:spcPct val="100000"/>
              </a:lnSpc>
              <a:spcBef>
                <a:spcPts val="35"/>
              </a:spcBef>
              <a:buFont typeface="Symbol"/>
              <a:buChar char=""/>
            </a:pPr>
            <a:endParaRPr sz="1200">
              <a:latin typeface="Times New Roman"/>
              <a:cs typeface="Times New Roman"/>
            </a:endParaRPr>
          </a:p>
          <a:p>
            <a:pPr marL="469900" indent="-228600">
              <a:lnSpc>
                <a:spcPct val="100000"/>
              </a:lnSpc>
              <a:spcBef>
                <a:spcPts val="5"/>
              </a:spcBef>
              <a:buSzPct val="83333"/>
              <a:buFont typeface="Symbol"/>
              <a:buChar char=""/>
              <a:tabLst>
                <a:tab pos="469900" algn="l"/>
              </a:tabLst>
            </a:pPr>
            <a:r>
              <a:rPr sz="1200" dirty="0">
                <a:latin typeface="Times New Roman"/>
                <a:cs typeface="Times New Roman"/>
              </a:rPr>
              <a:t>Focus</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10" dirty="0">
                <a:latin typeface="Times New Roman"/>
                <a:cs typeface="Times New Roman"/>
              </a:rPr>
              <a:t>practical</a:t>
            </a:r>
            <a:r>
              <a:rPr sz="1200" spc="-55" dirty="0">
                <a:latin typeface="Times New Roman"/>
                <a:cs typeface="Times New Roman"/>
              </a:rPr>
              <a:t> </a:t>
            </a:r>
            <a:r>
              <a:rPr sz="1200" dirty="0">
                <a:latin typeface="Times New Roman"/>
                <a:cs typeface="Times New Roman"/>
              </a:rPr>
              <a:t>project-based</a:t>
            </a:r>
            <a:r>
              <a:rPr sz="1200" spc="10" dirty="0">
                <a:latin typeface="Times New Roman"/>
                <a:cs typeface="Times New Roman"/>
              </a:rPr>
              <a:t> </a:t>
            </a:r>
            <a:r>
              <a:rPr sz="1200" dirty="0">
                <a:latin typeface="Times New Roman"/>
                <a:cs typeface="Times New Roman"/>
              </a:rPr>
              <a:t>learning</a:t>
            </a:r>
            <a:r>
              <a:rPr sz="1200" spc="-1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ensure</a:t>
            </a:r>
            <a:r>
              <a:rPr sz="1200" spc="5" dirty="0">
                <a:latin typeface="Times New Roman"/>
                <a:cs typeface="Times New Roman"/>
              </a:rPr>
              <a:t> </a:t>
            </a:r>
            <a:r>
              <a:rPr sz="1200" spc="-10" dirty="0">
                <a:latin typeface="Times New Roman"/>
                <a:cs typeface="Times New Roman"/>
              </a:rPr>
              <a:t>skill</a:t>
            </a:r>
            <a:r>
              <a:rPr sz="1200" spc="-55" dirty="0">
                <a:latin typeface="Times New Roman"/>
                <a:cs typeface="Times New Roman"/>
              </a:rPr>
              <a:t> </a:t>
            </a:r>
            <a:r>
              <a:rPr sz="1200" spc="-10" dirty="0">
                <a:latin typeface="Times New Roman"/>
                <a:cs typeface="Times New Roman"/>
              </a:rPr>
              <a:t>development.</a:t>
            </a:r>
            <a:endParaRPr sz="1200">
              <a:latin typeface="Times New Roman"/>
              <a:cs typeface="Times New Roman"/>
            </a:endParaRPr>
          </a:p>
          <a:p>
            <a:pPr>
              <a:lnSpc>
                <a:spcPct val="100000"/>
              </a:lnSpc>
              <a:spcBef>
                <a:spcPts val="60"/>
              </a:spcBef>
              <a:buFont typeface="Symbol"/>
              <a:buChar char=""/>
            </a:pPr>
            <a:endParaRPr sz="1200">
              <a:latin typeface="Times New Roman"/>
              <a:cs typeface="Times New Roman"/>
            </a:endParaRPr>
          </a:p>
          <a:p>
            <a:pPr marL="469900" indent="-228600">
              <a:lnSpc>
                <a:spcPct val="100000"/>
              </a:lnSpc>
              <a:buSzPct val="83333"/>
              <a:buFont typeface="Symbol"/>
              <a:buChar char=""/>
              <a:tabLst>
                <a:tab pos="469900" algn="l"/>
              </a:tabLst>
            </a:pPr>
            <a:r>
              <a:rPr sz="1200" dirty="0">
                <a:latin typeface="Times New Roman"/>
                <a:cs typeface="Times New Roman"/>
              </a:rPr>
              <a:t>Experienced</a:t>
            </a:r>
            <a:r>
              <a:rPr sz="1200" spc="-25" dirty="0">
                <a:latin typeface="Times New Roman"/>
                <a:cs typeface="Times New Roman"/>
              </a:rPr>
              <a:t> </a:t>
            </a:r>
            <a:r>
              <a:rPr sz="1200" spc="-10" dirty="0">
                <a:latin typeface="Times New Roman"/>
                <a:cs typeface="Times New Roman"/>
              </a:rPr>
              <a:t>faculty</a:t>
            </a:r>
            <a:r>
              <a:rPr sz="1200" spc="-60" dirty="0">
                <a:latin typeface="Times New Roman"/>
                <a:cs typeface="Times New Roman"/>
              </a:rPr>
              <a:t> </a:t>
            </a:r>
            <a:r>
              <a:rPr sz="1200" dirty="0">
                <a:latin typeface="Times New Roman"/>
                <a:cs typeface="Times New Roman"/>
              </a:rPr>
              <a:t>with</a:t>
            </a:r>
            <a:r>
              <a:rPr sz="1200" spc="-60" dirty="0">
                <a:latin typeface="Times New Roman"/>
                <a:cs typeface="Times New Roman"/>
              </a:rPr>
              <a:t> </a:t>
            </a:r>
            <a:r>
              <a:rPr sz="1200" dirty="0">
                <a:latin typeface="Times New Roman"/>
                <a:cs typeface="Times New Roman"/>
              </a:rPr>
              <a:t>expertise</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b="1" dirty="0">
                <a:latin typeface="Times New Roman"/>
                <a:cs typeface="Times New Roman"/>
              </a:rPr>
              <a:t>modern</a:t>
            </a:r>
            <a:r>
              <a:rPr sz="1200" b="1" spc="-40" dirty="0">
                <a:latin typeface="Times New Roman"/>
                <a:cs typeface="Times New Roman"/>
              </a:rPr>
              <a:t> </a:t>
            </a:r>
            <a:r>
              <a:rPr sz="1200" b="1" dirty="0">
                <a:latin typeface="Times New Roman"/>
                <a:cs typeface="Times New Roman"/>
              </a:rPr>
              <a:t>software</a:t>
            </a:r>
            <a:r>
              <a:rPr sz="1200" b="1" spc="-40" dirty="0">
                <a:latin typeface="Times New Roman"/>
                <a:cs typeface="Times New Roman"/>
              </a:rPr>
              <a:t> </a:t>
            </a:r>
            <a:r>
              <a:rPr sz="1200" b="1" spc="-10" dirty="0">
                <a:latin typeface="Times New Roman"/>
                <a:cs typeface="Times New Roman"/>
              </a:rPr>
              <a:t>technologies</a:t>
            </a:r>
            <a:r>
              <a:rPr sz="1200" spc="-10" dirty="0">
                <a:latin typeface="Times New Roman"/>
                <a:cs typeface="Times New Roman"/>
              </a:rPr>
              <a:t>.</a:t>
            </a:r>
            <a:endParaRPr sz="1200">
              <a:latin typeface="Times New Roman"/>
              <a:cs typeface="Times New Roman"/>
            </a:endParaRPr>
          </a:p>
          <a:p>
            <a:pPr>
              <a:lnSpc>
                <a:spcPct val="100000"/>
              </a:lnSpc>
              <a:spcBef>
                <a:spcPts val="35"/>
              </a:spcBef>
              <a:buFont typeface="Symbol"/>
              <a:buChar char=""/>
            </a:pPr>
            <a:endParaRPr sz="1200">
              <a:latin typeface="Times New Roman"/>
              <a:cs typeface="Times New Roman"/>
            </a:endParaRPr>
          </a:p>
          <a:p>
            <a:pPr marL="469900" indent="-228600">
              <a:lnSpc>
                <a:spcPct val="100000"/>
              </a:lnSpc>
              <a:buSzPct val="83333"/>
              <a:buFont typeface="Symbol"/>
              <a:buChar char=""/>
              <a:tabLst>
                <a:tab pos="469900" algn="l"/>
              </a:tabLst>
            </a:pP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professional</a:t>
            </a:r>
            <a:r>
              <a:rPr sz="1200" spc="-60" dirty="0">
                <a:latin typeface="Times New Roman"/>
                <a:cs typeface="Times New Roman"/>
              </a:rPr>
              <a:t> </a:t>
            </a:r>
            <a:r>
              <a:rPr sz="1200" dirty="0">
                <a:latin typeface="Times New Roman"/>
                <a:cs typeface="Times New Roman"/>
              </a:rPr>
              <a:t>tools,</a:t>
            </a:r>
            <a:r>
              <a:rPr sz="1200" spc="-10" dirty="0">
                <a:latin typeface="Times New Roman"/>
                <a:cs typeface="Times New Roman"/>
              </a:rPr>
              <a:t> </a:t>
            </a:r>
            <a:r>
              <a:rPr sz="1200" dirty="0">
                <a:latin typeface="Times New Roman"/>
                <a:cs typeface="Times New Roman"/>
              </a:rPr>
              <a:t>resources,</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live</a:t>
            </a:r>
            <a:r>
              <a:rPr sz="1200" spc="-25" dirty="0">
                <a:latin typeface="Times New Roman"/>
                <a:cs typeface="Times New Roman"/>
              </a:rPr>
              <a:t> </a:t>
            </a:r>
            <a:r>
              <a:rPr sz="1200" dirty="0">
                <a:latin typeface="Times New Roman"/>
                <a:cs typeface="Times New Roman"/>
              </a:rPr>
              <a:t>project scenarios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20" dirty="0">
                <a:latin typeface="Times New Roman"/>
                <a:cs typeface="Times New Roman"/>
              </a:rPr>
              <a:t>real-</a:t>
            </a:r>
            <a:r>
              <a:rPr sz="1200" dirty="0">
                <a:latin typeface="Times New Roman"/>
                <a:cs typeface="Times New Roman"/>
              </a:rPr>
              <a:t>time</a:t>
            </a:r>
            <a:r>
              <a:rPr sz="1200" spc="-5" dirty="0">
                <a:latin typeface="Times New Roman"/>
                <a:cs typeface="Times New Roman"/>
              </a:rPr>
              <a:t> </a:t>
            </a:r>
            <a:r>
              <a:rPr sz="1200" spc="-10" dirty="0">
                <a:latin typeface="Times New Roman"/>
                <a:cs typeface="Times New Roman"/>
              </a:rPr>
              <a:t>learning.</a:t>
            </a:r>
            <a:endParaRPr sz="1200">
              <a:latin typeface="Times New Roman"/>
              <a:cs typeface="Times New Roman"/>
            </a:endParaRPr>
          </a:p>
          <a:p>
            <a:pPr marL="12700" marR="9525" algn="just">
              <a:lnSpc>
                <a:spcPct val="145200"/>
              </a:lnSpc>
              <a:spcBef>
                <a:spcPts val="765"/>
              </a:spcBef>
            </a:pPr>
            <a:r>
              <a:rPr sz="1200" dirty="0">
                <a:latin typeface="Times New Roman"/>
                <a:cs typeface="Times New Roman"/>
              </a:rPr>
              <a:t>Seldon</a:t>
            </a:r>
            <a:r>
              <a:rPr sz="1200" spc="105" dirty="0">
                <a:latin typeface="Times New Roman"/>
                <a:cs typeface="Times New Roman"/>
              </a:rPr>
              <a:t> </a:t>
            </a:r>
            <a:r>
              <a:rPr sz="1200" dirty="0">
                <a:latin typeface="Times New Roman"/>
                <a:cs typeface="Times New Roman"/>
              </a:rPr>
              <a:t>India</a:t>
            </a:r>
            <a:r>
              <a:rPr sz="1200" spc="105" dirty="0">
                <a:latin typeface="Times New Roman"/>
                <a:cs typeface="Times New Roman"/>
              </a:rPr>
              <a:t> </a:t>
            </a:r>
            <a:r>
              <a:rPr sz="1200" dirty="0">
                <a:latin typeface="Times New Roman"/>
                <a:cs typeface="Times New Roman"/>
              </a:rPr>
              <a:t>Technologies</a:t>
            </a:r>
            <a:r>
              <a:rPr sz="1200" spc="120" dirty="0">
                <a:latin typeface="Times New Roman"/>
                <a:cs typeface="Times New Roman"/>
              </a:rPr>
              <a:t> </a:t>
            </a:r>
            <a:r>
              <a:rPr sz="1200" dirty="0">
                <a:latin typeface="Times New Roman"/>
                <a:cs typeface="Times New Roman"/>
              </a:rPr>
              <a:t>has</a:t>
            </a:r>
            <a:r>
              <a:rPr sz="1200" spc="120" dirty="0">
                <a:latin typeface="Times New Roman"/>
                <a:cs typeface="Times New Roman"/>
              </a:rPr>
              <a:t> </a:t>
            </a:r>
            <a:r>
              <a:rPr sz="1200" dirty="0">
                <a:latin typeface="Times New Roman"/>
                <a:cs typeface="Times New Roman"/>
              </a:rPr>
              <a:t>trained</a:t>
            </a:r>
            <a:r>
              <a:rPr sz="1200" spc="130" dirty="0">
                <a:latin typeface="Times New Roman"/>
                <a:cs typeface="Times New Roman"/>
              </a:rPr>
              <a:t> </a:t>
            </a:r>
            <a:r>
              <a:rPr sz="1200" dirty="0">
                <a:latin typeface="Times New Roman"/>
                <a:cs typeface="Times New Roman"/>
              </a:rPr>
              <a:t>numerous</a:t>
            </a:r>
            <a:r>
              <a:rPr sz="1200" spc="145" dirty="0">
                <a:latin typeface="Times New Roman"/>
                <a:cs typeface="Times New Roman"/>
              </a:rPr>
              <a:t> </a:t>
            </a:r>
            <a:r>
              <a:rPr sz="1200" dirty="0">
                <a:latin typeface="Times New Roman"/>
                <a:cs typeface="Times New Roman"/>
              </a:rPr>
              <a:t>students</a:t>
            </a:r>
            <a:r>
              <a:rPr sz="1200" spc="120" dirty="0">
                <a:latin typeface="Times New Roman"/>
                <a:cs typeface="Times New Roman"/>
              </a:rPr>
              <a:t> </a:t>
            </a:r>
            <a:r>
              <a:rPr sz="1200" dirty="0">
                <a:latin typeface="Times New Roman"/>
                <a:cs typeface="Times New Roman"/>
              </a:rPr>
              <a:t>and</a:t>
            </a:r>
            <a:r>
              <a:rPr sz="1200" spc="125" dirty="0">
                <a:latin typeface="Times New Roman"/>
                <a:cs typeface="Times New Roman"/>
              </a:rPr>
              <a:t> </a:t>
            </a:r>
            <a:r>
              <a:rPr sz="1200" dirty="0">
                <a:latin typeface="Times New Roman"/>
                <a:cs typeface="Times New Roman"/>
              </a:rPr>
              <a:t>professionals,</a:t>
            </a:r>
            <a:r>
              <a:rPr sz="1200" spc="140" dirty="0">
                <a:latin typeface="Times New Roman"/>
                <a:cs typeface="Times New Roman"/>
              </a:rPr>
              <a:t> </a:t>
            </a:r>
            <a:r>
              <a:rPr sz="1200" dirty="0">
                <a:latin typeface="Times New Roman"/>
                <a:cs typeface="Times New Roman"/>
              </a:rPr>
              <a:t>enabling</a:t>
            </a:r>
            <a:r>
              <a:rPr sz="1200" spc="130" dirty="0">
                <a:latin typeface="Times New Roman"/>
                <a:cs typeface="Times New Roman"/>
              </a:rPr>
              <a:t> </a:t>
            </a:r>
            <a:r>
              <a:rPr sz="1200" dirty="0">
                <a:latin typeface="Times New Roman"/>
                <a:cs typeface="Times New Roman"/>
              </a:rPr>
              <a:t>them</a:t>
            </a:r>
            <a:r>
              <a:rPr sz="1200" spc="90" dirty="0">
                <a:latin typeface="Times New Roman"/>
                <a:cs typeface="Times New Roman"/>
              </a:rPr>
              <a:t> </a:t>
            </a:r>
            <a:r>
              <a:rPr sz="1200" spc="-25" dirty="0">
                <a:latin typeface="Times New Roman"/>
                <a:cs typeface="Times New Roman"/>
              </a:rPr>
              <a:t>to </a:t>
            </a:r>
            <a:r>
              <a:rPr sz="1200" dirty="0">
                <a:latin typeface="Times New Roman"/>
                <a:cs typeface="Times New Roman"/>
              </a:rPr>
              <a:t>acquire</a:t>
            </a:r>
            <a:r>
              <a:rPr sz="1200" spc="-35" dirty="0">
                <a:latin typeface="Times New Roman"/>
                <a:cs typeface="Times New Roman"/>
              </a:rPr>
              <a:t> </a:t>
            </a:r>
            <a:r>
              <a:rPr sz="1200" dirty="0">
                <a:latin typeface="Times New Roman"/>
                <a:cs typeface="Times New Roman"/>
              </a:rPr>
              <a:t>skills</a:t>
            </a:r>
            <a:r>
              <a:rPr sz="1200" spc="-20" dirty="0">
                <a:latin typeface="Times New Roman"/>
                <a:cs typeface="Times New Roman"/>
              </a:rPr>
              <a:t> </a:t>
            </a:r>
            <a:r>
              <a:rPr sz="1200" dirty="0">
                <a:latin typeface="Times New Roman"/>
                <a:cs typeface="Times New Roman"/>
              </a:rPr>
              <a:t>necessary</a:t>
            </a:r>
            <a:r>
              <a:rPr sz="1200" spc="-5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building</a:t>
            </a:r>
            <a:r>
              <a:rPr sz="1200" spc="-30" dirty="0">
                <a:latin typeface="Times New Roman"/>
                <a:cs typeface="Times New Roman"/>
              </a:rPr>
              <a:t> </a:t>
            </a:r>
            <a:r>
              <a:rPr sz="1200" dirty="0">
                <a:latin typeface="Times New Roman"/>
                <a:cs typeface="Times New Roman"/>
              </a:rPr>
              <a:t>successful</a:t>
            </a:r>
            <a:r>
              <a:rPr sz="1200" spc="-50" dirty="0">
                <a:latin typeface="Times New Roman"/>
                <a:cs typeface="Times New Roman"/>
              </a:rPr>
              <a:t> </a:t>
            </a:r>
            <a:r>
              <a:rPr sz="1200" dirty="0">
                <a:latin typeface="Times New Roman"/>
                <a:cs typeface="Times New Roman"/>
              </a:rPr>
              <a:t>careers</a:t>
            </a:r>
            <a:r>
              <a:rPr sz="1200" spc="-20"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spc="-10" dirty="0">
                <a:latin typeface="Times New Roman"/>
                <a:cs typeface="Times New Roman"/>
              </a:rPr>
              <a:t>industry.</a:t>
            </a:r>
            <a:endParaRPr sz="1200">
              <a:latin typeface="Times New Roman"/>
              <a:cs typeface="Times New Roman"/>
            </a:endParaRPr>
          </a:p>
        </p:txBody>
      </p:sp>
      <p:sp>
        <p:nvSpPr>
          <p:cNvPr id="4" name="object 4"/>
          <p:cNvSpPr txBox="1"/>
          <p:nvPr/>
        </p:nvSpPr>
        <p:spPr>
          <a:xfrm>
            <a:off x="902004" y="7673467"/>
            <a:ext cx="5967730" cy="1144270"/>
          </a:xfrm>
          <a:prstGeom prst="rect">
            <a:avLst/>
          </a:prstGeom>
        </p:spPr>
        <p:txBody>
          <a:bodyPr vert="horz" wrap="square" lIns="0" tIns="11430" rIns="0" bIns="0" rtlCol="0">
            <a:spAutoFit/>
          </a:bodyPr>
          <a:lstStyle/>
          <a:p>
            <a:pPr marL="12700" algn="just">
              <a:lnSpc>
                <a:spcPct val="100000"/>
              </a:lnSpc>
              <a:spcBef>
                <a:spcPts val="90"/>
              </a:spcBef>
            </a:pPr>
            <a:r>
              <a:rPr sz="1400" b="1" dirty="0">
                <a:latin typeface="Times New Roman"/>
                <a:cs typeface="Times New Roman"/>
              </a:rPr>
              <a:t>2.4</a:t>
            </a:r>
            <a:r>
              <a:rPr sz="1400" b="1" spc="-45" dirty="0">
                <a:latin typeface="Times New Roman"/>
                <a:cs typeface="Times New Roman"/>
              </a:rPr>
              <a:t> </a:t>
            </a:r>
            <a:r>
              <a:rPr sz="1400" b="1" spc="-25" dirty="0">
                <a:latin typeface="Times New Roman"/>
                <a:cs typeface="Times New Roman"/>
              </a:rPr>
              <a:t>Technical </a:t>
            </a:r>
            <a:r>
              <a:rPr sz="1400" b="1" dirty="0">
                <a:latin typeface="Times New Roman"/>
                <a:cs typeface="Times New Roman"/>
              </a:rPr>
              <a:t>Profile of</a:t>
            </a:r>
            <a:r>
              <a:rPr sz="1400" b="1" spc="-10" dirty="0">
                <a:latin typeface="Times New Roman"/>
                <a:cs typeface="Times New Roman"/>
              </a:rPr>
              <a:t> </a:t>
            </a:r>
            <a:r>
              <a:rPr sz="1400" b="1" dirty="0">
                <a:latin typeface="Times New Roman"/>
                <a:cs typeface="Times New Roman"/>
              </a:rPr>
              <a:t>the</a:t>
            </a:r>
            <a:r>
              <a:rPr sz="1400" b="1" spc="-25" dirty="0">
                <a:latin typeface="Times New Roman"/>
                <a:cs typeface="Times New Roman"/>
              </a:rPr>
              <a:t> </a:t>
            </a:r>
            <a:r>
              <a:rPr sz="1400" b="1" spc="-10" dirty="0">
                <a:latin typeface="Times New Roman"/>
                <a:cs typeface="Times New Roman"/>
              </a:rPr>
              <a:t>Instructor</a:t>
            </a:r>
            <a:endParaRPr sz="1400">
              <a:latin typeface="Times New Roman"/>
              <a:cs typeface="Times New Roman"/>
            </a:endParaRPr>
          </a:p>
          <a:p>
            <a:pPr marL="12700" marR="5080" algn="just">
              <a:lnSpc>
                <a:spcPct val="145000"/>
              </a:lnSpc>
              <a:spcBef>
                <a:spcPts val="875"/>
              </a:spcBef>
            </a:pPr>
            <a:r>
              <a:rPr sz="1200" dirty="0">
                <a:latin typeface="Times New Roman"/>
                <a:cs typeface="Times New Roman"/>
              </a:rPr>
              <a:t>The</a:t>
            </a:r>
            <a:r>
              <a:rPr sz="1200" spc="245" dirty="0">
                <a:latin typeface="Times New Roman"/>
                <a:cs typeface="Times New Roman"/>
              </a:rPr>
              <a:t> </a:t>
            </a:r>
            <a:r>
              <a:rPr sz="1200" dirty="0">
                <a:latin typeface="Times New Roman"/>
                <a:cs typeface="Times New Roman"/>
              </a:rPr>
              <a:t>instructor</a:t>
            </a:r>
            <a:r>
              <a:rPr sz="1200" spc="240" dirty="0">
                <a:latin typeface="Times New Roman"/>
                <a:cs typeface="Times New Roman"/>
              </a:rPr>
              <a:t> </a:t>
            </a:r>
            <a:r>
              <a:rPr sz="1200" dirty="0">
                <a:latin typeface="Times New Roman"/>
                <a:cs typeface="Times New Roman"/>
              </a:rPr>
              <a:t>for</a:t>
            </a:r>
            <a:r>
              <a:rPr sz="1200" spc="195" dirty="0">
                <a:latin typeface="Times New Roman"/>
                <a:cs typeface="Times New Roman"/>
              </a:rPr>
              <a:t> </a:t>
            </a:r>
            <a:r>
              <a:rPr sz="1200" dirty="0">
                <a:latin typeface="Times New Roman"/>
                <a:cs typeface="Times New Roman"/>
              </a:rPr>
              <a:t>this</a:t>
            </a:r>
            <a:r>
              <a:rPr sz="1200" spc="220" dirty="0">
                <a:latin typeface="Times New Roman"/>
                <a:cs typeface="Times New Roman"/>
              </a:rPr>
              <a:t> </a:t>
            </a:r>
            <a:r>
              <a:rPr sz="1200" dirty="0">
                <a:latin typeface="Times New Roman"/>
                <a:cs typeface="Times New Roman"/>
              </a:rPr>
              <a:t>training</a:t>
            </a:r>
            <a:r>
              <a:rPr sz="1200" spc="229" dirty="0">
                <a:latin typeface="Times New Roman"/>
                <a:cs typeface="Times New Roman"/>
              </a:rPr>
              <a:t> </a:t>
            </a:r>
            <a:r>
              <a:rPr sz="1200" dirty="0">
                <a:latin typeface="Times New Roman"/>
                <a:cs typeface="Times New Roman"/>
              </a:rPr>
              <a:t>program</a:t>
            </a:r>
            <a:r>
              <a:rPr sz="1200" spc="185" dirty="0">
                <a:latin typeface="Times New Roman"/>
                <a:cs typeface="Times New Roman"/>
              </a:rPr>
              <a:t> </a:t>
            </a:r>
            <a:r>
              <a:rPr sz="1200" dirty="0">
                <a:latin typeface="Times New Roman"/>
                <a:cs typeface="Times New Roman"/>
              </a:rPr>
              <a:t>was</a:t>
            </a:r>
            <a:r>
              <a:rPr sz="1200" spc="220" dirty="0">
                <a:latin typeface="Times New Roman"/>
                <a:cs typeface="Times New Roman"/>
              </a:rPr>
              <a:t> </a:t>
            </a:r>
            <a:r>
              <a:rPr sz="1200" dirty="0">
                <a:latin typeface="Times New Roman"/>
                <a:cs typeface="Times New Roman"/>
              </a:rPr>
              <a:t>a</a:t>
            </a:r>
            <a:r>
              <a:rPr sz="1200" spc="235" dirty="0">
                <a:latin typeface="Times New Roman"/>
                <a:cs typeface="Times New Roman"/>
              </a:rPr>
              <a:t> </a:t>
            </a:r>
            <a:r>
              <a:rPr sz="1200" b="1" dirty="0">
                <a:latin typeface="Times New Roman"/>
                <a:cs typeface="Times New Roman"/>
              </a:rPr>
              <a:t>senior</a:t>
            </a:r>
            <a:r>
              <a:rPr sz="1200" b="1" spc="185" dirty="0">
                <a:latin typeface="Times New Roman"/>
                <a:cs typeface="Times New Roman"/>
              </a:rPr>
              <a:t> </a:t>
            </a:r>
            <a:r>
              <a:rPr sz="1200" b="1" dirty="0">
                <a:latin typeface="Times New Roman"/>
                <a:cs typeface="Times New Roman"/>
              </a:rPr>
              <a:t>software</a:t>
            </a:r>
            <a:r>
              <a:rPr sz="1200" b="1" spc="229" dirty="0">
                <a:latin typeface="Times New Roman"/>
                <a:cs typeface="Times New Roman"/>
              </a:rPr>
              <a:t> </a:t>
            </a:r>
            <a:r>
              <a:rPr sz="1200" b="1" dirty="0">
                <a:latin typeface="Times New Roman"/>
                <a:cs typeface="Times New Roman"/>
              </a:rPr>
              <a:t>professional</a:t>
            </a:r>
            <a:r>
              <a:rPr sz="1200" b="1" spc="225" dirty="0">
                <a:latin typeface="Times New Roman"/>
                <a:cs typeface="Times New Roman"/>
              </a:rPr>
              <a:t> </a:t>
            </a:r>
            <a:r>
              <a:rPr sz="1200" dirty="0">
                <a:latin typeface="Times New Roman"/>
                <a:cs typeface="Times New Roman"/>
              </a:rPr>
              <a:t>with</a:t>
            </a:r>
            <a:r>
              <a:rPr sz="1200" spc="215" dirty="0">
                <a:latin typeface="Times New Roman"/>
                <a:cs typeface="Times New Roman"/>
              </a:rPr>
              <a:t> </a:t>
            </a:r>
            <a:r>
              <a:rPr sz="1200" spc="-10" dirty="0">
                <a:latin typeface="Times New Roman"/>
                <a:cs typeface="Times New Roman"/>
              </a:rPr>
              <a:t>extensive </a:t>
            </a:r>
            <a:r>
              <a:rPr sz="1200" dirty="0">
                <a:latin typeface="Times New Roman"/>
                <a:cs typeface="Times New Roman"/>
              </a:rPr>
              <a:t>experience</a:t>
            </a:r>
            <a:r>
              <a:rPr sz="1200" spc="395" dirty="0">
                <a:latin typeface="Times New Roman"/>
                <a:cs typeface="Times New Roman"/>
              </a:rPr>
              <a:t> </a:t>
            </a:r>
            <a:r>
              <a:rPr sz="1200" dirty="0">
                <a:latin typeface="Times New Roman"/>
                <a:cs typeface="Times New Roman"/>
              </a:rPr>
              <a:t>in</a:t>
            </a:r>
            <a:r>
              <a:rPr sz="1200" spc="405" dirty="0">
                <a:latin typeface="Times New Roman"/>
                <a:cs typeface="Times New Roman"/>
              </a:rPr>
              <a:t> </a:t>
            </a:r>
            <a:r>
              <a:rPr sz="1200" spc="-10" dirty="0">
                <a:latin typeface="Times New Roman"/>
                <a:cs typeface="Times New Roman"/>
              </a:rPr>
              <a:t>full-</a:t>
            </a:r>
            <a:r>
              <a:rPr sz="1200" dirty="0">
                <a:latin typeface="Times New Roman"/>
                <a:cs typeface="Times New Roman"/>
              </a:rPr>
              <a:t>stack</a:t>
            </a:r>
            <a:r>
              <a:rPr sz="1200" spc="380" dirty="0">
                <a:latin typeface="Times New Roman"/>
                <a:cs typeface="Times New Roman"/>
              </a:rPr>
              <a:t> </a:t>
            </a:r>
            <a:r>
              <a:rPr sz="1200" dirty="0">
                <a:latin typeface="Times New Roman"/>
                <a:cs typeface="Times New Roman"/>
              </a:rPr>
              <a:t>web</a:t>
            </a:r>
            <a:r>
              <a:rPr sz="1200" spc="355" dirty="0">
                <a:latin typeface="Times New Roman"/>
                <a:cs typeface="Times New Roman"/>
              </a:rPr>
              <a:t> </a:t>
            </a:r>
            <a:r>
              <a:rPr sz="1200" dirty="0">
                <a:latin typeface="Times New Roman"/>
                <a:cs typeface="Times New Roman"/>
              </a:rPr>
              <a:t>development</a:t>
            </a:r>
            <a:r>
              <a:rPr sz="1200" spc="405"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dirty="0">
                <a:latin typeface="Times New Roman"/>
                <a:cs typeface="Times New Roman"/>
              </a:rPr>
              <a:t>cloud</a:t>
            </a:r>
            <a:r>
              <a:rPr sz="1200" spc="380" dirty="0">
                <a:latin typeface="Times New Roman"/>
                <a:cs typeface="Times New Roman"/>
              </a:rPr>
              <a:t> </a:t>
            </a:r>
            <a:r>
              <a:rPr sz="1200" dirty="0">
                <a:latin typeface="Times New Roman"/>
                <a:cs typeface="Times New Roman"/>
              </a:rPr>
              <a:t>technologies.</a:t>
            </a:r>
            <a:r>
              <a:rPr sz="1200" spc="390" dirty="0">
                <a:latin typeface="Times New Roman"/>
                <a:cs typeface="Times New Roman"/>
              </a:rPr>
              <a:t> </a:t>
            </a:r>
            <a:r>
              <a:rPr sz="1200" dirty="0">
                <a:latin typeface="Times New Roman"/>
                <a:cs typeface="Times New Roman"/>
              </a:rPr>
              <a:t>Key</a:t>
            </a:r>
            <a:r>
              <a:rPr sz="1200" spc="380" dirty="0">
                <a:latin typeface="Times New Roman"/>
                <a:cs typeface="Times New Roman"/>
              </a:rPr>
              <a:t> </a:t>
            </a:r>
            <a:r>
              <a:rPr sz="1200" dirty="0">
                <a:latin typeface="Times New Roman"/>
                <a:cs typeface="Times New Roman"/>
              </a:rPr>
              <a:t>highlights</a:t>
            </a:r>
            <a:r>
              <a:rPr sz="1200" spc="370" dirty="0">
                <a:latin typeface="Times New Roman"/>
                <a:cs typeface="Times New Roman"/>
              </a:rPr>
              <a:t> </a:t>
            </a:r>
            <a:r>
              <a:rPr sz="1200" dirty="0">
                <a:latin typeface="Times New Roman"/>
                <a:cs typeface="Times New Roman"/>
              </a:rPr>
              <a:t>of</a:t>
            </a:r>
            <a:r>
              <a:rPr sz="1200" spc="340" dirty="0">
                <a:latin typeface="Times New Roman"/>
                <a:cs typeface="Times New Roman"/>
              </a:rPr>
              <a:t> </a:t>
            </a:r>
            <a:r>
              <a:rPr sz="1200" spc="-25" dirty="0">
                <a:latin typeface="Times New Roman"/>
                <a:cs typeface="Times New Roman"/>
              </a:rPr>
              <a:t>the </a:t>
            </a:r>
            <a:r>
              <a:rPr sz="1200" dirty="0">
                <a:latin typeface="Times New Roman"/>
                <a:cs typeface="Times New Roman"/>
              </a:rPr>
              <a:t>instructor’s</a:t>
            </a:r>
            <a:r>
              <a:rPr sz="1200" spc="-75" dirty="0">
                <a:latin typeface="Times New Roman"/>
                <a:cs typeface="Times New Roman"/>
              </a:rPr>
              <a:t> </a:t>
            </a:r>
            <a:r>
              <a:rPr sz="1200" dirty="0">
                <a:latin typeface="Times New Roman"/>
                <a:cs typeface="Times New Roman"/>
              </a:rPr>
              <a:t>profile</a:t>
            </a:r>
            <a:r>
              <a:rPr sz="1200" spc="-5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7</a:t>
            </a:r>
          </a:p>
        </p:txBody>
      </p:sp>
      <p:sp>
        <p:nvSpPr>
          <p:cNvPr id="2" name="object 2"/>
          <p:cNvSpPr txBox="1"/>
          <p:nvPr/>
        </p:nvSpPr>
        <p:spPr>
          <a:xfrm>
            <a:off x="902004" y="804418"/>
            <a:ext cx="5969635" cy="3958590"/>
          </a:xfrm>
          <a:prstGeom prst="rect">
            <a:avLst/>
          </a:prstGeom>
        </p:spPr>
        <p:txBody>
          <a:bodyPr vert="horz" wrap="square" lIns="0" tIns="12700" rIns="0" bIns="0" rtlCol="0">
            <a:spAutoFit/>
          </a:bodyPr>
          <a:lstStyle/>
          <a:p>
            <a:pPr marL="468630" marR="5080" indent="-227965" algn="just">
              <a:lnSpc>
                <a:spcPct val="145000"/>
              </a:lnSpc>
              <a:spcBef>
                <a:spcPts val="100"/>
              </a:spcBef>
              <a:buSzPct val="83333"/>
              <a:buFont typeface="Symbol"/>
              <a:buChar char=""/>
              <a:tabLst>
                <a:tab pos="469900" algn="l"/>
              </a:tabLst>
            </a:pPr>
            <a:r>
              <a:rPr sz="1200" b="1" spc="-10" dirty="0">
                <a:latin typeface="Times New Roman"/>
                <a:cs typeface="Times New Roman"/>
              </a:rPr>
              <a:t>Expertise:</a:t>
            </a:r>
            <a:r>
              <a:rPr sz="1200" b="1" spc="-25" dirty="0">
                <a:latin typeface="Times New Roman"/>
                <a:cs typeface="Times New Roman"/>
              </a:rPr>
              <a:t> </a:t>
            </a:r>
            <a:r>
              <a:rPr sz="1200" spc="-10" dirty="0">
                <a:latin typeface="Times New Roman"/>
                <a:cs typeface="Times New Roman"/>
              </a:rPr>
              <a:t>Proficient</a:t>
            </a:r>
            <a:r>
              <a:rPr sz="1200" spc="10" dirty="0">
                <a:latin typeface="Times New Roman"/>
                <a:cs typeface="Times New Roman"/>
              </a:rPr>
              <a:t> </a:t>
            </a:r>
            <a:r>
              <a:rPr sz="1200" spc="-20" dirty="0">
                <a:latin typeface="Times New Roman"/>
                <a:cs typeface="Times New Roman"/>
              </a:rPr>
              <a:t>in</a:t>
            </a:r>
            <a:r>
              <a:rPr sz="1200" spc="-50" dirty="0">
                <a:latin typeface="Times New Roman"/>
                <a:cs typeface="Times New Roman"/>
              </a:rPr>
              <a:t> </a:t>
            </a:r>
            <a:r>
              <a:rPr sz="1200" b="1" dirty="0">
                <a:latin typeface="Times New Roman"/>
                <a:cs typeface="Times New Roman"/>
              </a:rPr>
              <a:t>HTML,</a:t>
            </a:r>
            <a:r>
              <a:rPr sz="1200" b="1" spc="-30" dirty="0">
                <a:latin typeface="Times New Roman"/>
                <a:cs typeface="Times New Roman"/>
              </a:rPr>
              <a:t> </a:t>
            </a:r>
            <a:r>
              <a:rPr sz="1200" b="1" dirty="0">
                <a:latin typeface="Times New Roman"/>
                <a:cs typeface="Times New Roman"/>
              </a:rPr>
              <a:t>CSS,</a:t>
            </a:r>
            <a:r>
              <a:rPr sz="1200" b="1" spc="-45" dirty="0">
                <a:latin typeface="Times New Roman"/>
                <a:cs typeface="Times New Roman"/>
              </a:rPr>
              <a:t> </a:t>
            </a:r>
            <a:r>
              <a:rPr sz="1200" b="1" spc="-10" dirty="0">
                <a:latin typeface="Times New Roman"/>
                <a:cs typeface="Times New Roman"/>
              </a:rPr>
              <a:t>JavaScript,</a:t>
            </a:r>
            <a:r>
              <a:rPr sz="1200" b="1" spc="-40" dirty="0">
                <a:latin typeface="Times New Roman"/>
                <a:cs typeface="Times New Roman"/>
              </a:rPr>
              <a:t> </a:t>
            </a:r>
            <a:r>
              <a:rPr sz="1200" b="1" dirty="0">
                <a:latin typeface="Times New Roman"/>
                <a:cs typeface="Times New Roman"/>
              </a:rPr>
              <a:t>React.js,</a:t>
            </a:r>
            <a:r>
              <a:rPr sz="1200" b="1" spc="-30" dirty="0">
                <a:latin typeface="Times New Roman"/>
                <a:cs typeface="Times New Roman"/>
              </a:rPr>
              <a:t> </a:t>
            </a:r>
            <a:r>
              <a:rPr sz="1200" b="1" spc="-10" dirty="0">
                <a:latin typeface="Times New Roman"/>
                <a:cs typeface="Times New Roman"/>
              </a:rPr>
              <a:t>Node.js,</a:t>
            </a:r>
            <a:r>
              <a:rPr sz="1200" b="1" spc="-45" dirty="0">
                <a:latin typeface="Times New Roman"/>
                <a:cs typeface="Times New Roman"/>
              </a:rPr>
              <a:t> </a:t>
            </a:r>
            <a:r>
              <a:rPr sz="1200" b="1" spc="-10" dirty="0">
                <a:latin typeface="Times New Roman"/>
                <a:cs typeface="Times New Roman"/>
              </a:rPr>
              <a:t>Firebase</a:t>
            </a:r>
            <a:r>
              <a:rPr sz="1200" spc="-10" dirty="0">
                <a:latin typeface="Times New Roman"/>
                <a:cs typeface="Times New Roman"/>
              </a:rPr>
              <a:t>,</a:t>
            </a:r>
            <a:r>
              <a:rPr sz="1200" spc="-30" dirty="0">
                <a:latin typeface="Times New Roman"/>
                <a:cs typeface="Times New Roman"/>
              </a:rPr>
              <a:t> </a:t>
            </a:r>
            <a:r>
              <a:rPr sz="1200" spc="-10" dirty="0">
                <a:latin typeface="Times New Roman"/>
                <a:cs typeface="Times New Roman"/>
              </a:rPr>
              <a:t>and</a:t>
            </a:r>
            <a:r>
              <a:rPr sz="1200" spc="-35" dirty="0">
                <a:latin typeface="Times New Roman"/>
                <a:cs typeface="Times New Roman"/>
              </a:rPr>
              <a:t> </a:t>
            </a:r>
            <a:r>
              <a:rPr sz="1200" spc="-10" dirty="0">
                <a:latin typeface="Times New Roman"/>
                <a:cs typeface="Times New Roman"/>
              </a:rPr>
              <a:t>other 	</a:t>
            </a:r>
            <a:r>
              <a:rPr sz="1200" dirty="0">
                <a:latin typeface="Times New Roman"/>
                <a:cs typeface="Times New Roman"/>
              </a:rPr>
              <a:t>modern</a:t>
            </a:r>
            <a:r>
              <a:rPr sz="1200" spc="-60" dirty="0">
                <a:latin typeface="Times New Roman"/>
                <a:cs typeface="Times New Roman"/>
              </a:rPr>
              <a:t> </a:t>
            </a:r>
            <a:r>
              <a:rPr sz="1200" dirty="0">
                <a:latin typeface="Times New Roman"/>
                <a:cs typeface="Times New Roman"/>
              </a:rPr>
              <a:t>web</a:t>
            </a:r>
            <a:r>
              <a:rPr sz="1200" spc="-60" dirty="0">
                <a:latin typeface="Times New Roman"/>
                <a:cs typeface="Times New Roman"/>
              </a:rPr>
              <a:t> </a:t>
            </a:r>
            <a:r>
              <a:rPr sz="1200" dirty="0">
                <a:latin typeface="Times New Roman"/>
                <a:cs typeface="Times New Roman"/>
              </a:rPr>
              <a:t>development</a:t>
            </a:r>
            <a:r>
              <a:rPr sz="1200" spc="-15" dirty="0">
                <a:latin typeface="Times New Roman"/>
                <a:cs typeface="Times New Roman"/>
              </a:rPr>
              <a:t> </a:t>
            </a:r>
            <a:r>
              <a:rPr sz="1200" spc="-10" dirty="0">
                <a:latin typeface="Times New Roman"/>
                <a:cs typeface="Times New Roman"/>
              </a:rPr>
              <a:t>technologies.</a:t>
            </a:r>
            <a:endParaRPr sz="1200">
              <a:latin typeface="Times New Roman"/>
              <a:cs typeface="Times New Roman"/>
            </a:endParaRPr>
          </a:p>
          <a:p>
            <a:pPr marL="468630" marR="12065" indent="-227965" algn="just">
              <a:lnSpc>
                <a:spcPct val="145000"/>
              </a:lnSpc>
              <a:spcBef>
                <a:spcPts val="770"/>
              </a:spcBef>
              <a:buSzPct val="83333"/>
              <a:buFont typeface="Symbol"/>
              <a:buChar char=""/>
              <a:tabLst>
                <a:tab pos="469900" algn="l"/>
              </a:tabLst>
            </a:pPr>
            <a:r>
              <a:rPr sz="1200" b="1" dirty="0">
                <a:latin typeface="Times New Roman"/>
                <a:cs typeface="Times New Roman"/>
              </a:rPr>
              <a:t>Industry</a:t>
            </a:r>
            <a:r>
              <a:rPr sz="1200" b="1" spc="190" dirty="0">
                <a:latin typeface="Times New Roman"/>
                <a:cs typeface="Times New Roman"/>
              </a:rPr>
              <a:t> </a:t>
            </a:r>
            <a:r>
              <a:rPr sz="1200" b="1" dirty="0">
                <a:latin typeface="Times New Roman"/>
                <a:cs typeface="Times New Roman"/>
              </a:rPr>
              <a:t>Experience:</a:t>
            </a:r>
            <a:r>
              <a:rPr sz="1200" b="1" spc="210" dirty="0">
                <a:latin typeface="Times New Roman"/>
                <a:cs typeface="Times New Roman"/>
              </a:rPr>
              <a:t> </a:t>
            </a:r>
            <a:r>
              <a:rPr sz="1200" dirty="0">
                <a:latin typeface="Times New Roman"/>
                <a:cs typeface="Times New Roman"/>
              </a:rPr>
              <a:t>Several</a:t>
            </a:r>
            <a:r>
              <a:rPr sz="1200" spc="175" dirty="0">
                <a:latin typeface="Times New Roman"/>
                <a:cs typeface="Times New Roman"/>
              </a:rPr>
              <a:t> </a:t>
            </a:r>
            <a:r>
              <a:rPr sz="1200" dirty="0">
                <a:latin typeface="Times New Roman"/>
                <a:cs typeface="Times New Roman"/>
              </a:rPr>
              <a:t>years</a:t>
            </a:r>
            <a:r>
              <a:rPr sz="1200" spc="185" dirty="0">
                <a:latin typeface="Times New Roman"/>
                <a:cs typeface="Times New Roman"/>
              </a:rPr>
              <a:t> </a:t>
            </a:r>
            <a:r>
              <a:rPr sz="1200" dirty="0">
                <a:latin typeface="Times New Roman"/>
                <a:cs typeface="Times New Roman"/>
              </a:rPr>
              <a:t>of</a:t>
            </a:r>
            <a:r>
              <a:rPr sz="1200" spc="155" dirty="0">
                <a:latin typeface="Times New Roman"/>
                <a:cs typeface="Times New Roman"/>
              </a:rPr>
              <a:t> </a:t>
            </a:r>
            <a:r>
              <a:rPr sz="1200" dirty="0">
                <a:latin typeface="Times New Roman"/>
                <a:cs typeface="Times New Roman"/>
              </a:rPr>
              <a:t>experience</a:t>
            </a:r>
            <a:r>
              <a:rPr sz="1200" spc="190" dirty="0">
                <a:latin typeface="Times New Roman"/>
                <a:cs typeface="Times New Roman"/>
              </a:rPr>
              <a:t> </a:t>
            </a:r>
            <a:r>
              <a:rPr sz="1200" dirty="0">
                <a:latin typeface="Times New Roman"/>
                <a:cs typeface="Times New Roman"/>
              </a:rPr>
              <a:t>working</a:t>
            </a:r>
            <a:r>
              <a:rPr sz="1200" spc="215" dirty="0">
                <a:latin typeface="Times New Roman"/>
                <a:cs typeface="Times New Roman"/>
              </a:rPr>
              <a:t> </a:t>
            </a:r>
            <a:r>
              <a:rPr sz="1200" dirty="0">
                <a:latin typeface="Times New Roman"/>
                <a:cs typeface="Times New Roman"/>
              </a:rPr>
              <a:t>in</a:t>
            </a:r>
            <a:r>
              <a:rPr sz="1200" spc="195" dirty="0">
                <a:latin typeface="Times New Roman"/>
                <a:cs typeface="Times New Roman"/>
              </a:rPr>
              <a:t> </a:t>
            </a:r>
            <a:r>
              <a:rPr sz="1200" dirty="0">
                <a:latin typeface="Times New Roman"/>
                <a:cs typeface="Times New Roman"/>
              </a:rPr>
              <a:t>corporate</a:t>
            </a:r>
            <a:r>
              <a:rPr sz="1200" spc="185" dirty="0">
                <a:latin typeface="Times New Roman"/>
                <a:cs typeface="Times New Roman"/>
              </a:rPr>
              <a:t> </a:t>
            </a:r>
            <a:r>
              <a:rPr sz="1200" dirty="0">
                <a:latin typeface="Times New Roman"/>
                <a:cs typeface="Times New Roman"/>
              </a:rPr>
              <a:t>projects</a:t>
            </a:r>
            <a:r>
              <a:rPr sz="1200" spc="18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implementing</a:t>
            </a:r>
            <a:r>
              <a:rPr sz="1200" spc="5" dirty="0">
                <a:latin typeface="Times New Roman"/>
                <a:cs typeface="Times New Roman"/>
              </a:rPr>
              <a:t> </a:t>
            </a:r>
            <a:r>
              <a:rPr sz="1200" spc="-10" dirty="0">
                <a:latin typeface="Times New Roman"/>
                <a:cs typeface="Times New Roman"/>
              </a:rPr>
              <a:t>real-</a:t>
            </a:r>
            <a:r>
              <a:rPr sz="1200" dirty="0">
                <a:latin typeface="Times New Roman"/>
                <a:cs typeface="Times New Roman"/>
              </a:rPr>
              <a:t>world</a:t>
            </a:r>
            <a:r>
              <a:rPr sz="1200" spc="5" dirty="0">
                <a:latin typeface="Times New Roman"/>
                <a:cs typeface="Times New Roman"/>
              </a:rPr>
              <a:t> </a:t>
            </a:r>
            <a:r>
              <a:rPr sz="1200" dirty="0">
                <a:latin typeface="Times New Roman"/>
                <a:cs typeface="Times New Roman"/>
              </a:rPr>
              <a:t>web</a:t>
            </a:r>
            <a:r>
              <a:rPr sz="1200" spc="-15" dirty="0">
                <a:latin typeface="Times New Roman"/>
                <a:cs typeface="Times New Roman"/>
              </a:rPr>
              <a:t> </a:t>
            </a:r>
            <a:r>
              <a:rPr sz="1200" spc="-10" dirty="0">
                <a:latin typeface="Times New Roman"/>
                <a:cs typeface="Times New Roman"/>
              </a:rPr>
              <a:t>applications.</a:t>
            </a:r>
            <a:endParaRPr sz="1200">
              <a:latin typeface="Times New Roman"/>
              <a:cs typeface="Times New Roman"/>
            </a:endParaRPr>
          </a:p>
          <a:p>
            <a:pPr marL="468630" marR="7620" indent="-227965" algn="just">
              <a:lnSpc>
                <a:spcPct val="144200"/>
              </a:lnSpc>
              <a:spcBef>
                <a:spcPts val="780"/>
              </a:spcBef>
              <a:buSzPct val="83333"/>
              <a:buFont typeface="Symbol"/>
              <a:buChar char=""/>
              <a:tabLst>
                <a:tab pos="469900" algn="l"/>
              </a:tabLst>
            </a:pPr>
            <a:r>
              <a:rPr sz="1200" b="1" spc="-10" dirty="0">
                <a:latin typeface="Times New Roman"/>
                <a:cs typeface="Times New Roman"/>
              </a:rPr>
              <a:t>Project</a:t>
            </a:r>
            <a:r>
              <a:rPr sz="1200" b="1" spc="-25" dirty="0">
                <a:latin typeface="Times New Roman"/>
                <a:cs typeface="Times New Roman"/>
              </a:rPr>
              <a:t> </a:t>
            </a:r>
            <a:r>
              <a:rPr sz="1200" b="1" spc="-10" dirty="0">
                <a:latin typeface="Times New Roman"/>
                <a:cs typeface="Times New Roman"/>
              </a:rPr>
              <a:t>Guidance:</a:t>
            </a:r>
            <a:r>
              <a:rPr sz="1200" b="1" spc="-65" dirty="0">
                <a:latin typeface="Times New Roman"/>
                <a:cs typeface="Times New Roman"/>
              </a:rPr>
              <a:t> </a:t>
            </a:r>
            <a:r>
              <a:rPr sz="1200" dirty="0">
                <a:latin typeface="Times New Roman"/>
                <a:cs typeface="Times New Roman"/>
              </a:rPr>
              <a:t>Assisted</a:t>
            </a:r>
            <a:r>
              <a:rPr sz="1200" spc="-25" dirty="0">
                <a:latin typeface="Times New Roman"/>
                <a:cs typeface="Times New Roman"/>
              </a:rPr>
              <a:t> </a:t>
            </a:r>
            <a:r>
              <a:rPr sz="1200" spc="-10" dirty="0">
                <a:latin typeface="Times New Roman"/>
                <a:cs typeface="Times New Roman"/>
              </a:rPr>
              <a:t>participants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understanding</a:t>
            </a:r>
            <a:r>
              <a:rPr sz="1200" spc="-20" dirty="0">
                <a:latin typeface="Times New Roman"/>
                <a:cs typeface="Times New Roman"/>
              </a:rPr>
              <a:t> </a:t>
            </a:r>
            <a:r>
              <a:rPr sz="1200" dirty="0">
                <a:latin typeface="Times New Roman"/>
                <a:cs typeface="Times New Roman"/>
              </a:rPr>
              <a:t>project </a:t>
            </a:r>
            <a:r>
              <a:rPr sz="1200" spc="-10" dirty="0">
                <a:latin typeface="Times New Roman"/>
                <a:cs typeface="Times New Roman"/>
              </a:rPr>
              <a:t>requirements,</a:t>
            </a:r>
            <a:r>
              <a:rPr sz="1200" spc="-15" dirty="0">
                <a:latin typeface="Times New Roman"/>
                <a:cs typeface="Times New Roman"/>
              </a:rPr>
              <a:t> </a:t>
            </a:r>
            <a:r>
              <a:rPr sz="1200" spc="-10" dirty="0">
                <a:latin typeface="Times New Roman"/>
                <a:cs typeface="Times New Roman"/>
              </a:rPr>
              <a:t>designing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system</a:t>
            </a:r>
            <a:r>
              <a:rPr sz="1200" spc="40" dirty="0">
                <a:latin typeface="Times New Roman"/>
                <a:cs typeface="Times New Roman"/>
              </a:rPr>
              <a:t> </a:t>
            </a:r>
            <a:r>
              <a:rPr sz="1200" dirty="0">
                <a:latin typeface="Times New Roman"/>
                <a:cs typeface="Times New Roman"/>
              </a:rPr>
              <a:t>architecture,</a:t>
            </a:r>
            <a:r>
              <a:rPr sz="1200" spc="75"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dirty="0">
                <a:latin typeface="Times New Roman"/>
                <a:cs typeface="Times New Roman"/>
              </a:rPr>
              <a:t>implementing</a:t>
            </a:r>
            <a:r>
              <a:rPr sz="1200" spc="105" dirty="0">
                <a:latin typeface="Times New Roman"/>
                <a:cs typeface="Times New Roman"/>
              </a:rPr>
              <a:t> </a:t>
            </a:r>
            <a:r>
              <a:rPr sz="1200" dirty="0">
                <a:latin typeface="Times New Roman"/>
                <a:cs typeface="Times New Roman"/>
              </a:rPr>
              <a:t>functional</a:t>
            </a:r>
            <a:r>
              <a:rPr sz="1200" spc="60" dirty="0">
                <a:latin typeface="Times New Roman"/>
                <a:cs typeface="Times New Roman"/>
              </a:rPr>
              <a:t> </a:t>
            </a:r>
            <a:r>
              <a:rPr sz="1200" dirty="0">
                <a:latin typeface="Times New Roman"/>
                <a:cs typeface="Times New Roman"/>
              </a:rPr>
              <a:t>features</a:t>
            </a:r>
            <a:r>
              <a:rPr sz="1200" spc="95"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the</a:t>
            </a:r>
            <a:r>
              <a:rPr sz="1200" spc="80" dirty="0">
                <a:latin typeface="Times New Roman"/>
                <a:cs typeface="Times New Roman"/>
              </a:rPr>
              <a:t> </a:t>
            </a:r>
            <a:r>
              <a:rPr sz="1200" dirty="0">
                <a:latin typeface="Times New Roman"/>
                <a:cs typeface="Times New Roman"/>
              </a:rPr>
              <a:t>Car</a:t>
            </a:r>
            <a:r>
              <a:rPr sz="1200" spc="90" dirty="0">
                <a:latin typeface="Times New Roman"/>
                <a:cs typeface="Times New Roman"/>
              </a:rPr>
              <a:t> </a:t>
            </a:r>
            <a:r>
              <a:rPr sz="1200" dirty="0">
                <a:latin typeface="Times New Roman"/>
                <a:cs typeface="Times New Roman"/>
              </a:rPr>
              <a:t>Rental</a:t>
            </a:r>
            <a:r>
              <a:rPr sz="1200" spc="45" dirty="0">
                <a:latin typeface="Times New Roman"/>
                <a:cs typeface="Times New Roman"/>
              </a:rPr>
              <a:t> </a:t>
            </a:r>
            <a:r>
              <a:rPr sz="1200" spc="-10" dirty="0">
                <a:latin typeface="Times New Roman"/>
                <a:cs typeface="Times New Roman"/>
              </a:rPr>
              <a:t>System 	project.</a:t>
            </a:r>
            <a:endParaRPr sz="1200">
              <a:latin typeface="Times New Roman"/>
              <a:cs typeface="Times New Roman"/>
            </a:endParaRPr>
          </a:p>
          <a:p>
            <a:pPr marL="468630" marR="14604" indent="-227965" algn="just">
              <a:lnSpc>
                <a:spcPct val="145000"/>
              </a:lnSpc>
              <a:spcBef>
                <a:spcPts val="765"/>
              </a:spcBef>
              <a:buSzPct val="83333"/>
              <a:buFont typeface="Symbol"/>
              <a:buChar char=""/>
              <a:tabLst>
                <a:tab pos="469900" algn="l"/>
              </a:tabLst>
            </a:pPr>
            <a:r>
              <a:rPr sz="1200" b="1" dirty="0">
                <a:latin typeface="Times New Roman"/>
                <a:cs typeface="Times New Roman"/>
              </a:rPr>
              <a:t>Mentorship:</a:t>
            </a:r>
            <a:r>
              <a:rPr sz="1200" b="1" spc="235" dirty="0">
                <a:latin typeface="Times New Roman"/>
                <a:cs typeface="Times New Roman"/>
              </a:rPr>
              <a:t> </a:t>
            </a:r>
            <a:r>
              <a:rPr sz="1200" dirty="0">
                <a:latin typeface="Times New Roman"/>
                <a:cs typeface="Times New Roman"/>
              </a:rPr>
              <a:t>Provided</a:t>
            </a:r>
            <a:r>
              <a:rPr sz="1200" spc="220" dirty="0">
                <a:latin typeface="Times New Roman"/>
                <a:cs typeface="Times New Roman"/>
              </a:rPr>
              <a:t> </a:t>
            </a:r>
            <a:r>
              <a:rPr sz="1200" dirty="0">
                <a:latin typeface="Times New Roman"/>
                <a:cs typeface="Times New Roman"/>
              </a:rPr>
              <a:t>continuous</a:t>
            </a:r>
            <a:r>
              <a:rPr sz="1200" spc="210" dirty="0">
                <a:latin typeface="Times New Roman"/>
                <a:cs typeface="Times New Roman"/>
              </a:rPr>
              <a:t> </a:t>
            </a:r>
            <a:r>
              <a:rPr sz="1200" dirty="0">
                <a:latin typeface="Times New Roman"/>
                <a:cs typeface="Times New Roman"/>
              </a:rPr>
              <a:t>support</a:t>
            </a:r>
            <a:r>
              <a:rPr sz="1200" spc="225" dirty="0">
                <a:latin typeface="Times New Roman"/>
                <a:cs typeface="Times New Roman"/>
              </a:rPr>
              <a:t> </a:t>
            </a:r>
            <a:r>
              <a:rPr sz="1200" dirty="0">
                <a:latin typeface="Times New Roman"/>
                <a:cs typeface="Times New Roman"/>
              </a:rPr>
              <a:t>in</a:t>
            </a:r>
            <a:r>
              <a:rPr sz="1200" spc="204" dirty="0">
                <a:latin typeface="Times New Roman"/>
                <a:cs typeface="Times New Roman"/>
              </a:rPr>
              <a:t> </a:t>
            </a:r>
            <a:r>
              <a:rPr sz="1200" dirty="0">
                <a:latin typeface="Times New Roman"/>
                <a:cs typeface="Times New Roman"/>
              </a:rPr>
              <a:t>debugging,</a:t>
            </a:r>
            <a:r>
              <a:rPr sz="1200" spc="229" dirty="0">
                <a:latin typeface="Times New Roman"/>
                <a:cs typeface="Times New Roman"/>
              </a:rPr>
              <a:t> </a:t>
            </a:r>
            <a:r>
              <a:rPr sz="1200" dirty="0">
                <a:latin typeface="Times New Roman"/>
                <a:cs typeface="Times New Roman"/>
              </a:rPr>
              <a:t>code</a:t>
            </a:r>
            <a:r>
              <a:rPr sz="1200" spc="175" dirty="0">
                <a:latin typeface="Times New Roman"/>
                <a:cs typeface="Times New Roman"/>
              </a:rPr>
              <a:t> </a:t>
            </a:r>
            <a:r>
              <a:rPr sz="1200" dirty="0">
                <a:latin typeface="Times New Roman"/>
                <a:cs typeface="Times New Roman"/>
              </a:rPr>
              <a:t>optimization,</a:t>
            </a:r>
            <a:r>
              <a:rPr sz="1200" spc="235" dirty="0">
                <a:latin typeface="Times New Roman"/>
                <a:cs typeface="Times New Roman"/>
              </a:rPr>
              <a:t> </a:t>
            </a:r>
            <a:r>
              <a:rPr sz="1200" dirty="0">
                <a:latin typeface="Times New Roman"/>
                <a:cs typeface="Times New Roman"/>
              </a:rPr>
              <a:t>and</a:t>
            </a:r>
            <a:r>
              <a:rPr sz="1200" spc="220" dirty="0">
                <a:latin typeface="Times New Roman"/>
                <a:cs typeface="Times New Roman"/>
              </a:rPr>
              <a:t> </a:t>
            </a:r>
            <a:r>
              <a:rPr sz="1200" spc="-20" dirty="0">
                <a:latin typeface="Times New Roman"/>
                <a:cs typeface="Times New Roman"/>
              </a:rPr>
              <a:t>best 	</a:t>
            </a:r>
            <a:r>
              <a:rPr sz="1200" dirty="0">
                <a:latin typeface="Times New Roman"/>
                <a:cs typeface="Times New Roman"/>
              </a:rPr>
              <a:t>practices</a:t>
            </a:r>
            <a:r>
              <a:rPr sz="1200" spc="-25" dirty="0">
                <a:latin typeface="Times New Roman"/>
                <a:cs typeface="Times New Roman"/>
              </a:rPr>
              <a:t> </a:t>
            </a:r>
            <a:r>
              <a:rPr sz="1200" dirty="0">
                <a:latin typeface="Times New Roman"/>
                <a:cs typeface="Times New Roman"/>
              </a:rPr>
              <a:t>in</a:t>
            </a:r>
            <a:r>
              <a:rPr sz="1200" spc="-55" dirty="0">
                <a:latin typeface="Times New Roman"/>
                <a:cs typeface="Times New Roman"/>
              </a:rPr>
              <a:t> </a:t>
            </a:r>
            <a:r>
              <a:rPr sz="1200" dirty="0">
                <a:latin typeface="Times New Roman"/>
                <a:cs typeface="Times New Roman"/>
              </a:rPr>
              <a:t>software</a:t>
            </a:r>
            <a:r>
              <a:rPr sz="1200" spc="-35" dirty="0">
                <a:latin typeface="Times New Roman"/>
                <a:cs typeface="Times New Roman"/>
              </a:rPr>
              <a:t> </a:t>
            </a:r>
            <a:r>
              <a:rPr sz="1200" spc="-10" dirty="0">
                <a:latin typeface="Times New Roman"/>
                <a:cs typeface="Times New Roman"/>
              </a:rPr>
              <a:t>development.</a:t>
            </a:r>
            <a:endParaRPr sz="1200">
              <a:latin typeface="Times New Roman"/>
              <a:cs typeface="Times New Roman"/>
            </a:endParaRPr>
          </a:p>
          <a:p>
            <a:pPr marL="468630" marR="8255" indent="-227965" algn="just">
              <a:lnSpc>
                <a:spcPct val="145000"/>
              </a:lnSpc>
              <a:spcBef>
                <a:spcPts val="775"/>
              </a:spcBef>
              <a:buSzPct val="83333"/>
              <a:buFont typeface="Symbol"/>
              <a:buChar char=""/>
              <a:tabLst>
                <a:tab pos="469900" algn="l"/>
              </a:tabLst>
            </a:pPr>
            <a:r>
              <a:rPr sz="1200" b="1" dirty="0">
                <a:latin typeface="Times New Roman"/>
                <a:cs typeface="Times New Roman"/>
              </a:rPr>
              <a:t>Training</a:t>
            </a:r>
            <a:r>
              <a:rPr sz="1200" b="1" spc="190" dirty="0">
                <a:latin typeface="Times New Roman"/>
                <a:cs typeface="Times New Roman"/>
              </a:rPr>
              <a:t> </a:t>
            </a:r>
            <a:r>
              <a:rPr sz="1200" b="1" dirty="0">
                <a:latin typeface="Times New Roman"/>
                <a:cs typeface="Times New Roman"/>
              </a:rPr>
              <a:t>Approach:</a:t>
            </a:r>
            <a:r>
              <a:rPr sz="1200" b="1" spc="295" dirty="0">
                <a:latin typeface="Times New Roman"/>
                <a:cs typeface="Times New Roman"/>
              </a:rPr>
              <a:t> </a:t>
            </a:r>
            <a:r>
              <a:rPr sz="1200" dirty="0">
                <a:latin typeface="Times New Roman"/>
                <a:cs typeface="Times New Roman"/>
              </a:rPr>
              <a:t>Focused</a:t>
            </a:r>
            <a:r>
              <a:rPr sz="1200" spc="275" dirty="0">
                <a:latin typeface="Times New Roman"/>
                <a:cs typeface="Times New Roman"/>
              </a:rPr>
              <a:t> </a:t>
            </a:r>
            <a:r>
              <a:rPr sz="1200" dirty="0">
                <a:latin typeface="Times New Roman"/>
                <a:cs typeface="Times New Roman"/>
              </a:rPr>
              <a:t>on</a:t>
            </a:r>
            <a:r>
              <a:rPr sz="1200" spc="280" dirty="0">
                <a:latin typeface="Times New Roman"/>
                <a:cs typeface="Times New Roman"/>
              </a:rPr>
              <a:t> </a:t>
            </a:r>
            <a:r>
              <a:rPr sz="1200" spc="-10" dirty="0">
                <a:latin typeface="Times New Roman"/>
                <a:cs typeface="Times New Roman"/>
              </a:rPr>
              <a:t>hands-</a:t>
            </a:r>
            <a:r>
              <a:rPr sz="1200" dirty="0">
                <a:latin typeface="Times New Roman"/>
                <a:cs typeface="Times New Roman"/>
              </a:rPr>
              <a:t>on</a:t>
            </a:r>
            <a:r>
              <a:rPr sz="1200" spc="280" dirty="0">
                <a:latin typeface="Times New Roman"/>
                <a:cs typeface="Times New Roman"/>
              </a:rPr>
              <a:t> </a:t>
            </a:r>
            <a:r>
              <a:rPr sz="1200" dirty="0">
                <a:latin typeface="Times New Roman"/>
                <a:cs typeface="Times New Roman"/>
              </a:rPr>
              <a:t>learning,</a:t>
            </a:r>
            <a:r>
              <a:rPr sz="1200" spc="28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75" dirty="0">
                <a:latin typeface="Times New Roman"/>
                <a:cs typeface="Times New Roman"/>
              </a:rPr>
              <a:t> </a:t>
            </a:r>
            <a:r>
              <a:rPr sz="1200" dirty="0">
                <a:latin typeface="Times New Roman"/>
                <a:cs typeface="Times New Roman"/>
              </a:rPr>
              <a:t>problem</a:t>
            </a:r>
            <a:r>
              <a:rPr sz="1200" spc="285" dirty="0">
                <a:latin typeface="Times New Roman"/>
                <a:cs typeface="Times New Roman"/>
              </a:rPr>
              <a:t> </a:t>
            </a:r>
            <a:r>
              <a:rPr sz="1200" dirty="0">
                <a:latin typeface="Times New Roman"/>
                <a:cs typeface="Times New Roman"/>
              </a:rPr>
              <a:t>solving,</a:t>
            </a:r>
            <a:r>
              <a:rPr sz="1200" spc="285" dirty="0">
                <a:latin typeface="Times New Roman"/>
                <a:cs typeface="Times New Roman"/>
              </a:rPr>
              <a:t> </a:t>
            </a:r>
            <a:r>
              <a:rPr sz="1200" spc="-25" dirty="0">
                <a:latin typeface="Times New Roman"/>
                <a:cs typeface="Times New Roman"/>
              </a:rPr>
              <a:t>and 	</a:t>
            </a:r>
            <a:r>
              <a:rPr sz="1200" dirty="0">
                <a:latin typeface="Times New Roman"/>
                <a:cs typeface="Times New Roman"/>
              </a:rPr>
              <a:t>enhancing</a:t>
            </a:r>
            <a:r>
              <a:rPr sz="1200" spc="10" dirty="0">
                <a:latin typeface="Times New Roman"/>
                <a:cs typeface="Times New Roman"/>
              </a:rPr>
              <a:t> </a:t>
            </a:r>
            <a:r>
              <a:rPr sz="1200" dirty="0">
                <a:latin typeface="Times New Roman"/>
                <a:cs typeface="Times New Roman"/>
              </a:rPr>
              <a:t>both</a:t>
            </a:r>
            <a:r>
              <a:rPr sz="1200" spc="-55" dirty="0">
                <a:latin typeface="Times New Roman"/>
                <a:cs typeface="Times New Roman"/>
              </a:rPr>
              <a:t> </a:t>
            </a:r>
            <a:r>
              <a:rPr sz="1200" spc="-10" dirty="0">
                <a:latin typeface="Times New Roman"/>
                <a:cs typeface="Times New Roman"/>
              </a:rPr>
              <a:t>technical</a:t>
            </a:r>
            <a:r>
              <a:rPr sz="1200" spc="-5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professional</a:t>
            </a:r>
            <a:r>
              <a:rPr sz="1200" spc="-30" dirty="0">
                <a:latin typeface="Times New Roman"/>
                <a:cs typeface="Times New Roman"/>
              </a:rPr>
              <a:t> </a:t>
            </a:r>
            <a:r>
              <a:rPr sz="1200" dirty="0">
                <a:latin typeface="Times New Roman"/>
                <a:cs typeface="Times New Roman"/>
              </a:rPr>
              <a:t>skills</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participants.</a:t>
            </a:r>
            <a:endParaRPr sz="1200">
              <a:latin typeface="Times New Roman"/>
              <a:cs typeface="Times New Roman"/>
            </a:endParaRPr>
          </a:p>
          <a:p>
            <a:pPr marL="12700" marR="14604" algn="just">
              <a:lnSpc>
                <a:spcPct val="146700"/>
              </a:lnSpc>
              <a:spcBef>
                <a:spcPts val="720"/>
              </a:spcBef>
            </a:pPr>
            <a:r>
              <a:rPr sz="1200" dirty="0">
                <a:latin typeface="Times New Roman"/>
                <a:cs typeface="Times New Roman"/>
              </a:rPr>
              <a:t>The</a:t>
            </a:r>
            <a:r>
              <a:rPr sz="1200" spc="155" dirty="0">
                <a:latin typeface="Times New Roman"/>
                <a:cs typeface="Times New Roman"/>
              </a:rPr>
              <a:t> </a:t>
            </a:r>
            <a:r>
              <a:rPr sz="1200" dirty="0">
                <a:latin typeface="Times New Roman"/>
                <a:cs typeface="Times New Roman"/>
              </a:rPr>
              <a:t>instructor</a:t>
            </a:r>
            <a:r>
              <a:rPr sz="1200" spc="145" dirty="0">
                <a:latin typeface="Times New Roman"/>
                <a:cs typeface="Times New Roman"/>
              </a:rPr>
              <a:t> </a:t>
            </a:r>
            <a:r>
              <a:rPr sz="1200" dirty="0">
                <a:latin typeface="Times New Roman"/>
                <a:cs typeface="Times New Roman"/>
              </a:rPr>
              <a:t>played</a:t>
            </a:r>
            <a:r>
              <a:rPr sz="1200" spc="135" dirty="0">
                <a:latin typeface="Times New Roman"/>
                <a:cs typeface="Times New Roman"/>
              </a:rPr>
              <a:t> </a:t>
            </a:r>
            <a:r>
              <a:rPr sz="1200" dirty="0">
                <a:latin typeface="Times New Roman"/>
                <a:cs typeface="Times New Roman"/>
              </a:rPr>
              <a:t>a</a:t>
            </a:r>
            <a:r>
              <a:rPr sz="1200" spc="135" dirty="0">
                <a:latin typeface="Times New Roman"/>
                <a:cs typeface="Times New Roman"/>
              </a:rPr>
              <a:t> </a:t>
            </a:r>
            <a:r>
              <a:rPr sz="1200" dirty="0">
                <a:latin typeface="Times New Roman"/>
                <a:cs typeface="Times New Roman"/>
              </a:rPr>
              <a:t>pivotal</a:t>
            </a:r>
            <a:r>
              <a:rPr sz="1200" spc="95" dirty="0">
                <a:latin typeface="Times New Roman"/>
                <a:cs typeface="Times New Roman"/>
              </a:rPr>
              <a:t> </a:t>
            </a:r>
            <a:r>
              <a:rPr sz="1200" dirty="0">
                <a:latin typeface="Times New Roman"/>
                <a:cs typeface="Times New Roman"/>
              </a:rPr>
              <a:t>role</a:t>
            </a:r>
            <a:r>
              <a:rPr sz="1200" spc="155" dirty="0">
                <a:latin typeface="Times New Roman"/>
                <a:cs typeface="Times New Roman"/>
              </a:rPr>
              <a:t> </a:t>
            </a:r>
            <a:r>
              <a:rPr sz="1200" dirty="0">
                <a:latin typeface="Times New Roman"/>
                <a:cs typeface="Times New Roman"/>
              </a:rPr>
              <a:t>in</a:t>
            </a:r>
            <a:r>
              <a:rPr sz="1200" spc="114" dirty="0">
                <a:latin typeface="Times New Roman"/>
                <a:cs typeface="Times New Roman"/>
              </a:rPr>
              <a:t> </a:t>
            </a:r>
            <a:r>
              <a:rPr sz="1200" dirty="0">
                <a:latin typeface="Times New Roman"/>
                <a:cs typeface="Times New Roman"/>
              </a:rPr>
              <a:t>ensuring</a:t>
            </a:r>
            <a:r>
              <a:rPr sz="1200" spc="160" dirty="0">
                <a:latin typeface="Times New Roman"/>
                <a:cs typeface="Times New Roman"/>
              </a:rPr>
              <a:t> </a:t>
            </a:r>
            <a:r>
              <a:rPr sz="1200" dirty="0">
                <a:latin typeface="Times New Roman"/>
                <a:cs typeface="Times New Roman"/>
              </a:rPr>
              <a:t>that</a:t>
            </a:r>
            <a:r>
              <a:rPr sz="1200" spc="140"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dirty="0">
                <a:latin typeface="Times New Roman"/>
                <a:cs typeface="Times New Roman"/>
              </a:rPr>
              <a:t>training</a:t>
            </a:r>
            <a:r>
              <a:rPr sz="1200" spc="140" dirty="0">
                <a:latin typeface="Times New Roman"/>
                <a:cs typeface="Times New Roman"/>
              </a:rPr>
              <a:t> </a:t>
            </a:r>
            <a:r>
              <a:rPr sz="1200" dirty="0">
                <a:latin typeface="Times New Roman"/>
                <a:cs typeface="Times New Roman"/>
              </a:rPr>
              <a:t>was</a:t>
            </a:r>
            <a:r>
              <a:rPr sz="1200" spc="125" dirty="0">
                <a:latin typeface="Times New Roman"/>
                <a:cs typeface="Times New Roman"/>
              </a:rPr>
              <a:t> </a:t>
            </a:r>
            <a:r>
              <a:rPr sz="1200" dirty="0">
                <a:latin typeface="Times New Roman"/>
                <a:cs typeface="Times New Roman"/>
              </a:rPr>
              <a:t>practical,</a:t>
            </a:r>
            <a:r>
              <a:rPr sz="1200" spc="150" dirty="0">
                <a:latin typeface="Times New Roman"/>
                <a:cs typeface="Times New Roman"/>
              </a:rPr>
              <a:t> </a:t>
            </a:r>
            <a:r>
              <a:rPr sz="1200" dirty="0">
                <a:latin typeface="Times New Roman"/>
                <a:cs typeface="Times New Roman"/>
              </a:rPr>
              <a:t>engaging,</a:t>
            </a:r>
            <a:r>
              <a:rPr sz="1200" spc="145" dirty="0">
                <a:latin typeface="Times New Roman"/>
                <a:cs typeface="Times New Roman"/>
              </a:rPr>
              <a:t> </a:t>
            </a:r>
            <a:r>
              <a:rPr sz="1200" spc="-25" dirty="0">
                <a:latin typeface="Times New Roman"/>
                <a:cs typeface="Times New Roman"/>
              </a:rPr>
              <a:t>and </a:t>
            </a:r>
            <a:r>
              <a:rPr sz="1200" dirty="0">
                <a:latin typeface="Times New Roman"/>
                <a:cs typeface="Times New Roman"/>
              </a:rPr>
              <a:t>aligned</a:t>
            </a:r>
            <a:r>
              <a:rPr sz="1200" spc="-1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spc="-10" dirty="0">
                <a:latin typeface="Times New Roman"/>
                <a:cs typeface="Times New Roman"/>
              </a:rPr>
              <a:t>industry</a:t>
            </a:r>
            <a:r>
              <a:rPr sz="1200" spc="-55" dirty="0">
                <a:latin typeface="Times New Roman"/>
                <a:cs typeface="Times New Roman"/>
              </a:rPr>
              <a:t> </a:t>
            </a:r>
            <a:r>
              <a:rPr sz="1200" spc="-10" dirty="0">
                <a:latin typeface="Times New Roman"/>
                <a:cs typeface="Times New Roman"/>
              </a:rPr>
              <a:t>standards.</a:t>
            </a:r>
            <a:endParaRPr sz="1200">
              <a:latin typeface="Times New Roman"/>
              <a:cs typeface="Times New Roman"/>
            </a:endParaRPr>
          </a:p>
        </p:txBody>
      </p:sp>
      <p:sp>
        <p:nvSpPr>
          <p:cNvPr id="3" name="object 3"/>
          <p:cNvSpPr txBox="1"/>
          <p:nvPr/>
        </p:nvSpPr>
        <p:spPr>
          <a:xfrm>
            <a:off x="902004" y="5283200"/>
            <a:ext cx="5975350" cy="2258311"/>
          </a:xfrm>
          <a:prstGeom prst="rect">
            <a:avLst/>
          </a:prstGeom>
        </p:spPr>
        <p:txBody>
          <a:bodyPr vert="horz" wrap="square" lIns="0" tIns="11430" rIns="0" bIns="0" rtlCol="0">
            <a:spAutoFit/>
          </a:bodyPr>
          <a:lstStyle/>
          <a:p>
            <a:pPr marL="12700" algn="just">
              <a:lnSpc>
                <a:spcPct val="100000"/>
              </a:lnSpc>
              <a:spcBef>
                <a:spcPts val="90"/>
              </a:spcBef>
            </a:pPr>
            <a:r>
              <a:rPr sz="1400" b="1" dirty="0">
                <a:latin typeface="Times New Roman"/>
                <a:cs typeface="Times New Roman"/>
              </a:rPr>
              <a:t>2.5</a:t>
            </a:r>
            <a:r>
              <a:rPr sz="1400" b="1" spc="-5" dirty="0">
                <a:latin typeface="Times New Roman"/>
                <a:cs typeface="Times New Roman"/>
              </a:rPr>
              <a:t> </a:t>
            </a:r>
            <a:r>
              <a:rPr sz="1400" b="1" spc="-10" dirty="0">
                <a:latin typeface="Times New Roman"/>
                <a:cs typeface="Times New Roman"/>
              </a:rPr>
              <a:t>Conclusion</a:t>
            </a:r>
            <a:endParaRPr sz="1400" dirty="0">
              <a:latin typeface="Times New Roman"/>
              <a:cs typeface="Times New Roman"/>
            </a:endParaRPr>
          </a:p>
          <a:p>
            <a:r>
              <a:rPr lang="en-US" sz="1200" dirty="0"/>
              <a:t>The training program at </a:t>
            </a:r>
            <a:r>
              <a:rPr lang="en-US" sz="1200" b="1" dirty="0"/>
              <a:t>Seldom India Technologies, Jaipur</a:t>
            </a:r>
            <a:r>
              <a:rPr lang="en-US" sz="1200" dirty="0"/>
              <a:t> provided a </a:t>
            </a:r>
            <a:r>
              <a:rPr lang="en-US" sz="1200" b="1" dirty="0"/>
              <a:t>structured and professional learning environment</a:t>
            </a:r>
            <a:r>
              <a:rPr lang="en-US" sz="1200" dirty="0"/>
              <a:t> focused on </a:t>
            </a:r>
            <a:r>
              <a:rPr lang="en-US" sz="1200" b="1" dirty="0"/>
              <a:t>Full Stack Web Development and Cloud Integration</a:t>
            </a:r>
            <a:r>
              <a:rPr lang="en-US" sz="1200" dirty="0"/>
              <a:t>. Participants gained valuable hands-on experience in </a:t>
            </a:r>
            <a:r>
              <a:rPr lang="en-US" sz="1200" b="1" dirty="0"/>
              <a:t>front-end and back-end development</a:t>
            </a:r>
            <a:r>
              <a:rPr lang="en-US" sz="1200" dirty="0"/>
              <a:t>, </a:t>
            </a:r>
            <a:r>
              <a:rPr lang="en-US" sz="1200" b="1" dirty="0"/>
              <a:t>database management</a:t>
            </a:r>
            <a:r>
              <a:rPr lang="en-US" sz="1200" dirty="0"/>
              <a:t>, and </a:t>
            </a:r>
            <a:r>
              <a:rPr lang="en-US" sz="1200" b="1" dirty="0"/>
              <a:t>deployment of web-based applications</a:t>
            </a:r>
            <a:r>
              <a:rPr lang="en-US" sz="1200" dirty="0"/>
              <a:t> using modern technologies.</a:t>
            </a:r>
          </a:p>
          <a:p>
            <a:r>
              <a:rPr lang="en-US" sz="1200" dirty="0"/>
              <a:t>Under expert mentorship and through </a:t>
            </a:r>
            <a:r>
              <a:rPr lang="en-US" sz="1200" b="1" dirty="0"/>
              <a:t>project-based learning</a:t>
            </a:r>
            <a:r>
              <a:rPr lang="en-US" sz="1200" dirty="0"/>
              <a:t>, the trainees successfully developed the </a:t>
            </a:r>
            <a:r>
              <a:rPr lang="en-US" sz="1200" b="1" dirty="0"/>
              <a:t>NIDHI-SETU System</a:t>
            </a:r>
            <a:r>
              <a:rPr lang="en-US" sz="1200" dirty="0"/>
              <a:t> — an AI-integrated web platform designed to ensure secure and transparent government fund disbursement. The project served as a practical application of key concepts such as </a:t>
            </a:r>
            <a:r>
              <a:rPr lang="en-US" sz="1200" b="1" dirty="0"/>
              <a:t>React.js-based UI design, Node.js server-side development, Firebase authentication and real-time data handling, and AI-driven verification using </a:t>
            </a:r>
            <a:r>
              <a:rPr lang="en-US" sz="1200" b="1" dirty="0" err="1"/>
              <a:t>Supabase</a:t>
            </a:r>
            <a:r>
              <a:rPr lang="en-US" sz="1200" b="1" dirty="0"/>
              <a:t> and Twilio AI</a:t>
            </a:r>
            <a:r>
              <a:rPr lang="en-US" sz="12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8</a:t>
            </a:r>
          </a:p>
        </p:txBody>
      </p:sp>
      <p:sp>
        <p:nvSpPr>
          <p:cNvPr id="2" name="object 2"/>
          <p:cNvSpPr txBox="1"/>
          <p:nvPr/>
        </p:nvSpPr>
        <p:spPr>
          <a:xfrm>
            <a:off x="902004" y="886713"/>
            <a:ext cx="5970905" cy="9149941"/>
          </a:xfrm>
          <a:prstGeom prst="rect">
            <a:avLst/>
          </a:prstGeom>
        </p:spPr>
        <p:txBody>
          <a:bodyPr vert="horz" wrap="square" lIns="0" tIns="11430" rIns="0" bIns="0" rtlCol="0">
            <a:spAutoFit/>
          </a:bodyPr>
          <a:lstStyle/>
          <a:p>
            <a:pPr algn="ctr">
              <a:lnSpc>
                <a:spcPct val="100000"/>
              </a:lnSpc>
              <a:spcBef>
                <a:spcPts val="90"/>
              </a:spcBef>
            </a:pPr>
            <a:r>
              <a:rPr sz="1400" b="1" dirty="0">
                <a:latin typeface="Times New Roman"/>
                <a:cs typeface="Times New Roman"/>
              </a:rPr>
              <a:t>Chapter</a:t>
            </a:r>
            <a:r>
              <a:rPr sz="1400" b="1" spc="-85" dirty="0">
                <a:latin typeface="Times New Roman"/>
                <a:cs typeface="Times New Roman"/>
              </a:rPr>
              <a:t> </a:t>
            </a:r>
            <a:r>
              <a:rPr sz="1400" b="1" spc="-50" dirty="0">
                <a:latin typeface="Times New Roman"/>
                <a:cs typeface="Times New Roman"/>
              </a:rPr>
              <a:t>3</a:t>
            </a:r>
            <a:endParaRPr sz="1400" dirty="0">
              <a:latin typeface="Times New Roman"/>
              <a:cs typeface="Times New Roman"/>
            </a:endParaRPr>
          </a:p>
          <a:p>
            <a:pPr algn="ctr">
              <a:lnSpc>
                <a:spcPct val="100000"/>
              </a:lnSpc>
              <a:spcBef>
                <a:spcPts val="1155"/>
              </a:spcBef>
            </a:pPr>
            <a:r>
              <a:rPr sz="1400" b="1" spc="-20" dirty="0">
                <a:latin typeface="Times New Roman"/>
                <a:cs typeface="Times New Roman"/>
              </a:rPr>
              <a:t>Technology</a:t>
            </a:r>
            <a:r>
              <a:rPr sz="1400" b="1" spc="-25" dirty="0">
                <a:latin typeface="Times New Roman"/>
                <a:cs typeface="Times New Roman"/>
              </a:rPr>
              <a:t> </a:t>
            </a:r>
            <a:r>
              <a:rPr sz="1400" b="1" spc="-10" dirty="0">
                <a:latin typeface="Times New Roman"/>
                <a:cs typeface="Times New Roman"/>
              </a:rPr>
              <a:t>Specification</a:t>
            </a: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355"/>
              </a:spcBef>
            </a:pPr>
            <a:endParaRPr sz="1400" dirty="0">
              <a:latin typeface="Times New Roman"/>
              <a:cs typeface="Times New Roman"/>
            </a:endParaRPr>
          </a:p>
          <a:p>
            <a:pPr marL="280035" lvl="1" indent="-267335" algn="just">
              <a:lnSpc>
                <a:spcPct val="100000"/>
              </a:lnSpc>
              <a:buAutoNum type="arabicPeriod"/>
              <a:tabLst>
                <a:tab pos="280035" algn="l"/>
              </a:tabLst>
            </a:pPr>
            <a:r>
              <a:rPr sz="1400" b="1" spc="-10" dirty="0">
                <a:latin typeface="Times New Roman"/>
                <a:cs typeface="Times New Roman"/>
              </a:rPr>
              <a:t>Introduction</a:t>
            </a:r>
            <a:endParaRPr sz="1400" dirty="0">
              <a:latin typeface="Times New Roman"/>
              <a:cs typeface="Times New Roman"/>
            </a:endParaRPr>
          </a:p>
          <a:p>
            <a:r>
              <a:rPr lang="en-US" sz="1200" dirty="0"/>
              <a:t>The training program at </a:t>
            </a:r>
            <a:r>
              <a:rPr lang="en-US" sz="1200" b="1" dirty="0"/>
              <a:t>Seldom India Technologies, Jaipur</a:t>
            </a:r>
            <a:r>
              <a:rPr lang="en-US" sz="1200" dirty="0"/>
              <a:t> was focused on </a:t>
            </a:r>
            <a:r>
              <a:rPr lang="en-US" sz="1200" b="1" dirty="0"/>
              <a:t>Full Stack Web Development</a:t>
            </a:r>
            <a:r>
              <a:rPr lang="en-US" sz="1200" dirty="0"/>
              <a:t>, providing practical, hands-on experience in </a:t>
            </a:r>
            <a:r>
              <a:rPr lang="en-US" sz="1200" b="1" dirty="0"/>
              <a:t>designing, developing, and deploying real-world web applications</a:t>
            </a:r>
            <a:r>
              <a:rPr lang="en-US" sz="1200" dirty="0"/>
              <a:t>. The primary objective of this training was to strengthen participants’ technical skills in both </a:t>
            </a:r>
            <a:r>
              <a:rPr lang="en-US" sz="1200" b="1" dirty="0"/>
              <a:t>frontend and backend development</a:t>
            </a:r>
            <a:r>
              <a:rPr lang="en-US" sz="1200" dirty="0"/>
              <a:t>, while also introducing them to </a:t>
            </a:r>
            <a:r>
              <a:rPr lang="en-US" sz="1200" b="1" dirty="0"/>
              <a:t>AI integration and cloud-based services</a:t>
            </a:r>
            <a:r>
              <a:rPr lang="en-US" sz="1200" dirty="0"/>
              <a:t>.</a:t>
            </a:r>
          </a:p>
          <a:p>
            <a:r>
              <a:rPr lang="en-US" sz="1200" dirty="0"/>
              <a:t>As part of this training, participants worked on the </a:t>
            </a:r>
            <a:r>
              <a:rPr lang="en-US" sz="1200" b="1" dirty="0"/>
              <a:t>NIDHI-SETU</a:t>
            </a:r>
            <a:r>
              <a:rPr lang="en-US" sz="1200" dirty="0"/>
              <a:t> project — a secure, AI-driven web platform designed to ensure </a:t>
            </a:r>
            <a:r>
              <a:rPr lang="en-US" sz="1200" b="1" dirty="0"/>
              <a:t>transparency and accuracy in government welfare fund disbursement</a:t>
            </a:r>
            <a:r>
              <a:rPr lang="en-US" sz="1200" dirty="0"/>
              <a:t>. The system enables real-time beneficiary verification through </a:t>
            </a:r>
            <a:r>
              <a:rPr lang="en-US" sz="1200" b="1" dirty="0"/>
              <a:t>3D face authentication (</a:t>
            </a:r>
            <a:r>
              <a:rPr lang="en-US" sz="1200" b="1" dirty="0" err="1"/>
              <a:t>Supabase</a:t>
            </a:r>
            <a:r>
              <a:rPr lang="en-US" sz="1200" b="1" dirty="0"/>
              <a:t>)</a:t>
            </a:r>
            <a:r>
              <a:rPr lang="en-US" sz="1200" dirty="0"/>
              <a:t> and </a:t>
            </a:r>
            <a:r>
              <a:rPr lang="en-US" sz="1200" b="1" dirty="0"/>
              <a:t>voice verification (Twilio AI)</a:t>
            </a:r>
            <a:r>
              <a:rPr lang="en-US" sz="1200" dirty="0"/>
              <a:t>, while administrators can efficiently monitor, validate, and manage fund distribution through an interactive dashboard. This project served as a comprehensive learning experience that combined theoretical understanding with practical, real-world implementation.</a:t>
            </a:r>
          </a:p>
          <a:p>
            <a:r>
              <a:rPr lang="en-US" sz="1200" dirty="0"/>
              <a:t>The training emphasized a </a:t>
            </a:r>
            <a:r>
              <a:rPr lang="en-US" sz="1200" b="1" dirty="0"/>
              <a:t>project-based learning approach</a:t>
            </a:r>
            <a:r>
              <a:rPr lang="en-US" sz="1200" dirty="0"/>
              <a:t>, ensuring that participants not only understood programming concepts but also their practical application in a </a:t>
            </a:r>
            <a:r>
              <a:rPr lang="en-US" sz="1200" b="1" dirty="0"/>
              <a:t>corporate development environment</a:t>
            </a:r>
            <a:r>
              <a:rPr lang="en-US" sz="1200" dirty="0"/>
              <a:t>. Throughout the program, trainees gained exposure to the </a:t>
            </a:r>
            <a:r>
              <a:rPr lang="en-US" sz="1200" b="1" dirty="0"/>
              <a:t>complete software development lifecycle (SDLC)</a:t>
            </a:r>
            <a:r>
              <a:rPr lang="en-US" sz="1200" dirty="0"/>
              <a:t> — including </a:t>
            </a:r>
            <a:r>
              <a:rPr lang="en-US" sz="1200" b="1" dirty="0"/>
              <a:t>requirement analysis, system design, implementation, testing, and deployment</a:t>
            </a:r>
            <a:r>
              <a:rPr lang="en-US" sz="1200" dirty="0"/>
              <a:t>.</a:t>
            </a:r>
          </a:p>
          <a:p>
            <a:pPr>
              <a:lnSpc>
                <a:spcPct val="100000"/>
              </a:lnSpc>
              <a:spcBef>
                <a:spcPts val="325"/>
              </a:spcBef>
            </a:pPr>
            <a:endParaRPr sz="1200" dirty="0">
              <a:latin typeface="Times New Roman"/>
              <a:cs typeface="Times New Roman"/>
            </a:endParaRPr>
          </a:p>
          <a:p>
            <a:pPr marL="277495" lvl="1" indent="-264795" algn="just">
              <a:lnSpc>
                <a:spcPct val="100000"/>
              </a:lnSpc>
              <a:buAutoNum type="arabicPeriod" startAt="2"/>
              <a:tabLst>
                <a:tab pos="277495" algn="l"/>
              </a:tabLst>
            </a:pPr>
            <a:r>
              <a:rPr sz="1400" b="1" spc="-25" dirty="0">
                <a:latin typeface="Times New Roman"/>
                <a:cs typeface="Times New Roman"/>
              </a:rPr>
              <a:t>Technology</a:t>
            </a:r>
            <a:r>
              <a:rPr sz="1400" b="1" dirty="0">
                <a:latin typeface="Times New Roman"/>
                <a:cs typeface="Times New Roman"/>
              </a:rPr>
              <a:t> </a:t>
            </a:r>
            <a:r>
              <a:rPr sz="1400" b="1" spc="-10" dirty="0">
                <a:latin typeface="Times New Roman"/>
                <a:cs typeface="Times New Roman"/>
              </a:rPr>
              <a:t>Description</a:t>
            </a:r>
            <a:endParaRPr lang="en-US" sz="1400" b="1" spc="-10" dirty="0">
              <a:latin typeface="Times New Roman"/>
              <a:cs typeface="Times New Roman"/>
            </a:endParaRPr>
          </a:p>
          <a:p>
            <a:pPr marL="277495" lvl="1" indent="-264795" algn="just">
              <a:lnSpc>
                <a:spcPct val="100000"/>
              </a:lnSpc>
              <a:buAutoNum type="arabicPeriod" startAt="2"/>
              <a:tabLst>
                <a:tab pos="277495" algn="l"/>
              </a:tabLst>
            </a:pPr>
            <a:endParaRPr sz="1400" dirty="0">
              <a:latin typeface="Times New Roman"/>
              <a:cs typeface="Times New Roman"/>
            </a:endParaRPr>
          </a:p>
          <a:p>
            <a:r>
              <a:rPr lang="en-US" sz="1200" dirty="0"/>
              <a:t>The </a:t>
            </a:r>
            <a:r>
              <a:rPr lang="en-US" sz="1200" b="1" dirty="0"/>
              <a:t>NIDHI-SETU</a:t>
            </a:r>
            <a:r>
              <a:rPr lang="en-US" sz="1200" dirty="0"/>
              <a:t> project was developed using a powerful combination of modern </a:t>
            </a:r>
            <a:r>
              <a:rPr lang="en-US" sz="1200" b="1" dirty="0"/>
              <a:t>web technologies</a:t>
            </a:r>
            <a:r>
              <a:rPr lang="en-US" sz="1200" dirty="0"/>
              <a:t>, </a:t>
            </a:r>
            <a:r>
              <a:rPr lang="en-US" sz="1200" b="1" dirty="0"/>
              <a:t>AI integration tools</a:t>
            </a:r>
            <a:r>
              <a:rPr lang="en-US" sz="1200" dirty="0"/>
              <a:t>, and </a:t>
            </a:r>
            <a:r>
              <a:rPr lang="en-US" sz="1200" b="1" dirty="0"/>
              <a:t>cloud services</a:t>
            </a:r>
            <a:r>
              <a:rPr lang="en-US" sz="1200" dirty="0"/>
              <a:t> to ensure scalability, performance, and security.</a:t>
            </a:r>
          </a:p>
          <a:p>
            <a:r>
              <a:rPr lang="en-US" sz="1200" b="1" dirty="0"/>
              <a:t>React.js:</a:t>
            </a:r>
            <a:br>
              <a:rPr lang="en-US" sz="1200" dirty="0"/>
            </a:br>
            <a:r>
              <a:rPr lang="en-US" sz="1200" dirty="0"/>
              <a:t>Used as the front-end library for building a </a:t>
            </a:r>
            <a:r>
              <a:rPr lang="en-US" sz="1200" b="1" dirty="0"/>
              <a:t>responsive and component-driven user interface</a:t>
            </a:r>
            <a:r>
              <a:rPr lang="en-US" sz="1200" dirty="0"/>
              <a:t>, ensuring a smooth and interactive user experience for both beneficiaries and administrators.</a:t>
            </a:r>
          </a:p>
          <a:p>
            <a:r>
              <a:rPr lang="en-US" sz="1200" b="1" dirty="0"/>
              <a:t>Tailwind CSS:</a:t>
            </a:r>
            <a:br>
              <a:rPr lang="en-US" sz="1200" dirty="0"/>
            </a:br>
            <a:r>
              <a:rPr lang="en-US" sz="1200" dirty="0"/>
              <a:t>Applied for </a:t>
            </a:r>
            <a:r>
              <a:rPr lang="en-US" sz="1200" b="1" dirty="0"/>
              <a:t>modern, utility-first styling</a:t>
            </a:r>
            <a:r>
              <a:rPr lang="en-US" sz="1200" dirty="0"/>
              <a:t> to create a clean, mobile-responsive, and visually appealing interface without compromising performance.</a:t>
            </a:r>
          </a:p>
          <a:p>
            <a:r>
              <a:rPr lang="en-US" sz="1200" b="1" dirty="0"/>
              <a:t>Node.js:</a:t>
            </a:r>
            <a:br>
              <a:rPr lang="en-US" sz="1200" dirty="0"/>
            </a:br>
            <a:r>
              <a:rPr lang="en-US" sz="1200" dirty="0"/>
              <a:t>Served as the </a:t>
            </a:r>
            <a:r>
              <a:rPr lang="en-US" sz="1200" b="1" dirty="0"/>
              <a:t>server-side runtime environment</a:t>
            </a:r>
            <a:r>
              <a:rPr lang="en-US" sz="1200" dirty="0"/>
              <a:t>, handling backend logic, API communication, and processing real-time data requests efficiently.</a:t>
            </a:r>
          </a:p>
          <a:p>
            <a:r>
              <a:rPr lang="en-US" sz="1200" b="1" dirty="0"/>
              <a:t>Express.js:</a:t>
            </a:r>
            <a:br>
              <a:rPr lang="en-US" sz="1200" dirty="0"/>
            </a:br>
            <a:r>
              <a:rPr lang="en-US" sz="1200" dirty="0"/>
              <a:t>Used for creating </a:t>
            </a:r>
            <a:r>
              <a:rPr lang="en-US" sz="1200" b="1" dirty="0"/>
              <a:t>RESTful APIs</a:t>
            </a:r>
            <a:r>
              <a:rPr lang="en-US" sz="1200" dirty="0"/>
              <a:t> and managing routes between the front-end and backend, ensuring reliable communication and modular development.</a:t>
            </a:r>
          </a:p>
          <a:p>
            <a:r>
              <a:rPr lang="en-US" sz="1200" b="1" dirty="0"/>
              <a:t>Firebase:</a:t>
            </a:r>
            <a:br>
              <a:rPr lang="en-US" sz="1200" dirty="0"/>
            </a:br>
            <a:r>
              <a:rPr lang="en-US" sz="1200" dirty="0"/>
              <a:t>Utilized for </a:t>
            </a:r>
            <a:r>
              <a:rPr lang="en-US" sz="1200" b="1" dirty="0"/>
              <a:t>authentication, real-time database management, and cloud hosting</a:t>
            </a:r>
            <a:r>
              <a:rPr lang="en-US" sz="1200" dirty="0"/>
              <a:t>. It enables secure login, role-based access control, and data synchronization between users and the server.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9</a:t>
            </a:r>
          </a:p>
        </p:txBody>
      </p:sp>
      <p:sp>
        <p:nvSpPr>
          <p:cNvPr id="2" name="object 2"/>
          <p:cNvSpPr txBox="1"/>
          <p:nvPr/>
        </p:nvSpPr>
        <p:spPr>
          <a:xfrm>
            <a:off x="902004" y="886714"/>
            <a:ext cx="5971540" cy="9246377"/>
          </a:xfrm>
          <a:prstGeom prst="rect">
            <a:avLst/>
          </a:prstGeom>
        </p:spPr>
        <p:txBody>
          <a:bodyPr vert="horz" wrap="square" lIns="0" tIns="6350" rIns="0" bIns="0" rtlCol="0">
            <a:spAutoFit/>
          </a:bodyPr>
          <a:lstStyle/>
          <a:p>
            <a:pPr marL="12700" marR="5080" algn="just">
              <a:lnSpc>
                <a:spcPct val="103400"/>
              </a:lnSpc>
              <a:spcBef>
                <a:spcPts val="5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integration</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these technologies</a:t>
            </a:r>
            <a:r>
              <a:rPr sz="1200" spc="-10" dirty="0">
                <a:latin typeface="Times New Roman"/>
                <a:cs typeface="Times New Roman"/>
              </a:rPr>
              <a:t> </a:t>
            </a:r>
            <a:r>
              <a:rPr sz="1200" dirty="0">
                <a:latin typeface="Times New Roman"/>
                <a:cs typeface="Times New Roman"/>
              </a:rPr>
              <a:t>allowed participants</a:t>
            </a:r>
            <a:r>
              <a:rPr sz="1200"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create</a:t>
            </a:r>
            <a:r>
              <a:rPr sz="1200" spc="-2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b="1" spc="-25" dirty="0">
                <a:latin typeface="Times New Roman"/>
                <a:cs typeface="Times New Roman"/>
              </a:rPr>
              <a:t>full-</a:t>
            </a:r>
            <a:r>
              <a:rPr sz="1200" b="1" dirty="0">
                <a:latin typeface="Times New Roman"/>
                <a:cs typeface="Times New Roman"/>
              </a:rPr>
              <a:t>stack</a:t>
            </a:r>
            <a:r>
              <a:rPr sz="1200" b="1" spc="-15" dirty="0">
                <a:latin typeface="Times New Roman"/>
                <a:cs typeface="Times New Roman"/>
              </a:rPr>
              <a:t> </a:t>
            </a:r>
            <a:r>
              <a:rPr sz="1200" b="1" dirty="0">
                <a:latin typeface="Times New Roman"/>
                <a:cs typeface="Times New Roman"/>
              </a:rPr>
              <a:t>web</a:t>
            </a:r>
            <a:r>
              <a:rPr sz="1200" b="1" spc="5" dirty="0">
                <a:latin typeface="Times New Roman"/>
                <a:cs typeface="Times New Roman"/>
              </a:rPr>
              <a:t> </a:t>
            </a:r>
            <a:r>
              <a:rPr sz="1200" b="1" spc="-10" dirty="0">
                <a:latin typeface="Times New Roman"/>
                <a:cs typeface="Times New Roman"/>
              </a:rPr>
              <a:t>application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is scalable,</a:t>
            </a:r>
            <a:r>
              <a:rPr sz="1200" spc="10" dirty="0">
                <a:latin typeface="Times New Roman"/>
                <a:cs typeface="Times New Roman"/>
              </a:rPr>
              <a:t> </a:t>
            </a:r>
            <a:r>
              <a:rPr sz="1200" dirty="0">
                <a:latin typeface="Times New Roman"/>
                <a:cs typeface="Times New Roman"/>
              </a:rPr>
              <a:t>secure,</a:t>
            </a:r>
            <a:r>
              <a:rPr sz="1200" spc="1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responsive.</a:t>
            </a:r>
            <a:r>
              <a:rPr sz="1200" spc="-25" dirty="0">
                <a:latin typeface="Times New Roman"/>
                <a:cs typeface="Times New Roman"/>
              </a:rPr>
              <a:t> </a:t>
            </a:r>
            <a:r>
              <a:rPr sz="1200" dirty="0">
                <a:latin typeface="Times New Roman"/>
                <a:cs typeface="Times New Roman"/>
              </a:rPr>
              <a:t>The training</a:t>
            </a:r>
            <a:r>
              <a:rPr sz="1200" spc="10" dirty="0">
                <a:latin typeface="Times New Roman"/>
                <a:cs typeface="Times New Roman"/>
              </a:rPr>
              <a:t> </a:t>
            </a:r>
            <a:r>
              <a:rPr sz="1200" dirty="0">
                <a:latin typeface="Times New Roman"/>
                <a:cs typeface="Times New Roman"/>
              </a:rPr>
              <a:t>covered</a:t>
            </a:r>
            <a:r>
              <a:rPr sz="1200" spc="5" dirty="0">
                <a:latin typeface="Times New Roman"/>
                <a:cs typeface="Times New Roman"/>
              </a:rPr>
              <a:t> </a:t>
            </a:r>
            <a:r>
              <a:rPr sz="1200" dirty="0">
                <a:latin typeface="Times New Roman"/>
                <a:cs typeface="Times New Roman"/>
              </a:rPr>
              <a:t>best</a:t>
            </a:r>
            <a:r>
              <a:rPr sz="1200" spc="25" dirty="0">
                <a:latin typeface="Times New Roman"/>
                <a:cs typeface="Times New Roman"/>
              </a:rPr>
              <a:t> </a:t>
            </a:r>
            <a:r>
              <a:rPr sz="1200" dirty="0">
                <a:latin typeface="Times New Roman"/>
                <a:cs typeface="Times New Roman"/>
              </a:rPr>
              <a:t>practices</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coding,</a:t>
            </a:r>
            <a:r>
              <a:rPr sz="1200" spc="15" dirty="0">
                <a:latin typeface="Times New Roman"/>
                <a:cs typeface="Times New Roman"/>
              </a:rPr>
              <a:t> </a:t>
            </a:r>
            <a:r>
              <a:rPr sz="1200" dirty="0">
                <a:latin typeface="Times New Roman"/>
                <a:cs typeface="Times New Roman"/>
              </a:rPr>
              <a:t>UI</a:t>
            </a:r>
            <a:r>
              <a:rPr sz="1200" spc="-10" dirty="0">
                <a:latin typeface="Times New Roman"/>
                <a:cs typeface="Times New Roman"/>
              </a:rPr>
              <a:t> design,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database</a:t>
            </a:r>
            <a:r>
              <a:rPr sz="1200" spc="55" dirty="0">
                <a:latin typeface="Times New Roman"/>
                <a:cs typeface="Times New Roman"/>
              </a:rPr>
              <a:t> </a:t>
            </a:r>
            <a:r>
              <a:rPr sz="1200" dirty="0">
                <a:latin typeface="Times New Roman"/>
                <a:cs typeface="Times New Roman"/>
              </a:rPr>
              <a:t>management,</a:t>
            </a:r>
            <a:r>
              <a:rPr sz="1200" spc="45" dirty="0">
                <a:latin typeface="Times New Roman"/>
                <a:cs typeface="Times New Roman"/>
              </a:rPr>
              <a:t> </a:t>
            </a:r>
            <a:r>
              <a:rPr sz="1200" dirty="0">
                <a:latin typeface="Times New Roman"/>
                <a:cs typeface="Times New Roman"/>
              </a:rPr>
              <a:t>ensuring</a:t>
            </a:r>
            <a:r>
              <a:rPr sz="1200" spc="35" dirty="0">
                <a:latin typeface="Times New Roman"/>
                <a:cs typeface="Times New Roman"/>
              </a:rPr>
              <a:t> </a:t>
            </a:r>
            <a:r>
              <a:rPr sz="1200" dirty="0">
                <a:latin typeface="Times New Roman"/>
                <a:cs typeface="Times New Roman"/>
              </a:rPr>
              <a:t>that</a:t>
            </a:r>
            <a:r>
              <a:rPr sz="1200" spc="60" dirty="0">
                <a:latin typeface="Times New Roman"/>
                <a:cs typeface="Times New Roman"/>
              </a:rPr>
              <a:t> </a:t>
            </a:r>
            <a:r>
              <a:rPr sz="1200" dirty="0">
                <a:latin typeface="Times New Roman"/>
                <a:cs typeface="Times New Roman"/>
              </a:rPr>
              <a:t>participants</a:t>
            </a:r>
            <a:r>
              <a:rPr sz="1200" spc="25" dirty="0">
                <a:latin typeface="Times New Roman"/>
                <a:cs typeface="Times New Roman"/>
              </a:rPr>
              <a:t> </a:t>
            </a:r>
            <a:r>
              <a:rPr sz="1200" dirty="0">
                <a:latin typeface="Times New Roman"/>
                <a:cs typeface="Times New Roman"/>
              </a:rPr>
              <a:t>were</a:t>
            </a:r>
            <a:r>
              <a:rPr sz="1200" spc="30" dirty="0">
                <a:latin typeface="Times New Roman"/>
                <a:cs typeface="Times New Roman"/>
              </a:rPr>
              <a:t> </a:t>
            </a:r>
            <a:r>
              <a:rPr sz="1200" spc="-10" dirty="0">
                <a:latin typeface="Times New Roman"/>
                <a:cs typeface="Times New Roman"/>
              </a:rPr>
              <a:t>well-</a:t>
            </a:r>
            <a:r>
              <a:rPr sz="1200" dirty="0">
                <a:latin typeface="Times New Roman"/>
                <a:cs typeface="Times New Roman"/>
              </a:rPr>
              <a:t>equipped</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handle</a:t>
            </a:r>
            <a:r>
              <a:rPr sz="1200" spc="30" dirty="0">
                <a:latin typeface="Times New Roman"/>
                <a:cs typeface="Times New Roman"/>
              </a:rPr>
              <a:t> </a:t>
            </a:r>
            <a:r>
              <a:rPr sz="1200" spc="-10" dirty="0">
                <a:latin typeface="Times New Roman"/>
                <a:cs typeface="Times New Roman"/>
              </a:rPr>
              <a:t>professional </a:t>
            </a:r>
            <a:r>
              <a:rPr sz="1200" dirty="0">
                <a:latin typeface="Times New Roman"/>
                <a:cs typeface="Times New Roman"/>
              </a:rPr>
              <a:t>software</a:t>
            </a:r>
            <a:r>
              <a:rPr sz="1200" spc="-45" dirty="0">
                <a:latin typeface="Times New Roman"/>
                <a:cs typeface="Times New Roman"/>
              </a:rPr>
              <a:t> </a:t>
            </a:r>
            <a:r>
              <a:rPr sz="1200" spc="-10" dirty="0">
                <a:latin typeface="Times New Roman"/>
                <a:cs typeface="Times New Roman"/>
              </a:rPr>
              <a:t>projects.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25"/>
              </a:spcBef>
            </a:pPr>
            <a:endParaRPr sz="1200" dirty="0">
              <a:latin typeface="Times New Roman"/>
              <a:cs typeface="Times New Roman"/>
            </a:endParaRPr>
          </a:p>
          <a:p>
            <a:pPr marL="12700" algn="just">
              <a:lnSpc>
                <a:spcPct val="100000"/>
              </a:lnSpc>
              <a:spcBef>
                <a:spcPts val="5"/>
              </a:spcBef>
            </a:pPr>
            <a:r>
              <a:rPr sz="1400" b="1" dirty="0">
                <a:latin typeface="Times New Roman"/>
                <a:cs typeface="Times New Roman"/>
              </a:rPr>
              <a:t>3.3</a:t>
            </a:r>
            <a:r>
              <a:rPr sz="1400" b="1" spc="-25" dirty="0">
                <a:latin typeface="Times New Roman"/>
                <a:cs typeface="Times New Roman"/>
              </a:rPr>
              <a:t> </a:t>
            </a:r>
            <a:r>
              <a:rPr sz="1400" b="1" spc="-10" dirty="0">
                <a:latin typeface="Times New Roman"/>
                <a:cs typeface="Times New Roman"/>
              </a:rPr>
              <a:t>Exposure</a:t>
            </a:r>
            <a:r>
              <a:rPr sz="1400" b="1" spc="-20" dirty="0">
                <a:latin typeface="Times New Roman"/>
                <a:cs typeface="Times New Roman"/>
              </a:rPr>
              <a:t> Level</a:t>
            </a:r>
            <a:endParaRPr lang="en-US" sz="1400" b="1" spc="-20" dirty="0">
              <a:latin typeface="Times New Roman"/>
              <a:cs typeface="Times New Roman"/>
            </a:endParaRPr>
          </a:p>
          <a:p>
            <a:pPr marL="12700" algn="just">
              <a:lnSpc>
                <a:spcPct val="100000"/>
              </a:lnSpc>
              <a:spcBef>
                <a:spcPts val="5"/>
              </a:spcBef>
            </a:pPr>
            <a:endParaRPr sz="1400" dirty="0">
              <a:latin typeface="Times New Roman"/>
              <a:cs typeface="Times New Roman"/>
            </a:endParaRPr>
          </a:p>
          <a:p>
            <a:r>
              <a:rPr lang="en-US" sz="1200" dirty="0"/>
              <a:t>The training provided comprehensive exposure to both the </a:t>
            </a:r>
            <a:r>
              <a:rPr lang="en-US" sz="1200" b="1" dirty="0"/>
              <a:t>technical</a:t>
            </a:r>
            <a:r>
              <a:rPr lang="en-US" sz="1200" dirty="0"/>
              <a:t> and </a:t>
            </a:r>
            <a:r>
              <a:rPr lang="en-US" sz="1200" b="1" dirty="0"/>
              <a:t>practical aspects</a:t>
            </a:r>
            <a:r>
              <a:rPr lang="en-US" sz="1200" dirty="0"/>
              <a:t> of modern full-stack web development, emphasizing the integration of front-end, back-end, and cloud-based technologies.</a:t>
            </a:r>
          </a:p>
          <a:p>
            <a:r>
              <a:rPr lang="en-US" sz="1200" b="1" dirty="0"/>
              <a:t>Front-End Development:</a:t>
            </a:r>
            <a:br>
              <a:rPr lang="en-US" sz="1200" dirty="0"/>
            </a:br>
            <a:r>
              <a:rPr lang="en-US" sz="1200" dirty="0"/>
              <a:t>Participants learned to design and develop </a:t>
            </a:r>
            <a:r>
              <a:rPr lang="en-US" sz="1200" b="1" dirty="0"/>
              <a:t>responsive, accessible, and interactive user interfaces</a:t>
            </a:r>
            <a:r>
              <a:rPr lang="en-US" sz="1200" dirty="0"/>
              <a:t> using </a:t>
            </a:r>
            <a:r>
              <a:rPr lang="en-US" sz="1200" b="1" dirty="0"/>
              <a:t>React.js</a:t>
            </a:r>
            <a:r>
              <a:rPr lang="en-US" sz="1200" dirty="0"/>
              <a:t> and </a:t>
            </a:r>
            <a:r>
              <a:rPr lang="en-US" sz="1200" b="1" dirty="0"/>
              <a:t>Tailwind CSS</a:t>
            </a:r>
            <a:r>
              <a:rPr lang="en-US" sz="1200" dirty="0"/>
              <a:t>, ensuring a seamless user experience for beneficiaries and administrators.</a:t>
            </a:r>
          </a:p>
          <a:p>
            <a:r>
              <a:rPr lang="en-US" sz="1200" b="1" dirty="0"/>
              <a:t>Back-End Development:</a:t>
            </a:r>
            <a:br>
              <a:rPr lang="en-US" sz="1200" dirty="0"/>
            </a:br>
            <a:r>
              <a:rPr lang="en-US" sz="1200" dirty="0"/>
              <a:t>Exposure to </a:t>
            </a:r>
            <a:r>
              <a:rPr lang="en-US" sz="1200" b="1" dirty="0"/>
              <a:t>Node.js</a:t>
            </a:r>
            <a:r>
              <a:rPr lang="en-US" sz="1200" dirty="0"/>
              <a:t> and </a:t>
            </a:r>
            <a:r>
              <a:rPr lang="en-US" sz="1200" b="1" dirty="0"/>
              <a:t>Express.js</a:t>
            </a:r>
            <a:r>
              <a:rPr lang="en-US" sz="1200" dirty="0"/>
              <a:t> enabled trainees to handle </a:t>
            </a:r>
            <a:r>
              <a:rPr lang="en-US" sz="1200" b="1" dirty="0"/>
              <a:t>server-side logic</a:t>
            </a:r>
            <a:r>
              <a:rPr lang="en-US" sz="1200" dirty="0"/>
              <a:t>, create </a:t>
            </a:r>
            <a:r>
              <a:rPr lang="en-US" sz="1200" b="1" dirty="0"/>
              <a:t>RESTful APIs</a:t>
            </a:r>
            <a:r>
              <a:rPr lang="en-US" sz="1200" dirty="0"/>
              <a:t>, and integrate backend functionality with databases and verification modules.</a:t>
            </a:r>
          </a:p>
          <a:p>
            <a:r>
              <a:rPr lang="en-US" sz="1200" b="1" dirty="0"/>
              <a:t>Cloud and AI Integration:</a:t>
            </a:r>
            <a:br>
              <a:rPr lang="en-US" sz="1200" dirty="0"/>
            </a:br>
            <a:r>
              <a:rPr lang="en-US" sz="1200" dirty="0"/>
              <a:t>The training incorporated </a:t>
            </a:r>
            <a:r>
              <a:rPr lang="en-US" sz="1200" b="1" dirty="0"/>
              <a:t>Firebase</a:t>
            </a:r>
            <a:r>
              <a:rPr lang="en-US" sz="1200" dirty="0"/>
              <a:t> for </a:t>
            </a:r>
            <a:r>
              <a:rPr lang="en-US" sz="1200" b="1" dirty="0"/>
              <a:t>authentication, real-time database management, and secure cloud hosting</a:t>
            </a:r>
            <a:r>
              <a:rPr lang="en-US" sz="1200" dirty="0"/>
              <a:t>, while </a:t>
            </a:r>
            <a:r>
              <a:rPr lang="en-US" sz="1200" b="1" dirty="0" err="1"/>
              <a:t>Supabase</a:t>
            </a:r>
            <a:r>
              <a:rPr lang="en-US" sz="1200" dirty="0"/>
              <a:t> and </a:t>
            </a:r>
            <a:r>
              <a:rPr lang="en-US" sz="1200" b="1" dirty="0"/>
              <a:t>Twilio AI</a:t>
            </a:r>
            <a:r>
              <a:rPr lang="en-US" sz="1200" dirty="0"/>
              <a:t> were used to implement </a:t>
            </a:r>
            <a:r>
              <a:rPr lang="en-US" sz="1200" b="1" dirty="0"/>
              <a:t>3D face verification</a:t>
            </a:r>
            <a:r>
              <a:rPr lang="en-US" sz="1200" dirty="0"/>
              <a:t> and </a:t>
            </a:r>
            <a:r>
              <a:rPr lang="en-US" sz="1200" b="1" dirty="0"/>
              <a:t>voice-based authentication</a:t>
            </a:r>
            <a:r>
              <a:rPr lang="en-US" sz="1200" dirty="0"/>
              <a:t>, offering real-world experience with AI-driven cloud applications.</a:t>
            </a:r>
          </a:p>
          <a:p>
            <a:r>
              <a:rPr lang="en-US" sz="1200" b="1" dirty="0"/>
              <a:t>Project-Based Learning:</a:t>
            </a:r>
            <a:br>
              <a:rPr lang="en-US" sz="1200" dirty="0"/>
            </a:br>
            <a:r>
              <a:rPr lang="en-US" sz="1200" dirty="0"/>
              <a:t>Working on the </a:t>
            </a:r>
            <a:r>
              <a:rPr lang="en-US" sz="1200" b="1" dirty="0"/>
              <a:t>NIDHI-SETU</a:t>
            </a:r>
            <a:r>
              <a:rPr lang="en-US" sz="1200" dirty="0"/>
              <a:t> project allowed participants to experience </a:t>
            </a:r>
            <a:r>
              <a:rPr lang="en-US" sz="1200" b="1" dirty="0"/>
              <a:t>end-to-end software development</a:t>
            </a:r>
            <a:r>
              <a:rPr lang="en-US" sz="1200" dirty="0"/>
              <a:t>, including </a:t>
            </a:r>
            <a:r>
              <a:rPr lang="en-US" sz="1200" b="1" dirty="0"/>
              <a:t>requirement analysis, system design, coding, testing, deployment</a:t>
            </a:r>
            <a:r>
              <a:rPr lang="en-US" sz="1200" dirty="0"/>
              <a:t>, and </a:t>
            </a:r>
            <a:r>
              <a:rPr lang="en-US" sz="1200" b="1" dirty="0"/>
              <a:t>AI model integration</a:t>
            </a:r>
            <a:r>
              <a:rPr lang="en-US" sz="1200" dirty="0"/>
              <a:t>, thereby bridging theory with practical implementation.</a:t>
            </a:r>
          </a:p>
          <a:p>
            <a:r>
              <a:rPr lang="en-US" sz="1200" dirty="0"/>
              <a:t>that participants gained </a:t>
            </a:r>
            <a:r>
              <a:rPr lang="en-US" sz="1200" b="1" dirty="0"/>
              <a:t>hands-on technical proficiency, analytical problem-solving skills</a:t>
            </a:r>
            <a:r>
              <a:rPr lang="en-US" sz="1200" dirty="0"/>
              <a:t>, and a complete understanding of </a:t>
            </a:r>
            <a:r>
              <a:rPr lang="en-US" sz="1200" b="1" dirty="0"/>
              <a:t>Full Stack Web Development</a:t>
            </a:r>
            <a:r>
              <a:rPr lang="en-US" sz="1200" dirty="0"/>
              <a:t>, preparing them for real-world projects in </a:t>
            </a:r>
            <a:r>
              <a:rPr lang="en-US" sz="1200" b="1" dirty="0"/>
              <a:t>software development and e-governance solutions</a:t>
            </a:r>
            <a:r>
              <a:rPr lang="en-US" sz="1200" dirty="0"/>
              <a:t>.</a:t>
            </a:r>
          </a:p>
          <a:p>
            <a:pPr>
              <a:lnSpc>
                <a:spcPct val="100000"/>
              </a:lnSpc>
            </a:pPr>
            <a:endParaRPr sz="1200" dirty="0">
              <a:latin typeface="Times New Roman"/>
              <a:cs typeface="Times New Roman"/>
            </a:endParaRPr>
          </a:p>
          <a:p>
            <a:pPr>
              <a:lnSpc>
                <a:spcPct val="100000"/>
              </a:lnSpc>
              <a:spcBef>
                <a:spcPts val="325"/>
              </a:spcBef>
            </a:pPr>
            <a:endParaRPr sz="1200" dirty="0">
              <a:latin typeface="Times New Roman"/>
              <a:cs typeface="Times New Roman"/>
            </a:endParaRPr>
          </a:p>
          <a:p>
            <a:pPr marL="12700" algn="just">
              <a:lnSpc>
                <a:spcPct val="100000"/>
              </a:lnSpc>
              <a:spcBef>
                <a:spcPts val="5"/>
              </a:spcBef>
            </a:pPr>
            <a:r>
              <a:rPr sz="1400" b="1" dirty="0">
                <a:latin typeface="Times New Roman"/>
                <a:cs typeface="Times New Roman"/>
              </a:rPr>
              <a:t>3.4</a:t>
            </a:r>
            <a:r>
              <a:rPr sz="1400" b="1" spc="-5" dirty="0">
                <a:latin typeface="Times New Roman"/>
                <a:cs typeface="Times New Roman"/>
              </a:rPr>
              <a:t> </a:t>
            </a:r>
            <a:r>
              <a:rPr sz="1400" b="1" spc="-10" dirty="0">
                <a:latin typeface="Times New Roman"/>
                <a:cs typeface="Times New Roman"/>
              </a:rPr>
              <a:t>Conclusion</a:t>
            </a:r>
            <a:endParaRPr sz="1400" dirty="0">
              <a:latin typeface="Times New Roman"/>
              <a:cs typeface="Times New Roman"/>
            </a:endParaRPr>
          </a:p>
          <a:p>
            <a:r>
              <a:rPr lang="en-US" sz="1200" dirty="0"/>
              <a:t>The </a:t>
            </a:r>
            <a:r>
              <a:rPr lang="en-US" sz="1200" b="1" dirty="0"/>
              <a:t>technical training</a:t>
            </a:r>
            <a:r>
              <a:rPr lang="en-US" sz="1200" dirty="0"/>
              <a:t> at </a:t>
            </a:r>
            <a:r>
              <a:rPr lang="en-US" sz="1200" b="1" dirty="0"/>
              <a:t>Seldom India Technologies, Jaipur</a:t>
            </a:r>
            <a:r>
              <a:rPr lang="en-US" sz="1200" dirty="0"/>
              <a:t> provided a </a:t>
            </a:r>
            <a:r>
              <a:rPr lang="en-US" sz="1200" b="1" dirty="0"/>
              <a:t>structured and professional learning environment</a:t>
            </a:r>
            <a:r>
              <a:rPr lang="en-US" sz="1200" dirty="0"/>
              <a:t> that effectively bridged the gap between </a:t>
            </a:r>
            <a:r>
              <a:rPr lang="en-US" sz="1200" b="1" dirty="0"/>
              <a:t>theoretical knowledge and practical implementation</a:t>
            </a:r>
            <a:r>
              <a:rPr lang="en-US" sz="1200" dirty="0"/>
              <a:t>. Through this program, participants gained in-depth exposure to </a:t>
            </a:r>
            <a:r>
              <a:rPr lang="en-US" sz="1200" b="1" dirty="0"/>
              <a:t>Full Stack Web Development</a:t>
            </a:r>
            <a:r>
              <a:rPr lang="en-US" sz="1200" dirty="0"/>
              <a:t>, </a:t>
            </a:r>
            <a:r>
              <a:rPr lang="en-US" sz="1200" b="1" dirty="0"/>
              <a:t>cloud integration</a:t>
            </a:r>
            <a:r>
              <a:rPr lang="en-US" sz="1200" dirty="0"/>
              <a:t>, and </a:t>
            </a:r>
            <a:r>
              <a:rPr lang="en-US" sz="1200" b="1" dirty="0"/>
              <a:t>AI-based system development</a:t>
            </a:r>
            <a:r>
              <a:rPr lang="en-US" sz="1200" dirty="0"/>
              <a:t>, along with essential </a:t>
            </a:r>
            <a:r>
              <a:rPr lang="en-US" sz="1200" b="1" dirty="0"/>
              <a:t>project management techniques</a:t>
            </a:r>
            <a:r>
              <a:rPr lang="en-US" sz="1200" dirty="0"/>
              <a:t>.</a:t>
            </a:r>
          </a:p>
          <a:p>
            <a:r>
              <a:rPr lang="en-US" sz="1200" dirty="0"/>
              <a:t>The </a:t>
            </a:r>
            <a:r>
              <a:rPr lang="en-US" sz="1200" b="1" dirty="0"/>
              <a:t>NIDHI-SETU</a:t>
            </a:r>
            <a:r>
              <a:rPr lang="en-US" sz="1200" dirty="0"/>
              <a:t> project served as a practical platform for applying the concepts learned during the training. It allowed participants to design and develop a </a:t>
            </a:r>
            <a:r>
              <a:rPr lang="en-US" sz="1200" b="1" dirty="0"/>
              <a:t>secure, intelligent, and responsive web application</a:t>
            </a:r>
            <a:r>
              <a:rPr lang="en-US" sz="1200" dirty="0"/>
              <a:t> focused on ensuring </a:t>
            </a:r>
            <a:r>
              <a:rPr lang="en-US" sz="1200" b="1" dirty="0"/>
              <a:t>transparency and authenticity in government welfare fund distribution</a:t>
            </a:r>
            <a:r>
              <a:rPr lang="en-US" sz="1200" dirty="0"/>
              <a:t>.</a:t>
            </a:r>
          </a:p>
          <a:p>
            <a:r>
              <a:rPr lang="en-US" sz="1200" dirty="0"/>
              <a:t>The training enhanced not only </a:t>
            </a:r>
            <a:r>
              <a:rPr lang="en-US" sz="1200" b="1" dirty="0"/>
              <a:t>technical expertise</a:t>
            </a:r>
            <a:r>
              <a:rPr lang="en-US" sz="1200" dirty="0"/>
              <a:t> in tools such as </a:t>
            </a:r>
            <a:r>
              <a:rPr lang="en-US" sz="1200" b="1" dirty="0"/>
              <a:t>React.js, Node.js, Express.js, Firebase, </a:t>
            </a:r>
            <a:r>
              <a:rPr lang="en-US" sz="1200" b="1" dirty="0" err="1"/>
              <a:t>Supabase</a:t>
            </a:r>
            <a:r>
              <a:rPr lang="en-US" sz="1200" b="1" dirty="0"/>
              <a:t>, and Twilio AI</a:t>
            </a:r>
            <a:r>
              <a:rPr lang="en-US" sz="1200" dirty="0"/>
              <a:t>, but also strengthened participants’ </a:t>
            </a:r>
            <a:r>
              <a:rPr lang="en-US" sz="1200" b="1" dirty="0"/>
              <a:t>analytical thinking, problem-solving abilities, and teamwork skills</a:t>
            </a:r>
            <a:r>
              <a:rPr lang="en-US" sz="1200" dirty="0"/>
              <a:t>. By combining real-world problem statements with modern development.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10</a:t>
            </a:r>
          </a:p>
        </p:txBody>
      </p:sp>
      <p:sp>
        <p:nvSpPr>
          <p:cNvPr id="2" name="object 2"/>
          <p:cNvSpPr txBox="1"/>
          <p:nvPr/>
        </p:nvSpPr>
        <p:spPr>
          <a:xfrm>
            <a:off x="902004" y="886713"/>
            <a:ext cx="5974080" cy="8368766"/>
          </a:xfrm>
          <a:prstGeom prst="rect">
            <a:avLst/>
          </a:prstGeom>
        </p:spPr>
        <p:txBody>
          <a:bodyPr vert="horz" wrap="square" lIns="0" tIns="11430" rIns="0" bIns="0" rtlCol="0">
            <a:spAutoFit/>
          </a:bodyPr>
          <a:lstStyle/>
          <a:p>
            <a:pPr algn="ctr">
              <a:lnSpc>
                <a:spcPct val="100000"/>
              </a:lnSpc>
              <a:spcBef>
                <a:spcPts val="90"/>
              </a:spcBef>
            </a:pPr>
            <a:r>
              <a:rPr sz="1400" b="1" dirty="0">
                <a:latin typeface="Times New Roman"/>
                <a:cs typeface="Times New Roman"/>
              </a:rPr>
              <a:t>Chapter</a:t>
            </a:r>
            <a:r>
              <a:rPr sz="1400" b="1" spc="-80" dirty="0">
                <a:latin typeface="Times New Roman"/>
                <a:cs typeface="Times New Roman"/>
              </a:rPr>
              <a:t> </a:t>
            </a:r>
            <a:r>
              <a:rPr sz="1400" b="1" spc="-50" dirty="0">
                <a:latin typeface="Times New Roman"/>
                <a:cs typeface="Times New Roman"/>
              </a:rPr>
              <a:t>4</a:t>
            </a:r>
            <a:endParaRPr sz="1400" dirty="0">
              <a:latin typeface="Times New Roman"/>
              <a:cs typeface="Times New Roman"/>
            </a:endParaRPr>
          </a:p>
          <a:p>
            <a:pPr algn="ctr">
              <a:lnSpc>
                <a:spcPct val="100000"/>
              </a:lnSpc>
              <a:spcBef>
                <a:spcPts val="1130"/>
              </a:spcBef>
            </a:pPr>
            <a:r>
              <a:rPr sz="1400" b="1" spc="-10" dirty="0">
                <a:latin typeface="Times New Roman"/>
                <a:cs typeface="Times New Roman"/>
              </a:rPr>
              <a:t>Project</a:t>
            </a:r>
            <a:r>
              <a:rPr sz="1400" b="1" spc="-20" dirty="0">
                <a:latin typeface="Times New Roman"/>
                <a:cs typeface="Times New Roman"/>
              </a:rPr>
              <a:t> </a:t>
            </a:r>
            <a:r>
              <a:rPr sz="1400" b="1" spc="-10" dirty="0">
                <a:latin typeface="Times New Roman"/>
                <a:cs typeface="Times New Roman"/>
              </a:rPr>
              <a:t>Description</a:t>
            </a: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165"/>
              </a:spcBef>
            </a:pPr>
            <a:endParaRPr sz="1400" dirty="0">
              <a:latin typeface="Times New Roman"/>
              <a:cs typeface="Times New Roman"/>
            </a:endParaRPr>
          </a:p>
          <a:p>
            <a:pPr marL="280035" lvl="1" indent="-267335" algn="just">
              <a:lnSpc>
                <a:spcPct val="100000"/>
              </a:lnSpc>
              <a:buAutoNum type="arabicPeriod"/>
              <a:tabLst>
                <a:tab pos="280035" algn="l"/>
              </a:tabLst>
            </a:pPr>
            <a:r>
              <a:rPr sz="1400" b="1" spc="-10" dirty="0">
                <a:latin typeface="Times New Roman"/>
                <a:cs typeface="Times New Roman"/>
              </a:rPr>
              <a:t>Introduction</a:t>
            </a:r>
            <a:endParaRPr sz="1400" dirty="0">
              <a:latin typeface="Times New Roman"/>
              <a:cs typeface="Times New Roman"/>
            </a:endParaRPr>
          </a:p>
          <a:p>
            <a:r>
              <a:rPr lang="en-US" sz="1200" dirty="0"/>
              <a:t>The development of the </a:t>
            </a:r>
            <a:r>
              <a:rPr lang="en-US" sz="1200" b="1" dirty="0"/>
              <a:t>NIDHI-SETU System</a:t>
            </a:r>
            <a:r>
              <a:rPr lang="en-US" sz="1200" dirty="0"/>
              <a:t> represents the </a:t>
            </a:r>
            <a:r>
              <a:rPr lang="en-US" sz="1200" b="1" dirty="0"/>
              <a:t>practical implementation</a:t>
            </a:r>
            <a:r>
              <a:rPr lang="en-US" sz="1200" dirty="0"/>
              <a:t> of the concepts learned during the </a:t>
            </a:r>
            <a:r>
              <a:rPr lang="en-US" sz="1200" b="1" dirty="0"/>
              <a:t>Full Stack Web Development training</a:t>
            </a:r>
            <a:r>
              <a:rPr lang="en-US" sz="1200" dirty="0"/>
              <a:t> at </a:t>
            </a:r>
            <a:r>
              <a:rPr lang="en-US" sz="1200" b="1" dirty="0"/>
              <a:t>Seldom India Technologies, Jaipur</a:t>
            </a:r>
            <a:r>
              <a:rPr lang="en-US" sz="1200" dirty="0"/>
              <a:t>. This system automates and secures the process of </a:t>
            </a:r>
            <a:r>
              <a:rPr lang="en-US" sz="1200" b="1" dirty="0"/>
              <a:t>beneficiary verification and government fund disbursement</a:t>
            </a:r>
            <a:r>
              <a:rPr lang="en-US" sz="1200" dirty="0"/>
              <a:t>, reducing manual intervention, improving operational efficiency, and enhancing user trust in public service systems.</a:t>
            </a:r>
          </a:p>
          <a:p>
            <a:r>
              <a:rPr lang="en-US" sz="1200" dirty="0"/>
              <a:t>The project was developed using an integrated stack of </a:t>
            </a:r>
            <a:r>
              <a:rPr lang="en-US" sz="1200" b="1" dirty="0"/>
              <a:t>front-end, back-end, AI, and cloud-based technologies</a:t>
            </a:r>
            <a:r>
              <a:rPr lang="en-US" sz="1200" dirty="0"/>
              <a:t>, giving participants </a:t>
            </a:r>
            <a:r>
              <a:rPr lang="en-US" sz="1200" b="1" dirty="0"/>
              <a:t>hands-on experience</a:t>
            </a:r>
            <a:r>
              <a:rPr lang="en-US" sz="1200" dirty="0"/>
              <a:t> in real-world software development and deployment.</a:t>
            </a:r>
          </a:p>
          <a:p>
            <a:r>
              <a:rPr lang="en-US" sz="1200" dirty="0"/>
              <a:t>The primary goal of this project is to design and implement a </a:t>
            </a:r>
            <a:r>
              <a:rPr lang="en-US" sz="1200" b="1" dirty="0"/>
              <a:t>secure, scalable, and intelligent web application</a:t>
            </a:r>
            <a:r>
              <a:rPr lang="en-US" sz="1200" dirty="0"/>
              <a:t> that ensures </a:t>
            </a:r>
            <a:r>
              <a:rPr lang="en-US" sz="1200" b="1" dirty="0"/>
              <a:t>only eligible and living beneficiaries</a:t>
            </a:r>
            <a:r>
              <a:rPr lang="en-US" sz="1200" dirty="0"/>
              <a:t> receive welfare payments. The system includes features such as </a:t>
            </a:r>
            <a:r>
              <a:rPr lang="en-US" sz="1200" b="1" dirty="0"/>
              <a:t>real-time authentication</a:t>
            </a:r>
            <a:r>
              <a:rPr lang="en-US" sz="1200" dirty="0"/>
              <a:t>, </a:t>
            </a:r>
            <a:r>
              <a:rPr lang="en-US" sz="1200" b="1" dirty="0"/>
              <a:t>AI-driven liveness detection</a:t>
            </a:r>
            <a:r>
              <a:rPr lang="en-US" sz="1200" dirty="0"/>
              <a:t>, </a:t>
            </a:r>
            <a:r>
              <a:rPr lang="en-US" sz="1200" b="1" dirty="0"/>
              <a:t>voice-based verification</a:t>
            </a:r>
            <a:r>
              <a:rPr lang="en-US" sz="1200" dirty="0"/>
              <a:t>, and </a:t>
            </a:r>
            <a:r>
              <a:rPr lang="en-US" sz="1200" b="1" dirty="0"/>
              <a:t>role-based access control</a:t>
            </a:r>
            <a:r>
              <a:rPr lang="en-US" sz="1200" dirty="0"/>
              <a:t> for both beneficiaries and administrators.</a:t>
            </a:r>
          </a:p>
          <a:p>
            <a:pPr>
              <a:lnSpc>
                <a:spcPct val="100000"/>
              </a:lnSpc>
            </a:pPr>
            <a:endParaRPr sz="1200" dirty="0">
              <a:latin typeface="Times New Roman"/>
              <a:cs typeface="Times New Roman"/>
            </a:endParaRPr>
          </a:p>
          <a:p>
            <a:pPr>
              <a:lnSpc>
                <a:spcPct val="100000"/>
              </a:lnSpc>
              <a:spcBef>
                <a:spcPts val="330"/>
              </a:spcBef>
            </a:pPr>
            <a:endParaRPr sz="1200" dirty="0">
              <a:latin typeface="Times New Roman"/>
              <a:cs typeface="Times New Roman"/>
            </a:endParaRPr>
          </a:p>
          <a:p>
            <a:pPr marL="280035" lvl="1" indent="-267335" algn="just">
              <a:lnSpc>
                <a:spcPct val="100000"/>
              </a:lnSpc>
              <a:buAutoNum type="arabicPeriod" startAt="2"/>
              <a:tabLst>
                <a:tab pos="280035" algn="l"/>
              </a:tabLst>
            </a:pPr>
            <a:r>
              <a:rPr sz="1400" b="1" spc="-10" dirty="0">
                <a:latin typeface="Times New Roman"/>
                <a:cs typeface="Times New Roman"/>
              </a:rPr>
              <a:t>Project</a:t>
            </a:r>
            <a:r>
              <a:rPr sz="1400" b="1" spc="-20" dirty="0">
                <a:latin typeface="Times New Roman"/>
                <a:cs typeface="Times New Roman"/>
              </a:rPr>
              <a:t> </a:t>
            </a:r>
            <a:r>
              <a:rPr sz="1400" b="1" spc="-10" dirty="0">
                <a:latin typeface="Times New Roman"/>
                <a:cs typeface="Times New Roman"/>
              </a:rPr>
              <a:t>Description</a:t>
            </a:r>
            <a:endParaRPr sz="1400" dirty="0">
              <a:latin typeface="Times New Roman"/>
              <a:cs typeface="Times New Roman"/>
            </a:endParaRPr>
          </a:p>
          <a:p>
            <a:r>
              <a:rPr lang="en-US" sz="1200" dirty="0"/>
              <a:t>The </a:t>
            </a:r>
            <a:r>
              <a:rPr lang="en-US" sz="1200" b="1" dirty="0"/>
              <a:t>NIDHI-SETU System</a:t>
            </a:r>
            <a:r>
              <a:rPr lang="en-US" sz="1200" dirty="0"/>
              <a:t> is a web-based platform designed to ensure secure and transparent disbursement of government welfare funds. It operates through two main user roles:</a:t>
            </a:r>
          </a:p>
          <a:p>
            <a:r>
              <a:rPr lang="en-US" sz="1200" b="1" dirty="0"/>
              <a:t>Beneficiary/User:</a:t>
            </a:r>
            <a:r>
              <a:rPr lang="en-US" sz="1200" dirty="0"/>
              <a:t> Performs login, undergoes AI-based face and voice verification, and checks real-time fund status.</a:t>
            </a:r>
          </a:p>
          <a:p>
            <a:r>
              <a:rPr lang="en-US" sz="1200" b="1" dirty="0"/>
              <a:t>Administrator:</a:t>
            </a:r>
            <a:r>
              <a:rPr lang="en-US" sz="1200" dirty="0"/>
              <a:t> Manages beneficiary records, monitors verification results, handles flagged cases, and controls fund approvals through a secure dashboard.</a:t>
            </a:r>
          </a:p>
          <a:p>
            <a:pPr marL="12700" algn="just">
              <a:lnSpc>
                <a:spcPct val="100000"/>
              </a:lnSpc>
              <a:spcBef>
                <a:spcPts val="865"/>
              </a:spcBef>
            </a:pPr>
            <a:r>
              <a:rPr sz="1200" b="1" dirty="0">
                <a:latin typeface="Times New Roman"/>
                <a:cs typeface="Times New Roman"/>
              </a:rPr>
              <a:t>Key</a:t>
            </a:r>
            <a:r>
              <a:rPr sz="1200" b="1" spc="15" dirty="0">
                <a:latin typeface="Times New Roman"/>
                <a:cs typeface="Times New Roman"/>
              </a:rPr>
              <a:t> </a:t>
            </a:r>
            <a:r>
              <a:rPr sz="1200" b="1" spc="-10" dirty="0">
                <a:latin typeface="Times New Roman"/>
                <a:cs typeface="Times New Roman"/>
              </a:rPr>
              <a:t>Features:</a:t>
            </a:r>
            <a:endParaRPr sz="1200" dirty="0">
              <a:latin typeface="Times New Roman"/>
              <a:cs typeface="Times New Roman"/>
            </a:endParaRPr>
          </a:p>
          <a:p>
            <a:pPr marL="469900" lvl="3" indent="-228600">
              <a:lnSpc>
                <a:spcPct val="100000"/>
              </a:lnSpc>
              <a:spcBef>
                <a:spcPts val="815"/>
              </a:spcBef>
              <a:buSzPct val="83333"/>
              <a:buFont typeface="Symbol"/>
              <a:buChar char=""/>
              <a:tabLst>
                <a:tab pos="469900" algn="l"/>
              </a:tabLst>
            </a:pPr>
            <a:r>
              <a:rPr sz="1200" dirty="0">
                <a:latin typeface="Times New Roman"/>
                <a:cs typeface="Times New Roman"/>
              </a:rPr>
              <a:t>Responsive</a:t>
            </a:r>
            <a:r>
              <a:rPr sz="1200" spc="-2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interactive</a:t>
            </a:r>
            <a:r>
              <a:rPr sz="1200" spc="-1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interface</a:t>
            </a:r>
            <a:r>
              <a:rPr sz="1200" spc="-20" dirty="0">
                <a:latin typeface="Times New Roman"/>
                <a:cs typeface="Times New Roman"/>
              </a:rPr>
              <a:t> </a:t>
            </a:r>
            <a:r>
              <a:rPr sz="1200" dirty="0">
                <a:latin typeface="Times New Roman"/>
                <a:cs typeface="Times New Roman"/>
              </a:rPr>
              <a:t>using</a:t>
            </a:r>
            <a:r>
              <a:rPr sz="1200" spc="10" dirty="0">
                <a:latin typeface="Times New Roman"/>
                <a:cs typeface="Times New Roman"/>
              </a:rPr>
              <a:t> </a:t>
            </a:r>
            <a:r>
              <a:rPr sz="1200" b="1" spc="-10" dirty="0">
                <a:latin typeface="Times New Roman"/>
                <a:cs typeface="Times New Roman"/>
              </a:rPr>
              <a:t>React.js</a:t>
            </a:r>
            <a:r>
              <a:rPr sz="1200" spc="-10" dirty="0">
                <a:latin typeface="Times New Roman"/>
                <a:cs typeface="Times New Roman"/>
              </a:rPr>
              <a:t>.</a:t>
            </a:r>
            <a:endParaRPr sz="1200" dirty="0">
              <a:latin typeface="Times New Roman"/>
              <a:cs typeface="Times New Roman"/>
            </a:endParaRPr>
          </a:p>
          <a:p>
            <a:pPr marL="469900" lvl="3" indent="-228600">
              <a:lnSpc>
                <a:spcPct val="100000"/>
              </a:lnSpc>
              <a:spcBef>
                <a:spcPts val="865"/>
              </a:spcBef>
              <a:buSzPct val="83333"/>
              <a:buFont typeface="Symbol"/>
              <a:buChar char=""/>
              <a:tabLst>
                <a:tab pos="469900" algn="l"/>
              </a:tabLst>
            </a:pPr>
            <a:r>
              <a:rPr sz="1200" dirty="0">
                <a:latin typeface="Times New Roman"/>
                <a:cs typeface="Times New Roman"/>
              </a:rPr>
              <a:t>Secure</a:t>
            </a:r>
            <a:r>
              <a:rPr sz="1200" spc="-15" dirty="0">
                <a:latin typeface="Times New Roman"/>
                <a:cs typeface="Times New Roman"/>
              </a:rPr>
              <a:t> </a:t>
            </a:r>
            <a:r>
              <a:rPr sz="1200" spc="-10" dirty="0">
                <a:latin typeface="Times New Roman"/>
                <a:cs typeface="Times New Roman"/>
              </a:rPr>
              <a:t>authentication</a:t>
            </a:r>
            <a:r>
              <a:rPr sz="1200" spc="-25" dirty="0">
                <a:latin typeface="Times New Roman"/>
                <a:cs typeface="Times New Roman"/>
              </a:rPr>
              <a:t> </a:t>
            </a:r>
            <a:r>
              <a:rPr sz="1200" dirty="0">
                <a:latin typeface="Times New Roman"/>
                <a:cs typeface="Times New Roman"/>
              </a:rPr>
              <a:t>and </a:t>
            </a:r>
            <a:r>
              <a:rPr sz="1200" spc="-10" dirty="0">
                <a:latin typeface="Times New Roman"/>
                <a:cs typeface="Times New Roman"/>
              </a:rPr>
              <a:t>role-</a:t>
            </a:r>
            <a:r>
              <a:rPr sz="1200" dirty="0">
                <a:latin typeface="Times New Roman"/>
                <a:cs typeface="Times New Roman"/>
              </a:rPr>
              <a:t>based access</a:t>
            </a:r>
            <a:r>
              <a:rPr sz="1200" spc="-15" dirty="0">
                <a:latin typeface="Times New Roman"/>
                <a:cs typeface="Times New Roman"/>
              </a:rPr>
              <a:t> </a:t>
            </a:r>
            <a:r>
              <a:rPr sz="1200" dirty="0">
                <a:latin typeface="Times New Roman"/>
                <a:cs typeface="Times New Roman"/>
              </a:rPr>
              <a:t>control</a:t>
            </a:r>
            <a:r>
              <a:rPr sz="1200" spc="-4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b="1" spc="-10" dirty="0">
                <a:latin typeface="Times New Roman"/>
                <a:cs typeface="Times New Roman"/>
              </a:rPr>
              <a:t>Firebase</a:t>
            </a:r>
            <a:r>
              <a:rPr sz="1200" b="1" spc="-65" dirty="0">
                <a:latin typeface="Times New Roman"/>
                <a:cs typeface="Times New Roman"/>
              </a:rPr>
              <a:t> </a:t>
            </a:r>
            <a:r>
              <a:rPr sz="1200" b="1" spc="-10" dirty="0">
                <a:latin typeface="Times New Roman"/>
                <a:cs typeface="Times New Roman"/>
              </a:rPr>
              <a:t>Authentication</a:t>
            </a:r>
            <a:r>
              <a:rPr sz="1200" spc="-10" dirty="0">
                <a:latin typeface="Times New Roman"/>
                <a:cs typeface="Times New Roman"/>
              </a:rPr>
              <a:t>.</a:t>
            </a:r>
            <a:endParaRPr sz="1200" dirty="0">
              <a:latin typeface="Times New Roman"/>
              <a:cs typeface="Times New Roman"/>
            </a:endParaRPr>
          </a:p>
          <a:p>
            <a:pPr marL="469900" marR="13335" lvl="3" indent="-229235">
              <a:lnSpc>
                <a:spcPct val="103299"/>
              </a:lnSpc>
              <a:spcBef>
                <a:spcPts val="795"/>
              </a:spcBef>
              <a:buSzPct val="83333"/>
              <a:buFont typeface="Symbol"/>
              <a:buChar char=""/>
              <a:tabLst>
                <a:tab pos="469900" algn="l"/>
              </a:tabLst>
            </a:pPr>
            <a:r>
              <a:rPr sz="1200" spc="-20" dirty="0">
                <a:latin typeface="Times New Roman"/>
                <a:cs typeface="Times New Roman"/>
              </a:rPr>
              <a:t>Real-</a:t>
            </a:r>
            <a:r>
              <a:rPr sz="1200" dirty="0">
                <a:latin typeface="Times New Roman"/>
                <a:cs typeface="Times New Roman"/>
              </a:rPr>
              <a:t>time</a:t>
            </a:r>
            <a:r>
              <a:rPr sz="1200" spc="175" dirty="0">
                <a:latin typeface="Times New Roman"/>
                <a:cs typeface="Times New Roman"/>
              </a:rPr>
              <a:t> </a:t>
            </a:r>
            <a:r>
              <a:rPr sz="1200" dirty="0">
                <a:latin typeface="Times New Roman"/>
                <a:cs typeface="Times New Roman"/>
              </a:rPr>
              <a:t>data</a:t>
            </a:r>
            <a:r>
              <a:rPr sz="1200" spc="175" dirty="0">
                <a:latin typeface="Times New Roman"/>
                <a:cs typeface="Times New Roman"/>
              </a:rPr>
              <a:t> </a:t>
            </a:r>
            <a:r>
              <a:rPr sz="1200" dirty="0">
                <a:latin typeface="Times New Roman"/>
                <a:cs typeface="Times New Roman"/>
              </a:rPr>
              <a:t>management</a:t>
            </a:r>
            <a:r>
              <a:rPr sz="1200" spc="200" dirty="0">
                <a:latin typeface="Times New Roman"/>
                <a:cs typeface="Times New Roman"/>
              </a:rPr>
              <a:t> </a:t>
            </a:r>
            <a:r>
              <a:rPr sz="1200" dirty="0">
                <a:latin typeface="Times New Roman"/>
                <a:cs typeface="Times New Roman"/>
              </a:rPr>
              <a:t>with</a:t>
            </a:r>
            <a:r>
              <a:rPr sz="1200" spc="175" dirty="0">
                <a:latin typeface="Times New Roman"/>
                <a:cs typeface="Times New Roman"/>
              </a:rPr>
              <a:t> </a:t>
            </a:r>
            <a:r>
              <a:rPr sz="1200" b="1" dirty="0">
                <a:latin typeface="Times New Roman"/>
                <a:cs typeface="Times New Roman"/>
              </a:rPr>
              <a:t>Firebase</a:t>
            </a:r>
            <a:r>
              <a:rPr sz="1200" dirty="0">
                <a:latin typeface="Times New Roman"/>
                <a:cs typeface="Times New Roman"/>
              </a:rPr>
              <a:t>,</a:t>
            </a:r>
            <a:r>
              <a:rPr sz="1200" spc="195" dirty="0">
                <a:latin typeface="Times New Roman"/>
                <a:cs typeface="Times New Roman"/>
              </a:rPr>
              <a:t> </a:t>
            </a:r>
            <a:r>
              <a:rPr sz="1200" dirty="0">
                <a:latin typeface="Times New Roman"/>
                <a:cs typeface="Times New Roman"/>
              </a:rPr>
              <a:t>allowing</a:t>
            </a:r>
            <a:r>
              <a:rPr sz="1200" spc="200" dirty="0">
                <a:latin typeface="Times New Roman"/>
                <a:cs typeface="Times New Roman"/>
              </a:rPr>
              <a:t> </a:t>
            </a:r>
            <a:r>
              <a:rPr sz="1200" dirty="0">
                <a:latin typeface="Times New Roman"/>
                <a:cs typeface="Times New Roman"/>
              </a:rPr>
              <a:t>instant</a:t>
            </a:r>
            <a:r>
              <a:rPr sz="1200" spc="204" dirty="0">
                <a:latin typeface="Times New Roman"/>
                <a:cs typeface="Times New Roman"/>
              </a:rPr>
              <a:t> </a:t>
            </a:r>
            <a:r>
              <a:rPr sz="1200" dirty="0">
                <a:latin typeface="Times New Roman"/>
                <a:cs typeface="Times New Roman"/>
              </a:rPr>
              <a:t>updates</a:t>
            </a:r>
            <a:r>
              <a:rPr sz="1200" spc="145" dirty="0">
                <a:latin typeface="Times New Roman"/>
                <a:cs typeface="Times New Roman"/>
              </a:rPr>
              <a:t> </a:t>
            </a:r>
            <a:r>
              <a:rPr sz="1200" dirty="0">
                <a:latin typeface="Times New Roman"/>
                <a:cs typeface="Times New Roman"/>
              </a:rPr>
              <a:t>on</a:t>
            </a:r>
            <a:r>
              <a:rPr sz="1200" spc="160" dirty="0">
                <a:latin typeface="Times New Roman"/>
                <a:cs typeface="Times New Roman"/>
              </a:rPr>
              <a:t> </a:t>
            </a:r>
            <a:r>
              <a:rPr sz="1200" dirty="0">
                <a:latin typeface="Times New Roman"/>
                <a:cs typeface="Times New Roman"/>
              </a:rPr>
              <a:t>bookings</a:t>
            </a:r>
            <a:r>
              <a:rPr sz="1200" spc="170" dirty="0">
                <a:latin typeface="Times New Roman"/>
                <a:cs typeface="Times New Roman"/>
              </a:rPr>
              <a:t> </a:t>
            </a:r>
            <a:r>
              <a:rPr sz="1200" spc="-25" dirty="0">
                <a:latin typeface="Times New Roman"/>
                <a:cs typeface="Times New Roman"/>
              </a:rPr>
              <a:t>and </a:t>
            </a:r>
            <a:r>
              <a:rPr sz="1200" dirty="0">
                <a:latin typeface="Times New Roman"/>
                <a:cs typeface="Times New Roman"/>
              </a:rPr>
              <a:t>vehicle</a:t>
            </a:r>
            <a:r>
              <a:rPr sz="1200" spc="-75" dirty="0">
                <a:latin typeface="Times New Roman"/>
                <a:cs typeface="Times New Roman"/>
              </a:rPr>
              <a:t> </a:t>
            </a:r>
            <a:r>
              <a:rPr sz="1200" spc="-10" dirty="0">
                <a:latin typeface="Times New Roman"/>
                <a:cs typeface="Times New Roman"/>
              </a:rPr>
              <a:t>availability.</a:t>
            </a:r>
            <a:endParaRPr sz="1200" dirty="0">
              <a:latin typeface="Times New Roman"/>
              <a:cs typeface="Times New Roman"/>
            </a:endParaRPr>
          </a:p>
          <a:p>
            <a:pPr marL="469900" marR="15875" lvl="3" indent="-229235">
              <a:lnSpc>
                <a:spcPct val="103499"/>
              </a:lnSpc>
              <a:spcBef>
                <a:spcPts val="815"/>
              </a:spcBef>
              <a:buSzPct val="83333"/>
              <a:buFont typeface="Symbol"/>
              <a:buChar char=""/>
              <a:tabLst>
                <a:tab pos="469900" algn="l"/>
              </a:tabLst>
            </a:pPr>
            <a:r>
              <a:rPr sz="1200" dirty="0">
                <a:latin typeface="Times New Roman"/>
                <a:cs typeface="Times New Roman"/>
              </a:rPr>
              <a:t>Backend</a:t>
            </a:r>
            <a:r>
              <a:rPr sz="1200" spc="10" dirty="0">
                <a:latin typeface="Times New Roman"/>
                <a:cs typeface="Times New Roman"/>
              </a:rPr>
              <a:t> </a:t>
            </a:r>
            <a:r>
              <a:rPr sz="1200" dirty="0">
                <a:latin typeface="Times New Roman"/>
                <a:cs typeface="Times New Roman"/>
              </a:rPr>
              <a:t>logic</a:t>
            </a:r>
            <a:r>
              <a:rPr sz="1200" spc="-10" dirty="0">
                <a:latin typeface="Times New Roman"/>
                <a:cs typeface="Times New Roman"/>
              </a:rPr>
              <a:t> </a:t>
            </a:r>
            <a:r>
              <a:rPr sz="1200" dirty="0">
                <a:latin typeface="Times New Roman"/>
                <a:cs typeface="Times New Roman"/>
              </a:rPr>
              <a:t>handled</a:t>
            </a:r>
            <a:r>
              <a:rPr sz="1200" spc="-10" dirty="0">
                <a:latin typeface="Times New Roman"/>
                <a:cs typeface="Times New Roman"/>
              </a:rPr>
              <a:t> </a:t>
            </a:r>
            <a:r>
              <a:rPr sz="1200" dirty="0">
                <a:latin typeface="Times New Roman"/>
                <a:cs typeface="Times New Roman"/>
              </a:rPr>
              <a:t>by</a:t>
            </a:r>
            <a:r>
              <a:rPr sz="1200" spc="-10" dirty="0">
                <a:latin typeface="Times New Roman"/>
                <a:cs typeface="Times New Roman"/>
              </a:rPr>
              <a:t> </a:t>
            </a:r>
            <a:r>
              <a:rPr sz="1200" b="1" dirty="0">
                <a:latin typeface="Times New Roman"/>
                <a:cs typeface="Times New Roman"/>
              </a:rPr>
              <a:t>Node.js</a:t>
            </a:r>
            <a:r>
              <a:rPr sz="1200" b="1" spc="-3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ensure</a:t>
            </a:r>
            <a:r>
              <a:rPr sz="1200" spc="-10" dirty="0">
                <a:latin typeface="Times New Roman"/>
                <a:cs typeface="Times New Roman"/>
              </a:rPr>
              <a:t> </a:t>
            </a:r>
            <a:r>
              <a:rPr sz="1200" dirty="0">
                <a:latin typeface="Times New Roman"/>
                <a:cs typeface="Times New Roman"/>
              </a:rPr>
              <a:t>data</a:t>
            </a:r>
            <a:r>
              <a:rPr sz="1200" spc="-55" dirty="0">
                <a:latin typeface="Times New Roman"/>
                <a:cs typeface="Times New Roman"/>
              </a:rPr>
              <a:t> </a:t>
            </a:r>
            <a:r>
              <a:rPr sz="1200" dirty="0">
                <a:latin typeface="Times New Roman"/>
                <a:cs typeface="Times New Roman"/>
              </a:rPr>
              <a:t>validation,</a:t>
            </a:r>
            <a:r>
              <a:rPr sz="1200" spc="5" dirty="0">
                <a:latin typeface="Times New Roman"/>
                <a:cs typeface="Times New Roman"/>
              </a:rPr>
              <a:t> </a:t>
            </a:r>
            <a:r>
              <a:rPr sz="1200" dirty="0">
                <a:latin typeface="Times New Roman"/>
                <a:cs typeface="Times New Roman"/>
              </a:rPr>
              <a:t>processing</a:t>
            </a:r>
            <a:r>
              <a:rPr sz="1200" spc="-1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business</a:t>
            </a:r>
            <a:r>
              <a:rPr sz="1200" spc="-15" dirty="0">
                <a:latin typeface="Times New Roman"/>
                <a:cs typeface="Times New Roman"/>
              </a:rPr>
              <a:t> </a:t>
            </a:r>
            <a:r>
              <a:rPr sz="1200" spc="-10" dirty="0">
                <a:latin typeface="Times New Roman"/>
                <a:cs typeface="Times New Roman"/>
              </a:rPr>
              <a:t>rules, and</a:t>
            </a:r>
            <a:r>
              <a:rPr sz="1200" spc="-60"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spc="-10" dirty="0">
                <a:latin typeface="Times New Roman"/>
                <a:cs typeface="Times New Roman"/>
              </a:rPr>
              <a:t>management.</a:t>
            </a:r>
            <a:endParaRPr sz="1200" dirty="0">
              <a:latin typeface="Times New Roman"/>
              <a:cs typeface="Times New Roman"/>
            </a:endParaRPr>
          </a:p>
          <a:p>
            <a:pPr marL="469900" lvl="3" indent="-228600">
              <a:lnSpc>
                <a:spcPct val="100000"/>
              </a:lnSpc>
              <a:spcBef>
                <a:spcPts val="840"/>
              </a:spcBef>
              <a:buSzPct val="83333"/>
              <a:buFont typeface="Symbol"/>
              <a:buChar char=""/>
              <a:tabLst>
                <a:tab pos="469900" algn="l"/>
              </a:tabLst>
            </a:pPr>
            <a:r>
              <a:rPr sz="1200" spc="-10" dirty="0">
                <a:latin typeface="Times New Roman"/>
                <a:cs typeface="Times New Roman"/>
              </a:rPr>
              <a:t>Mobile-</a:t>
            </a:r>
            <a:r>
              <a:rPr sz="1200" dirty="0">
                <a:latin typeface="Times New Roman"/>
                <a:cs typeface="Times New Roman"/>
              </a:rPr>
              <a:t>friendly</a:t>
            </a:r>
            <a:r>
              <a:rPr sz="1200" spc="-25" dirty="0">
                <a:latin typeface="Times New Roman"/>
                <a:cs typeface="Times New Roman"/>
              </a:rPr>
              <a:t> </a:t>
            </a:r>
            <a:r>
              <a:rPr sz="1200" dirty="0">
                <a:latin typeface="Times New Roman"/>
                <a:cs typeface="Times New Roman"/>
              </a:rPr>
              <a:t>design</a:t>
            </a:r>
            <a:r>
              <a:rPr sz="1200" spc="-20" dirty="0">
                <a:latin typeface="Times New Roman"/>
                <a:cs typeface="Times New Roman"/>
              </a:rPr>
              <a:t> </a:t>
            </a:r>
            <a:r>
              <a:rPr sz="1200" dirty="0">
                <a:latin typeface="Times New Roman"/>
                <a:cs typeface="Times New Roman"/>
              </a:rPr>
              <a:t>ensuring</a:t>
            </a:r>
            <a:r>
              <a:rPr sz="1200" spc="5" dirty="0">
                <a:latin typeface="Times New Roman"/>
                <a:cs typeface="Times New Roman"/>
              </a:rPr>
              <a:t> </a:t>
            </a:r>
            <a:r>
              <a:rPr sz="1200" spc="-10" dirty="0">
                <a:latin typeface="Times New Roman"/>
                <a:cs typeface="Times New Roman"/>
              </a:rPr>
              <a:t>accessibility</a:t>
            </a:r>
            <a:r>
              <a:rPr sz="1200" spc="-45" dirty="0">
                <a:latin typeface="Times New Roman"/>
                <a:cs typeface="Times New Roman"/>
              </a:rPr>
              <a:t> </a:t>
            </a:r>
            <a:r>
              <a:rPr sz="1200" dirty="0">
                <a:latin typeface="Times New Roman"/>
                <a:cs typeface="Times New Roman"/>
              </a:rPr>
              <a:t>on </a:t>
            </a:r>
            <a:r>
              <a:rPr sz="1200" spc="-10" dirty="0">
                <a:latin typeface="Times New Roman"/>
                <a:cs typeface="Times New Roman"/>
              </a:rPr>
              <a:t>multiple</a:t>
            </a:r>
            <a:r>
              <a:rPr sz="1200" dirty="0">
                <a:latin typeface="Times New Roman"/>
                <a:cs typeface="Times New Roman"/>
              </a:rPr>
              <a:t> </a:t>
            </a:r>
            <a:r>
              <a:rPr sz="1200" spc="-10" dirty="0">
                <a:latin typeface="Times New Roman"/>
                <a:cs typeface="Times New Roman"/>
              </a:rPr>
              <a:t>devices.</a:t>
            </a:r>
            <a:endParaRPr sz="1200" dirty="0">
              <a:latin typeface="Times New Roman"/>
              <a:cs typeface="Times New Roman"/>
            </a:endParaRPr>
          </a:p>
          <a:p>
            <a:pPr marL="12700" marR="13970" algn="just">
              <a:lnSpc>
                <a:spcPct val="103299"/>
              </a:lnSpc>
              <a:spcBef>
                <a:spcPts val="790"/>
              </a:spcBef>
            </a:pPr>
            <a:r>
              <a:rPr sz="1200" dirty="0">
                <a:latin typeface="Times New Roman"/>
                <a:cs typeface="Times New Roman"/>
              </a:rPr>
              <a:t>The</a:t>
            </a:r>
            <a:r>
              <a:rPr sz="1200" spc="229" dirty="0">
                <a:latin typeface="Times New Roman"/>
                <a:cs typeface="Times New Roman"/>
              </a:rPr>
              <a:t> </a:t>
            </a:r>
            <a:r>
              <a:rPr sz="1200" dirty="0">
                <a:latin typeface="Times New Roman"/>
                <a:cs typeface="Times New Roman"/>
              </a:rPr>
              <a:t>system</a:t>
            </a:r>
            <a:r>
              <a:rPr sz="1200" spc="200" dirty="0">
                <a:latin typeface="Times New Roman"/>
                <a:cs typeface="Times New Roman"/>
              </a:rPr>
              <a:t> </a:t>
            </a:r>
            <a:r>
              <a:rPr sz="1200" dirty="0">
                <a:latin typeface="Times New Roman"/>
                <a:cs typeface="Times New Roman"/>
              </a:rPr>
              <a:t>significantly</a:t>
            </a:r>
            <a:r>
              <a:rPr sz="1200" spc="190" dirty="0">
                <a:latin typeface="Times New Roman"/>
                <a:cs typeface="Times New Roman"/>
              </a:rPr>
              <a:t> </a:t>
            </a:r>
            <a:r>
              <a:rPr sz="1200" dirty="0">
                <a:latin typeface="Times New Roman"/>
                <a:cs typeface="Times New Roman"/>
              </a:rPr>
              <a:t>reduces</a:t>
            </a:r>
            <a:r>
              <a:rPr sz="1200" spc="250" dirty="0">
                <a:latin typeface="Times New Roman"/>
                <a:cs typeface="Times New Roman"/>
              </a:rPr>
              <a:t> </a:t>
            </a:r>
            <a:r>
              <a:rPr sz="1200" dirty="0">
                <a:latin typeface="Times New Roman"/>
                <a:cs typeface="Times New Roman"/>
              </a:rPr>
              <a:t>manual</a:t>
            </a:r>
            <a:r>
              <a:rPr sz="1200" spc="190" dirty="0">
                <a:latin typeface="Times New Roman"/>
                <a:cs typeface="Times New Roman"/>
              </a:rPr>
              <a:t> </a:t>
            </a:r>
            <a:r>
              <a:rPr sz="1200" dirty="0">
                <a:latin typeface="Times New Roman"/>
                <a:cs typeface="Times New Roman"/>
              </a:rPr>
              <a:t>work,</a:t>
            </a:r>
            <a:r>
              <a:rPr sz="1200" spc="225" dirty="0">
                <a:latin typeface="Times New Roman"/>
                <a:cs typeface="Times New Roman"/>
              </a:rPr>
              <a:t> </a:t>
            </a:r>
            <a:r>
              <a:rPr sz="1200" dirty="0">
                <a:latin typeface="Times New Roman"/>
                <a:cs typeface="Times New Roman"/>
              </a:rPr>
              <a:t>prevents</a:t>
            </a:r>
            <a:r>
              <a:rPr sz="1200" spc="225" dirty="0">
                <a:latin typeface="Times New Roman"/>
                <a:cs typeface="Times New Roman"/>
              </a:rPr>
              <a:t> </a:t>
            </a:r>
            <a:r>
              <a:rPr sz="1200" dirty="0">
                <a:latin typeface="Times New Roman"/>
                <a:cs typeface="Times New Roman"/>
              </a:rPr>
              <a:t>booking</a:t>
            </a:r>
            <a:r>
              <a:rPr sz="1200" spc="229" dirty="0">
                <a:latin typeface="Times New Roman"/>
                <a:cs typeface="Times New Roman"/>
              </a:rPr>
              <a:t> </a:t>
            </a:r>
            <a:r>
              <a:rPr sz="1200" dirty="0">
                <a:latin typeface="Times New Roman"/>
                <a:cs typeface="Times New Roman"/>
              </a:rPr>
              <a:t>conflicts,</a:t>
            </a:r>
            <a:r>
              <a:rPr sz="1200" spc="250" dirty="0">
                <a:latin typeface="Times New Roman"/>
                <a:cs typeface="Times New Roman"/>
              </a:rPr>
              <a:t> </a:t>
            </a:r>
            <a:r>
              <a:rPr sz="1200" dirty="0">
                <a:latin typeface="Times New Roman"/>
                <a:cs typeface="Times New Roman"/>
              </a:rPr>
              <a:t>and</a:t>
            </a:r>
            <a:r>
              <a:rPr sz="1200" spc="229" dirty="0">
                <a:latin typeface="Times New Roman"/>
                <a:cs typeface="Times New Roman"/>
              </a:rPr>
              <a:t> </a:t>
            </a:r>
            <a:r>
              <a:rPr sz="1200" dirty="0">
                <a:latin typeface="Times New Roman"/>
                <a:cs typeface="Times New Roman"/>
              </a:rPr>
              <a:t>provides</a:t>
            </a:r>
            <a:r>
              <a:rPr sz="1200" spc="225" dirty="0">
                <a:latin typeface="Times New Roman"/>
                <a:cs typeface="Times New Roman"/>
              </a:rPr>
              <a:t> </a:t>
            </a:r>
            <a:r>
              <a:rPr sz="1200" spc="-25" dirty="0">
                <a:latin typeface="Times New Roman"/>
                <a:cs typeface="Times New Roman"/>
              </a:rPr>
              <a:t>an </a:t>
            </a:r>
            <a:r>
              <a:rPr sz="1200" spc="-10" dirty="0">
                <a:latin typeface="Times New Roman"/>
                <a:cs typeface="Times New Roman"/>
              </a:rPr>
              <a:t>organized</a:t>
            </a:r>
            <a:r>
              <a:rPr sz="1200" spc="-15" dirty="0">
                <a:latin typeface="Times New Roman"/>
                <a:cs typeface="Times New Roman"/>
              </a:rPr>
              <a:t> </a:t>
            </a:r>
            <a:r>
              <a:rPr sz="1200" dirty="0">
                <a:latin typeface="Times New Roman"/>
                <a:cs typeface="Times New Roman"/>
              </a:rPr>
              <a:t>platform</a:t>
            </a:r>
            <a:r>
              <a:rPr sz="1200" spc="-3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spc="-10" dirty="0">
                <a:latin typeface="Times New Roman"/>
                <a:cs typeface="Times New Roman"/>
              </a:rPr>
              <a:t>vehicle</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management.</a:t>
            </a:r>
            <a:endParaRPr sz="12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11</a:t>
            </a:r>
          </a:p>
        </p:txBody>
      </p:sp>
      <p:sp>
        <p:nvSpPr>
          <p:cNvPr id="2" name="object 2"/>
          <p:cNvSpPr txBox="1"/>
          <p:nvPr/>
        </p:nvSpPr>
        <p:spPr>
          <a:xfrm>
            <a:off x="902004" y="771181"/>
            <a:ext cx="5970905" cy="8272145"/>
          </a:xfrm>
          <a:prstGeom prst="rect">
            <a:avLst/>
          </a:prstGeom>
        </p:spPr>
        <p:txBody>
          <a:bodyPr vert="horz" wrap="square" lIns="0" tIns="133350" rIns="0" bIns="0" rtlCol="0">
            <a:spAutoFit/>
          </a:bodyPr>
          <a:lstStyle/>
          <a:p>
            <a:pPr marL="12700">
              <a:lnSpc>
                <a:spcPct val="100000"/>
              </a:lnSpc>
              <a:spcBef>
                <a:spcPts val="1050"/>
              </a:spcBef>
            </a:pPr>
            <a:r>
              <a:rPr sz="1400" b="1" dirty="0">
                <a:latin typeface="Times New Roman"/>
                <a:cs typeface="Times New Roman"/>
              </a:rPr>
              <a:t>4.3</a:t>
            </a:r>
            <a:r>
              <a:rPr sz="1400" b="1" spc="-50" dirty="0">
                <a:latin typeface="Times New Roman"/>
                <a:cs typeface="Times New Roman"/>
              </a:rPr>
              <a:t> </a:t>
            </a:r>
            <a:r>
              <a:rPr sz="1400" b="1" spc="-10" dirty="0">
                <a:latin typeface="Times New Roman"/>
                <a:cs typeface="Times New Roman"/>
              </a:rPr>
              <a:t>System</a:t>
            </a:r>
            <a:r>
              <a:rPr sz="1400" b="1" spc="-80" dirty="0">
                <a:latin typeface="Times New Roman"/>
                <a:cs typeface="Times New Roman"/>
              </a:rPr>
              <a:t> </a:t>
            </a:r>
            <a:r>
              <a:rPr sz="1400" b="1" dirty="0">
                <a:latin typeface="Times New Roman"/>
                <a:cs typeface="Times New Roman"/>
              </a:rPr>
              <a:t>Analysis</a:t>
            </a:r>
            <a:r>
              <a:rPr sz="1400" b="1" spc="-25" dirty="0">
                <a:latin typeface="Times New Roman"/>
                <a:cs typeface="Times New Roman"/>
              </a:rPr>
              <a:t> </a:t>
            </a:r>
            <a:r>
              <a:rPr sz="1400" b="1" dirty="0">
                <a:latin typeface="Times New Roman"/>
                <a:cs typeface="Times New Roman"/>
              </a:rPr>
              <a:t>and</a:t>
            </a:r>
            <a:r>
              <a:rPr sz="1400" b="1" spc="-30"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a:lnSpc>
                <a:spcPct val="100000"/>
              </a:lnSpc>
              <a:spcBef>
                <a:spcPts val="819"/>
              </a:spcBef>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dirty="0">
                <a:latin typeface="Times New Roman"/>
                <a:cs typeface="Times New Roman"/>
              </a:rPr>
              <a:t>analysed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designed</a:t>
            </a:r>
            <a:r>
              <a:rPr sz="1200" spc="-20"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standard</a:t>
            </a:r>
            <a:r>
              <a:rPr sz="1200" spc="-20" dirty="0">
                <a:latin typeface="Times New Roman"/>
                <a:cs typeface="Times New Roman"/>
              </a:rPr>
              <a:t> </a:t>
            </a:r>
            <a:r>
              <a:rPr sz="1200" dirty="0">
                <a:latin typeface="Times New Roman"/>
                <a:cs typeface="Times New Roman"/>
              </a:rPr>
              <a:t>software</a:t>
            </a:r>
            <a:r>
              <a:rPr sz="1200" spc="-25" dirty="0">
                <a:latin typeface="Times New Roman"/>
                <a:cs typeface="Times New Roman"/>
              </a:rPr>
              <a:t> </a:t>
            </a:r>
            <a:r>
              <a:rPr sz="1200" spc="-10" dirty="0">
                <a:latin typeface="Times New Roman"/>
                <a:cs typeface="Times New Roman"/>
              </a:rPr>
              <a:t>engineering</a:t>
            </a:r>
            <a:r>
              <a:rPr sz="1200" spc="-15" dirty="0">
                <a:latin typeface="Times New Roman"/>
                <a:cs typeface="Times New Roman"/>
              </a:rPr>
              <a:t> </a:t>
            </a:r>
            <a:r>
              <a:rPr sz="1200" spc="-10" dirty="0">
                <a:latin typeface="Times New Roman"/>
                <a:cs typeface="Times New Roman"/>
              </a:rPr>
              <a:t>principles:</a:t>
            </a:r>
            <a:endParaRPr sz="1200">
              <a:latin typeface="Times New Roman"/>
              <a:cs typeface="Times New Roman"/>
            </a:endParaRPr>
          </a:p>
          <a:p>
            <a:pPr marL="469900" marR="5080" indent="-229235" algn="just">
              <a:lnSpc>
                <a:spcPct val="103299"/>
              </a:lnSpc>
              <a:spcBef>
                <a:spcPts val="800"/>
              </a:spcBef>
              <a:buFont typeface="Times New Roman"/>
              <a:buAutoNum type="arabicPeriod"/>
              <a:tabLst>
                <a:tab pos="469900" algn="l"/>
              </a:tabLst>
            </a:pPr>
            <a:r>
              <a:rPr sz="1200" b="1" spc="-20" dirty="0">
                <a:latin typeface="Times New Roman"/>
                <a:cs typeface="Times New Roman"/>
              </a:rPr>
              <a:t>Requirement</a:t>
            </a:r>
            <a:r>
              <a:rPr sz="1200" b="1" spc="-50" dirty="0">
                <a:latin typeface="Times New Roman"/>
                <a:cs typeface="Times New Roman"/>
              </a:rPr>
              <a:t> </a:t>
            </a:r>
            <a:r>
              <a:rPr sz="1200" b="1" dirty="0">
                <a:latin typeface="Times New Roman"/>
                <a:cs typeface="Times New Roman"/>
              </a:rPr>
              <a:t>Analysis:</a:t>
            </a:r>
            <a:r>
              <a:rPr sz="1200" b="1" spc="35" dirty="0">
                <a:latin typeface="Times New Roman"/>
                <a:cs typeface="Times New Roman"/>
              </a:rPr>
              <a:t> </a:t>
            </a:r>
            <a:r>
              <a:rPr sz="1200" spc="-10" dirty="0">
                <a:latin typeface="Times New Roman"/>
                <a:cs typeface="Times New Roman"/>
              </a:rPr>
              <a:t>Understanding</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functional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non-</a:t>
            </a:r>
            <a:r>
              <a:rPr sz="1200" spc="-10" dirty="0">
                <a:latin typeface="Times New Roman"/>
                <a:cs typeface="Times New Roman"/>
              </a:rPr>
              <a:t>functional</a:t>
            </a:r>
            <a:r>
              <a:rPr sz="1200" spc="-30" dirty="0">
                <a:latin typeface="Times New Roman"/>
                <a:cs typeface="Times New Roman"/>
              </a:rPr>
              <a:t> </a:t>
            </a:r>
            <a:r>
              <a:rPr sz="1200" dirty="0">
                <a:latin typeface="Times New Roman"/>
                <a:cs typeface="Times New Roman"/>
              </a:rPr>
              <a:t>requirements</a:t>
            </a:r>
            <a:r>
              <a:rPr sz="1200" spc="5" dirty="0">
                <a:latin typeface="Times New Roman"/>
                <a:cs typeface="Times New Roman"/>
              </a:rPr>
              <a:t> </a:t>
            </a:r>
            <a:r>
              <a:rPr sz="1200" spc="-25" dirty="0">
                <a:latin typeface="Times New Roman"/>
                <a:cs typeface="Times New Roman"/>
              </a:rPr>
              <a:t>of </a:t>
            </a:r>
            <a:r>
              <a:rPr sz="1200" dirty="0">
                <a:latin typeface="Times New Roman"/>
                <a:cs typeface="Times New Roman"/>
              </a:rPr>
              <a:t>the</a:t>
            </a:r>
            <a:r>
              <a:rPr sz="1200" spc="105" dirty="0">
                <a:latin typeface="Times New Roman"/>
                <a:cs typeface="Times New Roman"/>
              </a:rPr>
              <a:t> </a:t>
            </a:r>
            <a:r>
              <a:rPr sz="1200" dirty="0">
                <a:latin typeface="Times New Roman"/>
                <a:cs typeface="Times New Roman"/>
              </a:rPr>
              <a:t>system,</a:t>
            </a:r>
            <a:r>
              <a:rPr sz="1200" spc="145" dirty="0">
                <a:latin typeface="Times New Roman"/>
                <a:cs typeface="Times New Roman"/>
              </a:rPr>
              <a:t> </a:t>
            </a:r>
            <a:r>
              <a:rPr sz="1200" dirty="0">
                <a:latin typeface="Times New Roman"/>
                <a:cs typeface="Times New Roman"/>
              </a:rPr>
              <a:t>including</a:t>
            </a:r>
            <a:r>
              <a:rPr sz="1200" spc="114" dirty="0">
                <a:latin typeface="Times New Roman"/>
                <a:cs typeface="Times New Roman"/>
              </a:rPr>
              <a:t> </a:t>
            </a:r>
            <a:r>
              <a:rPr sz="1200" dirty="0">
                <a:latin typeface="Times New Roman"/>
                <a:cs typeface="Times New Roman"/>
              </a:rPr>
              <a:t>user</a:t>
            </a:r>
            <a:r>
              <a:rPr sz="1200" spc="120" dirty="0">
                <a:latin typeface="Times New Roman"/>
                <a:cs typeface="Times New Roman"/>
              </a:rPr>
              <a:t> </a:t>
            </a:r>
            <a:r>
              <a:rPr sz="1200" dirty="0">
                <a:latin typeface="Times New Roman"/>
                <a:cs typeface="Times New Roman"/>
              </a:rPr>
              <a:t>roles,</a:t>
            </a:r>
            <a:r>
              <a:rPr sz="1200" spc="125" dirty="0">
                <a:latin typeface="Times New Roman"/>
                <a:cs typeface="Times New Roman"/>
              </a:rPr>
              <a:t> </a:t>
            </a:r>
            <a:r>
              <a:rPr sz="1200" dirty="0">
                <a:latin typeface="Times New Roman"/>
                <a:cs typeface="Times New Roman"/>
              </a:rPr>
              <a:t>booking</a:t>
            </a:r>
            <a:r>
              <a:rPr sz="1200" spc="114" dirty="0">
                <a:latin typeface="Times New Roman"/>
                <a:cs typeface="Times New Roman"/>
              </a:rPr>
              <a:t> </a:t>
            </a:r>
            <a:r>
              <a:rPr sz="1200" dirty="0">
                <a:latin typeface="Times New Roman"/>
                <a:cs typeface="Times New Roman"/>
              </a:rPr>
              <a:t>workflow,</a:t>
            </a:r>
            <a:r>
              <a:rPr sz="1200" spc="120" dirty="0">
                <a:latin typeface="Times New Roman"/>
                <a:cs typeface="Times New Roman"/>
              </a:rPr>
              <a:t> </a:t>
            </a:r>
            <a:r>
              <a:rPr sz="1200" dirty="0">
                <a:latin typeface="Times New Roman"/>
                <a:cs typeface="Times New Roman"/>
              </a:rPr>
              <a:t>vehicle</a:t>
            </a:r>
            <a:r>
              <a:rPr sz="1200" spc="130" dirty="0">
                <a:latin typeface="Times New Roman"/>
                <a:cs typeface="Times New Roman"/>
              </a:rPr>
              <a:t> </a:t>
            </a:r>
            <a:r>
              <a:rPr sz="1200" dirty="0">
                <a:latin typeface="Times New Roman"/>
                <a:cs typeface="Times New Roman"/>
              </a:rPr>
              <a:t>management,</a:t>
            </a:r>
            <a:r>
              <a:rPr sz="1200" spc="125" dirty="0">
                <a:latin typeface="Times New Roman"/>
                <a:cs typeface="Times New Roman"/>
              </a:rPr>
              <a:t> </a:t>
            </a:r>
            <a:r>
              <a:rPr sz="1200" dirty="0">
                <a:latin typeface="Times New Roman"/>
                <a:cs typeface="Times New Roman"/>
              </a:rPr>
              <a:t>and</a:t>
            </a:r>
            <a:r>
              <a:rPr sz="1200" spc="114" dirty="0">
                <a:latin typeface="Times New Roman"/>
                <a:cs typeface="Times New Roman"/>
              </a:rPr>
              <a:t> </a:t>
            </a:r>
            <a:r>
              <a:rPr sz="1200" spc="-10" dirty="0">
                <a:latin typeface="Times New Roman"/>
                <a:cs typeface="Times New Roman"/>
              </a:rPr>
              <a:t>security features.</a:t>
            </a:r>
            <a:endParaRPr sz="1200">
              <a:latin typeface="Times New Roman"/>
              <a:cs typeface="Times New Roman"/>
            </a:endParaRPr>
          </a:p>
          <a:p>
            <a:pPr marL="469900" indent="-228600">
              <a:lnSpc>
                <a:spcPct val="100000"/>
              </a:lnSpc>
              <a:spcBef>
                <a:spcPts val="885"/>
              </a:spcBef>
              <a:buFont typeface="Times New Roman"/>
              <a:buAutoNum type="arabicPeriod"/>
              <a:tabLst>
                <a:tab pos="469900" algn="l"/>
              </a:tabLst>
            </a:pPr>
            <a:r>
              <a:rPr sz="1200" b="1" dirty="0">
                <a:latin typeface="Times New Roman"/>
                <a:cs typeface="Times New Roman"/>
              </a:rPr>
              <a:t>System</a:t>
            </a:r>
            <a:r>
              <a:rPr sz="1200" b="1" spc="-45" dirty="0">
                <a:latin typeface="Times New Roman"/>
                <a:cs typeface="Times New Roman"/>
              </a:rPr>
              <a:t> </a:t>
            </a:r>
            <a:r>
              <a:rPr sz="1200" b="1" spc="-10" dirty="0">
                <a:latin typeface="Times New Roman"/>
                <a:cs typeface="Times New Roman"/>
              </a:rPr>
              <a:t>Design:</a:t>
            </a:r>
            <a:endParaRPr sz="1200">
              <a:latin typeface="Times New Roman"/>
              <a:cs typeface="Times New Roman"/>
            </a:endParaRPr>
          </a:p>
          <a:p>
            <a:pPr marL="927100" marR="6985" lvl="1" indent="-228600">
              <a:lnSpc>
                <a:spcPct val="103299"/>
              </a:lnSpc>
              <a:spcBef>
                <a:spcPts val="770"/>
              </a:spcBef>
              <a:buSzPct val="83333"/>
              <a:buFont typeface="Courier New"/>
              <a:buChar char="o"/>
              <a:tabLst>
                <a:tab pos="927100" algn="l"/>
              </a:tabLst>
            </a:pPr>
            <a:r>
              <a:rPr sz="1200" b="1" spc="-20" dirty="0">
                <a:latin typeface="Times New Roman"/>
                <a:cs typeface="Times New Roman"/>
              </a:rPr>
              <a:t>Front-</a:t>
            </a:r>
            <a:r>
              <a:rPr sz="1200" b="1" dirty="0">
                <a:latin typeface="Times New Roman"/>
                <a:cs typeface="Times New Roman"/>
              </a:rPr>
              <a:t>End</a:t>
            </a:r>
            <a:r>
              <a:rPr sz="1200" b="1" spc="240" dirty="0">
                <a:latin typeface="Times New Roman"/>
                <a:cs typeface="Times New Roman"/>
              </a:rPr>
              <a:t> </a:t>
            </a:r>
            <a:r>
              <a:rPr sz="1200" b="1" dirty="0">
                <a:latin typeface="Times New Roman"/>
                <a:cs typeface="Times New Roman"/>
              </a:rPr>
              <a:t>Design:</a:t>
            </a:r>
            <a:r>
              <a:rPr sz="1200" b="1" spc="229" dirty="0">
                <a:latin typeface="Times New Roman"/>
                <a:cs typeface="Times New Roman"/>
              </a:rPr>
              <a:t> </a:t>
            </a:r>
            <a:r>
              <a:rPr sz="1200" dirty="0">
                <a:latin typeface="Times New Roman"/>
                <a:cs typeface="Times New Roman"/>
              </a:rPr>
              <a:t>UI</a:t>
            </a:r>
            <a:r>
              <a:rPr sz="1200" spc="220" dirty="0">
                <a:latin typeface="Times New Roman"/>
                <a:cs typeface="Times New Roman"/>
              </a:rPr>
              <a:t> </a:t>
            </a:r>
            <a:r>
              <a:rPr sz="1200" dirty="0">
                <a:latin typeface="Times New Roman"/>
                <a:cs typeface="Times New Roman"/>
              </a:rPr>
              <a:t>was</a:t>
            </a:r>
            <a:r>
              <a:rPr sz="1200" spc="229" dirty="0">
                <a:latin typeface="Times New Roman"/>
                <a:cs typeface="Times New Roman"/>
              </a:rPr>
              <a:t> </a:t>
            </a:r>
            <a:r>
              <a:rPr sz="1200" dirty="0">
                <a:latin typeface="Times New Roman"/>
                <a:cs typeface="Times New Roman"/>
              </a:rPr>
              <a:t>designed</a:t>
            </a:r>
            <a:r>
              <a:rPr sz="1200" spc="235" dirty="0">
                <a:latin typeface="Times New Roman"/>
                <a:cs typeface="Times New Roman"/>
              </a:rPr>
              <a:t> </a:t>
            </a:r>
            <a:r>
              <a:rPr sz="1200" dirty="0">
                <a:latin typeface="Times New Roman"/>
                <a:cs typeface="Times New Roman"/>
              </a:rPr>
              <a:t>using</a:t>
            </a:r>
            <a:r>
              <a:rPr sz="1200" spc="235" dirty="0">
                <a:latin typeface="Times New Roman"/>
                <a:cs typeface="Times New Roman"/>
              </a:rPr>
              <a:t> </a:t>
            </a:r>
            <a:r>
              <a:rPr sz="1200" dirty="0">
                <a:latin typeface="Times New Roman"/>
                <a:cs typeface="Times New Roman"/>
              </a:rPr>
              <a:t>React.js</a:t>
            </a:r>
            <a:r>
              <a:rPr sz="1200" spc="229" dirty="0">
                <a:latin typeface="Times New Roman"/>
                <a:cs typeface="Times New Roman"/>
              </a:rPr>
              <a:t> </a:t>
            </a:r>
            <a:r>
              <a:rPr sz="1200" dirty="0">
                <a:latin typeface="Times New Roman"/>
                <a:cs typeface="Times New Roman"/>
              </a:rPr>
              <a:t>components</a:t>
            </a:r>
            <a:r>
              <a:rPr sz="1200" spc="20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dirty="0">
                <a:latin typeface="Times New Roman"/>
                <a:cs typeface="Times New Roman"/>
              </a:rPr>
              <a:t>provide</a:t>
            </a:r>
            <a:r>
              <a:rPr sz="1200" spc="240" dirty="0">
                <a:latin typeface="Times New Roman"/>
                <a:cs typeface="Times New Roman"/>
              </a:rPr>
              <a:t> </a:t>
            </a:r>
            <a:r>
              <a:rPr sz="1200" spc="-50" dirty="0">
                <a:latin typeface="Times New Roman"/>
                <a:cs typeface="Times New Roman"/>
              </a:rPr>
              <a:t>a </a:t>
            </a:r>
            <a:r>
              <a:rPr sz="1200" dirty="0">
                <a:latin typeface="Times New Roman"/>
                <a:cs typeface="Times New Roman"/>
              </a:rPr>
              <a:t>seamless,</a:t>
            </a:r>
            <a:r>
              <a:rPr sz="1200" spc="-25" dirty="0">
                <a:latin typeface="Times New Roman"/>
                <a:cs typeface="Times New Roman"/>
              </a:rPr>
              <a:t> </a:t>
            </a:r>
            <a:r>
              <a:rPr sz="1200" spc="-10" dirty="0">
                <a:latin typeface="Times New Roman"/>
                <a:cs typeface="Times New Roman"/>
              </a:rPr>
              <a:t>single-</a:t>
            </a:r>
            <a:r>
              <a:rPr sz="1200" dirty="0">
                <a:latin typeface="Times New Roman"/>
                <a:cs typeface="Times New Roman"/>
              </a:rPr>
              <a:t>page</a:t>
            </a:r>
            <a:r>
              <a:rPr sz="1200" spc="-35" dirty="0">
                <a:latin typeface="Times New Roman"/>
                <a:cs typeface="Times New Roman"/>
              </a:rPr>
              <a:t> </a:t>
            </a:r>
            <a:r>
              <a:rPr sz="1200" dirty="0">
                <a:latin typeface="Times New Roman"/>
                <a:cs typeface="Times New Roman"/>
              </a:rPr>
              <a:t>application</a:t>
            </a:r>
            <a:r>
              <a:rPr sz="1200" spc="-55" dirty="0">
                <a:latin typeface="Times New Roman"/>
                <a:cs typeface="Times New Roman"/>
              </a:rPr>
              <a:t> </a:t>
            </a:r>
            <a:r>
              <a:rPr sz="1200" spc="-10" dirty="0">
                <a:latin typeface="Times New Roman"/>
                <a:cs typeface="Times New Roman"/>
              </a:rPr>
              <a:t>experience.</a:t>
            </a:r>
            <a:endParaRPr sz="1200">
              <a:latin typeface="Times New Roman"/>
              <a:cs typeface="Times New Roman"/>
            </a:endParaRPr>
          </a:p>
          <a:p>
            <a:pPr marL="927100" marR="10160" lvl="1" indent="-228600">
              <a:lnSpc>
                <a:spcPct val="103299"/>
              </a:lnSpc>
              <a:spcBef>
                <a:spcPts val="795"/>
              </a:spcBef>
              <a:buSzPct val="83333"/>
              <a:buFont typeface="Courier New"/>
              <a:buChar char="o"/>
              <a:tabLst>
                <a:tab pos="927100" algn="l"/>
              </a:tabLst>
            </a:pPr>
            <a:r>
              <a:rPr sz="1200" b="1" spc="-10" dirty="0">
                <a:latin typeface="Times New Roman"/>
                <a:cs typeface="Times New Roman"/>
              </a:rPr>
              <a:t>Back-</a:t>
            </a:r>
            <a:r>
              <a:rPr sz="1200" b="1" dirty="0">
                <a:latin typeface="Times New Roman"/>
                <a:cs typeface="Times New Roman"/>
              </a:rPr>
              <a:t>End</a:t>
            </a:r>
            <a:r>
              <a:rPr sz="1200" b="1" spc="170" dirty="0">
                <a:latin typeface="Times New Roman"/>
                <a:cs typeface="Times New Roman"/>
              </a:rPr>
              <a:t> </a:t>
            </a:r>
            <a:r>
              <a:rPr sz="1200" b="1" dirty="0">
                <a:latin typeface="Times New Roman"/>
                <a:cs typeface="Times New Roman"/>
              </a:rPr>
              <a:t>Design:</a:t>
            </a:r>
            <a:r>
              <a:rPr sz="1200" b="1" spc="190" dirty="0">
                <a:latin typeface="Times New Roman"/>
                <a:cs typeface="Times New Roman"/>
              </a:rPr>
              <a:t> </a:t>
            </a:r>
            <a:r>
              <a:rPr sz="1200" dirty="0">
                <a:latin typeface="Times New Roman"/>
                <a:cs typeface="Times New Roman"/>
              </a:rPr>
              <a:t>Node.js</a:t>
            </a:r>
            <a:r>
              <a:rPr sz="1200" spc="180" dirty="0">
                <a:latin typeface="Times New Roman"/>
                <a:cs typeface="Times New Roman"/>
              </a:rPr>
              <a:t> </a:t>
            </a:r>
            <a:r>
              <a:rPr sz="1200" dirty="0">
                <a:latin typeface="Times New Roman"/>
                <a:cs typeface="Times New Roman"/>
              </a:rPr>
              <a:t>handles</a:t>
            </a:r>
            <a:r>
              <a:rPr sz="1200" spc="160" dirty="0">
                <a:latin typeface="Times New Roman"/>
                <a:cs typeface="Times New Roman"/>
              </a:rPr>
              <a:t> </a:t>
            </a:r>
            <a:r>
              <a:rPr sz="1200" spc="-10" dirty="0">
                <a:latin typeface="Times New Roman"/>
                <a:cs typeface="Times New Roman"/>
              </a:rPr>
              <a:t>server-</a:t>
            </a:r>
            <a:r>
              <a:rPr sz="1200" dirty="0">
                <a:latin typeface="Times New Roman"/>
                <a:cs typeface="Times New Roman"/>
              </a:rPr>
              <a:t>side</a:t>
            </a:r>
            <a:r>
              <a:rPr sz="1200" spc="185" dirty="0">
                <a:latin typeface="Times New Roman"/>
                <a:cs typeface="Times New Roman"/>
              </a:rPr>
              <a:t> </a:t>
            </a:r>
            <a:r>
              <a:rPr sz="1200" dirty="0">
                <a:latin typeface="Times New Roman"/>
                <a:cs typeface="Times New Roman"/>
              </a:rPr>
              <a:t>processing,</a:t>
            </a:r>
            <a:r>
              <a:rPr sz="1200" spc="90" dirty="0">
                <a:latin typeface="Times New Roman"/>
                <a:cs typeface="Times New Roman"/>
              </a:rPr>
              <a:t> </a:t>
            </a:r>
            <a:r>
              <a:rPr sz="1200" dirty="0">
                <a:latin typeface="Times New Roman"/>
                <a:cs typeface="Times New Roman"/>
              </a:rPr>
              <a:t>API</a:t>
            </a:r>
            <a:r>
              <a:rPr sz="1200" spc="180" dirty="0">
                <a:latin typeface="Times New Roman"/>
                <a:cs typeface="Times New Roman"/>
              </a:rPr>
              <a:t> </a:t>
            </a:r>
            <a:r>
              <a:rPr sz="1200" dirty="0">
                <a:latin typeface="Times New Roman"/>
                <a:cs typeface="Times New Roman"/>
              </a:rPr>
              <a:t>endpoints,</a:t>
            </a:r>
            <a:r>
              <a:rPr sz="1200" spc="17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integration</a:t>
            </a:r>
            <a:r>
              <a:rPr sz="1200" spc="-5" dirty="0">
                <a:latin typeface="Times New Roman"/>
                <a:cs typeface="Times New Roman"/>
              </a:rPr>
              <a:t> </a:t>
            </a:r>
            <a:r>
              <a:rPr sz="1200" dirty="0">
                <a:latin typeface="Times New Roman"/>
                <a:cs typeface="Times New Roman"/>
              </a:rPr>
              <a:t>with </a:t>
            </a:r>
            <a:r>
              <a:rPr sz="1200" spc="-10" dirty="0">
                <a:latin typeface="Times New Roman"/>
                <a:cs typeface="Times New Roman"/>
              </a:rPr>
              <a:t>Firebase.</a:t>
            </a:r>
            <a:endParaRPr sz="1200">
              <a:latin typeface="Times New Roman"/>
              <a:cs typeface="Times New Roman"/>
            </a:endParaRPr>
          </a:p>
          <a:p>
            <a:pPr marL="927100" marR="5715" lvl="1" indent="-228600">
              <a:lnSpc>
                <a:spcPct val="103499"/>
              </a:lnSpc>
              <a:spcBef>
                <a:spcPts val="810"/>
              </a:spcBef>
              <a:buSzPct val="83333"/>
              <a:buFont typeface="Courier New"/>
              <a:buChar char="o"/>
              <a:tabLst>
                <a:tab pos="927100" algn="l"/>
              </a:tabLst>
            </a:pPr>
            <a:r>
              <a:rPr sz="1200" b="1" dirty="0">
                <a:latin typeface="Times New Roman"/>
                <a:cs typeface="Times New Roman"/>
              </a:rPr>
              <a:t>Database</a:t>
            </a:r>
            <a:r>
              <a:rPr sz="1200" b="1" spc="30" dirty="0">
                <a:latin typeface="Times New Roman"/>
                <a:cs typeface="Times New Roman"/>
              </a:rPr>
              <a:t> </a:t>
            </a:r>
            <a:r>
              <a:rPr sz="1200" b="1" dirty="0">
                <a:latin typeface="Times New Roman"/>
                <a:cs typeface="Times New Roman"/>
              </a:rPr>
              <a:t>Design:</a:t>
            </a:r>
            <a:r>
              <a:rPr sz="1200" b="1" spc="60" dirty="0">
                <a:latin typeface="Times New Roman"/>
                <a:cs typeface="Times New Roman"/>
              </a:rPr>
              <a:t> </a:t>
            </a:r>
            <a:r>
              <a:rPr sz="1200" dirty="0">
                <a:latin typeface="Times New Roman"/>
                <a:cs typeface="Times New Roman"/>
              </a:rPr>
              <a:t>Firebase</a:t>
            </a:r>
            <a:r>
              <a:rPr sz="1200" spc="55" dirty="0">
                <a:latin typeface="Times New Roman"/>
                <a:cs typeface="Times New Roman"/>
              </a:rPr>
              <a:t> </a:t>
            </a:r>
            <a:r>
              <a:rPr sz="1200" dirty="0">
                <a:latin typeface="Times New Roman"/>
                <a:cs typeface="Times New Roman"/>
              </a:rPr>
              <a:t>stores</a:t>
            </a:r>
            <a:r>
              <a:rPr sz="1200" spc="30" dirty="0">
                <a:latin typeface="Times New Roman"/>
                <a:cs typeface="Times New Roman"/>
              </a:rPr>
              <a:t> </a:t>
            </a:r>
            <a:r>
              <a:rPr sz="1200" dirty="0">
                <a:latin typeface="Times New Roman"/>
                <a:cs typeface="Times New Roman"/>
              </a:rPr>
              <a:t>user,</a:t>
            </a:r>
            <a:r>
              <a:rPr sz="1200" spc="50" dirty="0">
                <a:latin typeface="Times New Roman"/>
                <a:cs typeface="Times New Roman"/>
              </a:rPr>
              <a:t> </a:t>
            </a:r>
            <a:r>
              <a:rPr sz="1200" dirty="0">
                <a:latin typeface="Times New Roman"/>
                <a:cs typeface="Times New Roman"/>
              </a:rPr>
              <a:t>booking,</a:t>
            </a:r>
            <a:r>
              <a:rPr sz="1200" spc="70" dirty="0">
                <a:latin typeface="Times New Roman"/>
                <a:cs typeface="Times New Roman"/>
              </a:rPr>
              <a:t> </a:t>
            </a:r>
            <a:r>
              <a:rPr sz="1200" dirty="0">
                <a:latin typeface="Times New Roman"/>
                <a:cs typeface="Times New Roman"/>
              </a:rPr>
              <a:t>and</a:t>
            </a:r>
            <a:r>
              <a:rPr sz="1200" spc="60" dirty="0">
                <a:latin typeface="Times New Roman"/>
                <a:cs typeface="Times New Roman"/>
              </a:rPr>
              <a:t> </a:t>
            </a:r>
            <a:r>
              <a:rPr sz="1200" dirty="0">
                <a:latin typeface="Times New Roman"/>
                <a:cs typeface="Times New Roman"/>
              </a:rPr>
              <a:t>vehicle</a:t>
            </a:r>
            <a:r>
              <a:rPr sz="1200" spc="35" dirty="0">
                <a:latin typeface="Times New Roman"/>
                <a:cs typeface="Times New Roman"/>
              </a:rPr>
              <a:t> </a:t>
            </a:r>
            <a:r>
              <a:rPr sz="1200" dirty="0">
                <a:latin typeface="Times New Roman"/>
                <a:cs typeface="Times New Roman"/>
              </a:rPr>
              <a:t>data</a:t>
            </a:r>
            <a:r>
              <a:rPr sz="1200" spc="6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a</a:t>
            </a:r>
            <a:r>
              <a:rPr sz="1200" spc="60" dirty="0">
                <a:latin typeface="Times New Roman"/>
                <a:cs typeface="Times New Roman"/>
              </a:rPr>
              <a:t> </a:t>
            </a:r>
            <a:r>
              <a:rPr sz="1200" spc="-10" dirty="0">
                <a:latin typeface="Times New Roman"/>
                <a:cs typeface="Times New Roman"/>
              </a:rPr>
              <a:t>structured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scalable</a:t>
            </a:r>
            <a:r>
              <a:rPr sz="1200" spc="-20" dirty="0">
                <a:latin typeface="Times New Roman"/>
                <a:cs typeface="Times New Roman"/>
              </a:rPr>
              <a:t> </a:t>
            </a:r>
            <a:r>
              <a:rPr sz="1200" spc="-10" dirty="0">
                <a:latin typeface="Times New Roman"/>
                <a:cs typeface="Times New Roman"/>
              </a:rPr>
              <a:t>manner.</a:t>
            </a:r>
            <a:endParaRPr sz="1200">
              <a:latin typeface="Times New Roman"/>
              <a:cs typeface="Times New Roman"/>
            </a:endParaRPr>
          </a:p>
          <a:p>
            <a:pPr marL="469900" marR="10160" indent="-229235" algn="just">
              <a:lnSpc>
                <a:spcPct val="103299"/>
              </a:lnSpc>
              <a:spcBef>
                <a:spcPts val="795"/>
              </a:spcBef>
              <a:buFont typeface="Times New Roman"/>
              <a:buAutoNum type="arabicPeriod"/>
              <a:tabLst>
                <a:tab pos="469900" algn="l"/>
              </a:tabLst>
            </a:pPr>
            <a:r>
              <a:rPr sz="1200" b="1" dirty="0">
                <a:latin typeface="Times New Roman"/>
                <a:cs typeface="Times New Roman"/>
              </a:rPr>
              <a:t>Flow</a:t>
            </a:r>
            <a:r>
              <a:rPr sz="1200" b="1" spc="120" dirty="0">
                <a:latin typeface="Times New Roman"/>
                <a:cs typeface="Times New Roman"/>
              </a:rPr>
              <a:t> </a:t>
            </a:r>
            <a:r>
              <a:rPr sz="1200" b="1" dirty="0">
                <a:latin typeface="Times New Roman"/>
                <a:cs typeface="Times New Roman"/>
              </a:rPr>
              <a:t>Diagrams</a:t>
            </a:r>
            <a:r>
              <a:rPr sz="1200" b="1" spc="114" dirty="0">
                <a:latin typeface="Times New Roman"/>
                <a:cs typeface="Times New Roman"/>
              </a:rPr>
              <a:t> </a:t>
            </a:r>
            <a:r>
              <a:rPr sz="1200" b="1" dirty="0">
                <a:latin typeface="Times New Roman"/>
                <a:cs typeface="Times New Roman"/>
              </a:rPr>
              <a:t>and</a:t>
            </a:r>
            <a:r>
              <a:rPr sz="1200" b="1" spc="130" dirty="0">
                <a:latin typeface="Times New Roman"/>
                <a:cs typeface="Times New Roman"/>
              </a:rPr>
              <a:t> </a:t>
            </a:r>
            <a:r>
              <a:rPr sz="1200" b="1" dirty="0">
                <a:latin typeface="Times New Roman"/>
                <a:cs typeface="Times New Roman"/>
              </a:rPr>
              <a:t>Use</a:t>
            </a:r>
            <a:r>
              <a:rPr sz="1200" b="1" spc="120" dirty="0">
                <a:latin typeface="Times New Roman"/>
                <a:cs typeface="Times New Roman"/>
              </a:rPr>
              <a:t> </a:t>
            </a:r>
            <a:r>
              <a:rPr sz="1200" b="1" dirty="0">
                <a:latin typeface="Times New Roman"/>
                <a:cs typeface="Times New Roman"/>
              </a:rPr>
              <a:t>Cases:</a:t>
            </a:r>
            <a:r>
              <a:rPr sz="1200" b="1" spc="145" dirty="0">
                <a:latin typeface="Times New Roman"/>
                <a:cs typeface="Times New Roman"/>
              </a:rPr>
              <a:t> </a:t>
            </a:r>
            <a:r>
              <a:rPr sz="1200" dirty="0">
                <a:latin typeface="Times New Roman"/>
                <a:cs typeface="Times New Roman"/>
              </a:rPr>
              <a:t>Use</a:t>
            </a:r>
            <a:r>
              <a:rPr sz="1200" spc="120" dirty="0">
                <a:latin typeface="Times New Roman"/>
                <a:cs typeface="Times New Roman"/>
              </a:rPr>
              <a:t> </a:t>
            </a:r>
            <a:r>
              <a:rPr sz="1200" dirty="0">
                <a:latin typeface="Times New Roman"/>
                <a:cs typeface="Times New Roman"/>
              </a:rPr>
              <a:t>case</a:t>
            </a:r>
            <a:r>
              <a:rPr sz="1200" spc="114" dirty="0">
                <a:latin typeface="Times New Roman"/>
                <a:cs typeface="Times New Roman"/>
              </a:rPr>
              <a:t> </a:t>
            </a:r>
            <a:r>
              <a:rPr sz="1200" dirty="0">
                <a:latin typeface="Times New Roman"/>
                <a:cs typeface="Times New Roman"/>
              </a:rPr>
              <a:t>diagrams,</a:t>
            </a:r>
            <a:r>
              <a:rPr sz="1200" spc="135" dirty="0">
                <a:latin typeface="Times New Roman"/>
                <a:cs typeface="Times New Roman"/>
              </a:rPr>
              <a:t> </a:t>
            </a:r>
            <a:r>
              <a:rPr sz="1200" dirty="0">
                <a:latin typeface="Times New Roman"/>
                <a:cs typeface="Times New Roman"/>
              </a:rPr>
              <a:t>flowcharts,</a:t>
            </a:r>
            <a:r>
              <a:rPr sz="1200" spc="130" dirty="0">
                <a:latin typeface="Times New Roman"/>
                <a:cs typeface="Times New Roman"/>
              </a:rPr>
              <a:t> </a:t>
            </a:r>
            <a:r>
              <a:rPr sz="1200" dirty="0">
                <a:latin typeface="Times New Roman"/>
                <a:cs typeface="Times New Roman"/>
              </a:rPr>
              <a:t>and</a:t>
            </a:r>
            <a:r>
              <a:rPr sz="1200" spc="125" dirty="0">
                <a:latin typeface="Times New Roman"/>
                <a:cs typeface="Times New Roman"/>
              </a:rPr>
              <a:t> </a:t>
            </a:r>
            <a:r>
              <a:rPr sz="1200" dirty="0">
                <a:latin typeface="Times New Roman"/>
                <a:cs typeface="Times New Roman"/>
              </a:rPr>
              <a:t>wireframes</a:t>
            </a:r>
            <a:r>
              <a:rPr sz="1200" spc="114" dirty="0">
                <a:latin typeface="Times New Roman"/>
                <a:cs typeface="Times New Roman"/>
              </a:rPr>
              <a:t> </a:t>
            </a:r>
            <a:r>
              <a:rPr sz="1200" spc="-20" dirty="0">
                <a:latin typeface="Times New Roman"/>
                <a:cs typeface="Times New Roman"/>
              </a:rPr>
              <a:t>were </a:t>
            </a:r>
            <a:r>
              <a:rPr sz="1200" dirty="0">
                <a:latin typeface="Times New Roman"/>
                <a:cs typeface="Times New Roman"/>
              </a:rPr>
              <a:t>prepared</a:t>
            </a:r>
            <a:r>
              <a:rPr sz="1200" spc="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visualize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10" dirty="0">
                <a:latin typeface="Times New Roman"/>
                <a:cs typeface="Times New Roman"/>
              </a:rPr>
              <a:t> </a:t>
            </a:r>
            <a:r>
              <a:rPr sz="1200" dirty="0">
                <a:latin typeface="Times New Roman"/>
                <a:cs typeface="Times New Roman"/>
              </a:rPr>
              <a:t>workflow,</a:t>
            </a:r>
            <a:r>
              <a:rPr sz="1200" spc="60" dirty="0">
                <a:latin typeface="Times New Roman"/>
                <a:cs typeface="Times New Roman"/>
              </a:rPr>
              <a:t> </a:t>
            </a:r>
            <a:r>
              <a:rPr sz="1200" dirty="0">
                <a:latin typeface="Times New Roman"/>
                <a:cs typeface="Times New Roman"/>
              </a:rPr>
              <a:t>including</a:t>
            </a:r>
            <a:r>
              <a:rPr sz="1200" spc="3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admin</a:t>
            </a:r>
            <a:r>
              <a:rPr sz="1200" spc="10" dirty="0">
                <a:latin typeface="Times New Roman"/>
                <a:cs typeface="Times New Roman"/>
              </a:rPr>
              <a:t> </a:t>
            </a:r>
            <a:r>
              <a:rPr sz="1200" dirty="0">
                <a:latin typeface="Times New Roman"/>
                <a:cs typeface="Times New Roman"/>
              </a:rPr>
              <a:t>tasks,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20" dirty="0">
                <a:latin typeface="Times New Roman"/>
                <a:cs typeface="Times New Roman"/>
              </a:rPr>
              <a:t>data </a:t>
            </a:r>
            <a:r>
              <a:rPr sz="1200" spc="-10" dirty="0">
                <a:latin typeface="Times New Roman"/>
                <a:cs typeface="Times New Roman"/>
              </a:rPr>
              <a:t>flow.</a:t>
            </a:r>
            <a:endParaRPr sz="1200">
              <a:latin typeface="Times New Roman"/>
              <a:cs typeface="Times New Roman"/>
            </a:endParaRPr>
          </a:p>
          <a:p>
            <a:pPr marL="469900" marR="7620" indent="-229235" algn="just">
              <a:lnSpc>
                <a:spcPct val="103499"/>
              </a:lnSpc>
              <a:spcBef>
                <a:spcPts val="815"/>
              </a:spcBef>
              <a:buFont typeface="Times New Roman"/>
              <a:buAutoNum type="arabicPeriod"/>
              <a:tabLst>
                <a:tab pos="469900" algn="l"/>
              </a:tabLst>
            </a:pPr>
            <a:r>
              <a:rPr sz="1200" b="1" dirty="0">
                <a:latin typeface="Times New Roman"/>
                <a:cs typeface="Times New Roman"/>
              </a:rPr>
              <a:t>Security</a:t>
            </a:r>
            <a:r>
              <a:rPr sz="1200" b="1" spc="385" dirty="0">
                <a:latin typeface="Times New Roman"/>
                <a:cs typeface="Times New Roman"/>
              </a:rPr>
              <a:t> </a:t>
            </a:r>
            <a:r>
              <a:rPr sz="1200" b="1" dirty="0">
                <a:latin typeface="Times New Roman"/>
                <a:cs typeface="Times New Roman"/>
              </a:rPr>
              <a:t>and</a:t>
            </a:r>
            <a:r>
              <a:rPr sz="1200" b="1" spc="370" dirty="0">
                <a:latin typeface="Times New Roman"/>
                <a:cs typeface="Times New Roman"/>
              </a:rPr>
              <a:t> </a:t>
            </a:r>
            <a:r>
              <a:rPr sz="1200" b="1" dirty="0">
                <a:latin typeface="Times New Roman"/>
                <a:cs typeface="Times New Roman"/>
              </a:rPr>
              <a:t>Validation:</a:t>
            </a:r>
            <a:r>
              <a:rPr sz="1200" b="1" spc="300" dirty="0">
                <a:latin typeface="Times New Roman"/>
                <a:cs typeface="Times New Roman"/>
              </a:rPr>
              <a:t> </a:t>
            </a:r>
            <a:r>
              <a:rPr sz="1200" dirty="0">
                <a:latin typeface="Times New Roman"/>
                <a:cs typeface="Times New Roman"/>
              </a:rPr>
              <a:t>Authentication,</a:t>
            </a:r>
            <a:r>
              <a:rPr sz="1200" spc="400" dirty="0">
                <a:latin typeface="Times New Roman"/>
                <a:cs typeface="Times New Roman"/>
              </a:rPr>
              <a:t> </a:t>
            </a:r>
            <a:r>
              <a:rPr sz="1200" dirty="0">
                <a:latin typeface="Times New Roman"/>
                <a:cs typeface="Times New Roman"/>
              </a:rPr>
              <a:t>authorization,</a:t>
            </a:r>
            <a:r>
              <a:rPr sz="1200" spc="395" dirty="0">
                <a:latin typeface="Times New Roman"/>
                <a:cs typeface="Times New Roman"/>
              </a:rPr>
              <a:t> </a:t>
            </a:r>
            <a:r>
              <a:rPr sz="1200" dirty="0">
                <a:latin typeface="Times New Roman"/>
                <a:cs typeface="Times New Roman"/>
              </a:rPr>
              <a:t>and</a:t>
            </a:r>
            <a:r>
              <a:rPr sz="1200" spc="409" dirty="0">
                <a:latin typeface="Times New Roman"/>
                <a:cs typeface="Times New Roman"/>
              </a:rPr>
              <a:t> </a:t>
            </a:r>
            <a:r>
              <a:rPr sz="1200" dirty="0">
                <a:latin typeface="Times New Roman"/>
                <a:cs typeface="Times New Roman"/>
              </a:rPr>
              <a:t>input</a:t>
            </a:r>
            <a:r>
              <a:rPr sz="1200" spc="409" dirty="0">
                <a:latin typeface="Times New Roman"/>
                <a:cs typeface="Times New Roman"/>
              </a:rPr>
              <a:t> </a:t>
            </a:r>
            <a:r>
              <a:rPr sz="1200" dirty="0">
                <a:latin typeface="Times New Roman"/>
                <a:cs typeface="Times New Roman"/>
              </a:rPr>
              <a:t>validation</a:t>
            </a:r>
            <a:r>
              <a:rPr sz="1200" spc="365" dirty="0">
                <a:latin typeface="Times New Roman"/>
                <a:cs typeface="Times New Roman"/>
              </a:rPr>
              <a:t> </a:t>
            </a:r>
            <a:r>
              <a:rPr sz="1200" spc="-20" dirty="0">
                <a:latin typeface="Times New Roman"/>
                <a:cs typeface="Times New Roman"/>
              </a:rPr>
              <a:t>were </a:t>
            </a:r>
            <a:r>
              <a:rPr sz="1200" spc="-10" dirty="0">
                <a:latin typeface="Times New Roman"/>
                <a:cs typeface="Times New Roman"/>
              </a:rPr>
              <a:t>incorporated</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maintain</a:t>
            </a:r>
            <a:r>
              <a:rPr sz="1200" spc="-2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integrity</a:t>
            </a:r>
            <a:r>
              <a:rPr sz="1200" spc="-4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prevent</a:t>
            </a:r>
            <a:r>
              <a:rPr sz="1200" spc="30" dirty="0">
                <a:latin typeface="Times New Roman"/>
                <a:cs typeface="Times New Roman"/>
              </a:rPr>
              <a:t> </a:t>
            </a:r>
            <a:r>
              <a:rPr sz="1200" spc="-10" dirty="0">
                <a:latin typeface="Times New Roman"/>
                <a:cs typeface="Times New Roman"/>
              </a:rPr>
              <a:t>unauthorized</a:t>
            </a:r>
            <a:r>
              <a:rPr sz="1200" spc="5" dirty="0">
                <a:latin typeface="Times New Roman"/>
                <a:cs typeface="Times New Roman"/>
              </a:rPr>
              <a:t> </a:t>
            </a:r>
            <a:r>
              <a:rPr sz="1200" spc="-10" dirty="0">
                <a:latin typeface="Times New Roman"/>
                <a:cs typeface="Times New Roman"/>
              </a:rPr>
              <a:t>access.</a:t>
            </a:r>
            <a:endParaRPr sz="1200">
              <a:latin typeface="Times New Roman"/>
              <a:cs typeface="Times New Roman"/>
            </a:endParaRPr>
          </a:p>
          <a:p>
            <a:pPr marL="12700" marR="13970">
              <a:lnSpc>
                <a:spcPct val="103299"/>
              </a:lnSpc>
              <a:spcBef>
                <a:spcPts val="790"/>
              </a:spcBef>
            </a:pPr>
            <a:r>
              <a:rPr sz="1200" spc="-20" dirty="0">
                <a:latin typeface="Times New Roman"/>
                <a:cs typeface="Times New Roman"/>
              </a:rPr>
              <a:t>The</a:t>
            </a:r>
            <a:r>
              <a:rPr sz="1200" spc="-35" dirty="0">
                <a:latin typeface="Times New Roman"/>
                <a:cs typeface="Times New Roman"/>
              </a:rPr>
              <a:t> </a:t>
            </a:r>
            <a:r>
              <a:rPr sz="1200" spc="-10" dirty="0">
                <a:latin typeface="Times New Roman"/>
                <a:cs typeface="Times New Roman"/>
              </a:rPr>
              <a:t>design</a:t>
            </a:r>
            <a:r>
              <a:rPr sz="1200" spc="-60" dirty="0">
                <a:latin typeface="Times New Roman"/>
                <a:cs typeface="Times New Roman"/>
              </a:rPr>
              <a:t> </a:t>
            </a:r>
            <a:r>
              <a:rPr sz="1200" spc="-10" dirty="0">
                <a:latin typeface="Times New Roman"/>
                <a:cs typeface="Times New Roman"/>
              </a:rPr>
              <a:t>ensures</a:t>
            </a:r>
            <a:r>
              <a:rPr sz="1200" spc="-15" dirty="0">
                <a:latin typeface="Times New Roman"/>
                <a:cs typeface="Times New Roman"/>
              </a:rPr>
              <a:t> </a:t>
            </a:r>
            <a:r>
              <a:rPr sz="1200" spc="-20" dirty="0">
                <a:latin typeface="Times New Roman"/>
                <a:cs typeface="Times New Roman"/>
              </a:rPr>
              <a:t>modularity,</a:t>
            </a:r>
            <a:r>
              <a:rPr sz="1200" spc="-15" dirty="0">
                <a:latin typeface="Times New Roman"/>
                <a:cs typeface="Times New Roman"/>
              </a:rPr>
              <a:t> </a:t>
            </a:r>
            <a:r>
              <a:rPr sz="1200" spc="-20" dirty="0">
                <a:latin typeface="Times New Roman"/>
                <a:cs typeface="Times New Roman"/>
              </a:rPr>
              <a:t>scalability, </a:t>
            </a:r>
            <a:r>
              <a:rPr sz="1200" spc="-10" dirty="0">
                <a:latin typeface="Times New Roman"/>
                <a:cs typeface="Times New Roman"/>
              </a:rPr>
              <a:t>and</a:t>
            </a:r>
            <a:r>
              <a:rPr sz="1200" spc="-5" dirty="0">
                <a:latin typeface="Times New Roman"/>
                <a:cs typeface="Times New Roman"/>
              </a:rPr>
              <a:t> </a:t>
            </a:r>
            <a:r>
              <a:rPr sz="1200" spc="-20" dirty="0">
                <a:latin typeface="Times New Roman"/>
                <a:cs typeface="Times New Roman"/>
              </a:rPr>
              <a:t>maintainability,</a:t>
            </a:r>
            <a:r>
              <a:rPr sz="1200" spc="-15" dirty="0">
                <a:latin typeface="Times New Roman"/>
                <a:cs typeface="Times New Roman"/>
              </a:rPr>
              <a:t> </a:t>
            </a:r>
            <a:r>
              <a:rPr sz="1200" spc="-10" dirty="0">
                <a:latin typeface="Times New Roman"/>
                <a:cs typeface="Times New Roman"/>
              </a:rPr>
              <a:t>allowing</a:t>
            </a:r>
            <a:r>
              <a:rPr sz="1200" spc="-30" dirty="0">
                <a:latin typeface="Times New Roman"/>
                <a:cs typeface="Times New Roman"/>
              </a:rPr>
              <a:t> </a:t>
            </a:r>
            <a:r>
              <a:rPr sz="1200" spc="-1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system</a:t>
            </a:r>
            <a:r>
              <a:rPr sz="1200" spc="-8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be</a:t>
            </a:r>
            <a:r>
              <a:rPr sz="1200" spc="-35" dirty="0">
                <a:latin typeface="Times New Roman"/>
                <a:cs typeface="Times New Roman"/>
              </a:rPr>
              <a:t> </a:t>
            </a:r>
            <a:r>
              <a:rPr sz="1200" spc="-10" dirty="0">
                <a:latin typeface="Times New Roman"/>
                <a:cs typeface="Times New Roman"/>
              </a:rPr>
              <a:t>enhanced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 future</a:t>
            </a:r>
            <a:r>
              <a:rPr sz="1200" spc="-2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features</a:t>
            </a:r>
            <a:r>
              <a:rPr sz="1200" spc="-3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payment</a:t>
            </a:r>
            <a:r>
              <a:rPr sz="1200" spc="-20" dirty="0">
                <a:latin typeface="Times New Roman"/>
                <a:cs typeface="Times New Roman"/>
              </a:rPr>
              <a:t> </a:t>
            </a:r>
            <a:r>
              <a:rPr sz="1200" spc="-10" dirty="0">
                <a:latin typeface="Times New Roman"/>
                <a:cs typeface="Times New Roman"/>
              </a:rPr>
              <a:t>integration</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vehicle</a:t>
            </a:r>
            <a:r>
              <a:rPr sz="1200" spc="-25" dirty="0">
                <a:latin typeface="Times New Roman"/>
                <a:cs typeface="Times New Roman"/>
              </a:rPr>
              <a:t> </a:t>
            </a:r>
            <a:r>
              <a:rPr sz="1200" spc="-10" dirty="0">
                <a:latin typeface="Times New Roman"/>
                <a:cs typeface="Times New Roman"/>
              </a:rPr>
              <a:t>tracking.</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30"/>
              </a:spcBef>
            </a:pPr>
            <a:endParaRPr sz="1200">
              <a:latin typeface="Times New Roman"/>
              <a:cs typeface="Times New Roman"/>
            </a:endParaRPr>
          </a:p>
          <a:p>
            <a:pPr marL="12700">
              <a:lnSpc>
                <a:spcPct val="100000"/>
              </a:lnSpc>
            </a:pPr>
            <a:r>
              <a:rPr sz="1400" b="1" dirty="0">
                <a:latin typeface="Times New Roman"/>
                <a:cs typeface="Times New Roman"/>
              </a:rPr>
              <a:t>4.5</a:t>
            </a:r>
            <a:r>
              <a:rPr sz="1400" b="1" spc="-35" dirty="0">
                <a:latin typeface="Times New Roman"/>
                <a:cs typeface="Times New Roman"/>
              </a:rPr>
              <a:t> </a:t>
            </a:r>
            <a:r>
              <a:rPr sz="1400" b="1" dirty="0">
                <a:latin typeface="Times New Roman"/>
                <a:cs typeface="Times New Roman"/>
              </a:rPr>
              <a:t>System</a:t>
            </a:r>
            <a:r>
              <a:rPr sz="1400" b="1" spc="-35" dirty="0">
                <a:latin typeface="Times New Roman"/>
                <a:cs typeface="Times New Roman"/>
              </a:rPr>
              <a:t> </a:t>
            </a:r>
            <a:r>
              <a:rPr sz="1400" b="1" spc="-10" dirty="0">
                <a:latin typeface="Times New Roman"/>
                <a:cs typeface="Times New Roman"/>
              </a:rPr>
              <a:t>Development/Implementation</a:t>
            </a:r>
            <a:endParaRPr sz="1400">
              <a:latin typeface="Times New Roman"/>
              <a:cs typeface="Times New Roman"/>
            </a:endParaRPr>
          </a:p>
          <a:p>
            <a:pPr marL="12700" marR="13970">
              <a:lnSpc>
                <a:spcPct val="103299"/>
              </a:lnSpc>
              <a:spcBef>
                <a:spcPts val="780"/>
              </a:spcBef>
            </a:pP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development</a:t>
            </a:r>
            <a:r>
              <a:rPr sz="1200" spc="-20" dirty="0">
                <a:latin typeface="Times New Roman"/>
                <a:cs typeface="Times New Roman"/>
              </a:rPr>
              <a:t> </a:t>
            </a:r>
            <a:r>
              <a:rPr sz="1200" dirty="0">
                <a:latin typeface="Times New Roman"/>
                <a:cs typeface="Times New Roman"/>
              </a:rPr>
              <a:t>phase</a:t>
            </a:r>
            <a:r>
              <a:rPr sz="1200" spc="-30" dirty="0">
                <a:latin typeface="Times New Roman"/>
                <a:cs typeface="Times New Roman"/>
              </a:rPr>
              <a:t> </a:t>
            </a:r>
            <a:r>
              <a:rPr sz="1200" dirty="0">
                <a:latin typeface="Times New Roman"/>
                <a:cs typeface="Times New Roman"/>
              </a:rPr>
              <a:t>involved</a:t>
            </a:r>
            <a:r>
              <a:rPr sz="1200" spc="-40" dirty="0">
                <a:latin typeface="Times New Roman"/>
                <a:cs typeface="Times New Roman"/>
              </a:rPr>
              <a:t> </a:t>
            </a:r>
            <a:r>
              <a:rPr sz="1200" spc="-10" dirty="0">
                <a:latin typeface="Times New Roman"/>
                <a:cs typeface="Times New Roman"/>
              </a:rPr>
              <a:t>translating</a:t>
            </a:r>
            <a:r>
              <a:rPr sz="1200" spc="-45"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design</a:t>
            </a:r>
            <a:r>
              <a:rPr sz="1200" spc="-40" dirty="0">
                <a:latin typeface="Times New Roman"/>
                <a:cs typeface="Times New Roman"/>
              </a:rPr>
              <a:t> </a:t>
            </a:r>
            <a:r>
              <a:rPr sz="1200" dirty="0">
                <a:latin typeface="Times New Roman"/>
                <a:cs typeface="Times New Roman"/>
              </a:rPr>
              <a:t>into</a:t>
            </a:r>
            <a:r>
              <a:rPr sz="1200" spc="-2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working</a:t>
            </a:r>
            <a:r>
              <a:rPr sz="1200" spc="-45"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using</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following technologies:</a:t>
            </a:r>
            <a:endParaRPr sz="1200">
              <a:latin typeface="Times New Roman"/>
              <a:cs typeface="Times New Roman"/>
            </a:endParaRPr>
          </a:p>
          <a:p>
            <a:pPr marL="469900" indent="-228600">
              <a:lnSpc>
                <a:spcPct val="100000"/>
              </a:lnSpc>
              <a:spcBef>
                <a:spcPts val="860"/>
              </a:spcBef>
              <a:buSzPct val="83333"/>
              <a:buFont typeface="Symbol"/>
              <a:buChar char=""/>
              <a:tabLst>
                <a:tab pos="469900" algn="l"/>
              </a:tabLst>
            </a:pPr>
            <a:r>
              <a:rPr sz="1200" b="1" spc="-20" dirty="0">
                <a:latin typeface="Times New Roman"/>
                <a:cs typeface="Times New Roman"/>
              </a:rPr>
              <a:t>Front-</a:t>
            </a:r>
            <a:r>
              <a:rPr sz="1200" b="1" dirty="0">
                <a:latin typeface="Times New Roman"/>
                <a:cs typeface="Times New Roman"/>
              </a:rPr>
              <a:t>End</a:t>
            </a:r>
            <a:r>
              <a:rPr sz="1200" b="1" spc="55" dirty="0">
                <a:latin typeface="Times New Roman"/>
                <a:cs typeface="Times New Roman"/>
              </a:rPr>
              <a:t> </a:t>
            </a:r>
            <a:r>
              <a:rPr sz="1200" b="1" spc="-10" dirty="0">
                <a:latin typeface="Times New Roman"/>
                <a:cs typeface="Times New Roman"/>
              </a:rPr>
              <a:t>Implementation:</a:t>
            </a:r>
            <a:endParaRPr sz="1200">
              <a:latin typeface="Times New Roman"/>
              <a:cs typeface="Times New Roman"/>
            </a:endParaRPr>
          </a:p>
          <a:p>
            <a:pPr marL="927100" lvl="1" indent="-228600">
              <a:lnSpc>
                <a:spcPct val="100000"/>
              </a:lnSpc>
              <a:spcBef>
                <a:spcPts val="819"/>
              </a:spcBef>
              <a:buSzPct val="83333"/>
              <a:buFont typeface="Courier New"/>
              <a:buChar char="o"/>
              <a:tabLst>
                <a:tab pos="927100" algn="l"/>
              </a:tabLst>
            </a:pPr>
            <a:r>
              <a:rPr sz="1200" dirty="0">
                <a:latin typeface="Times New Roman"/>
                <a:cs typeface="Times New Roman"/>
              </a:rPr>
              <a:t>HTML,</a:t>
            </a:r>
            <a:r>
              <a:rPr sz="1200" spc="-20" dirty="0">
                <a:latin typeface="Times New Roman"/>
                <a:cs typeface="Times New Roman"/>
              </a:rPr>
              <a:t> </a:t>
            </a:r>
            <a:r>
              <a:rPr sz="1200" dirty="0">
                <a:latin typeface="Times New Roman"/>
                <a:cs typeface="Times New Roman"/>
              </a:rPr>
              <a:t>CSS,</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JavaScript</a:t>
            </a:r>
            <a:r>
              <a:rPr sz="1200" spc="-5" dirty="0">
                <a:latin typeface="Times New Roman"/>
                <a:cs typeface="Times New Roman"/>
              </a:rPr>
              <a:t> </a:t>
            </a:r>
            <a:r>
              <a:rPr sz="1200" dirty="0">
                <a:latin typeface="Times New Roman"/>
                <a:cs typeface="Times New Roman"/>
              </a:rPr>
              <a:t>were</a:t>
            </a:r>
            <a:r>
              <a:rPr sz="1200" spc="-30" dirty="0">
                <a:latin typeface="Times New Roman"/>
                <a:cs typeface="Times New Roman"/>
              </a:rPr>
              <a:t> </a:t>
            </a:r>
            <a:r>
              <a:rPr sz="1200" dirty="0">
                <a:latin typeface="Times New Roman"/>
                <a:cs typeface="Times New Roman"/>
              </a:rPr>
              <a:t>used</a:t>
            </a:r>
            <a:r>
              <a:rPr sz="1200" spc="-4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structure</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style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web</a:t>
            </a:r>
            <a:r>
              <a:rPr sz="1200" spc="-50" dirty="0">
                <a:latin typeface="Times New Roman"/>
                <a:cs typeface="Times New Roman"/>
              </a:rPr>
              <a:t> </a:t>
            </a:r>
            <a:r>
              <a:rPr sz="1200" spc="-10" dirty="0">
                <a:latin typeface="Times New Roman"/>
                <a:cs typeface="Times New Roman"/>
              </a:rPr>
              <a:t>pages.</a:t>
            </a:r>
            <a:endParaRPr sz="1200">
              <a:latin typeface="Times New Roman"/>
              <a:cs typeface="Times New Roman"/>
            </a:endParaRPr>
          </a:p>
          <a:p>
            <a:pPr marL="927100" marR="7620" lvl="1" indent="-228600">
              <a:lnSpc>
                <a:spcPct val="103299"/>
              </a:lnSpc>
              <a:spcBef>
                <a:spcPts val="815"/>
              </a:spcBef>
              <a:buSzPct val="83333"/>
              <a:buFont typeface="Courier New"/>
              <a:buChar char="o"/>
              <a:tabLst>
                <a:tab pos="927100" algn="l"/>
              </a:tabLst>
            </a:pPr>
            <a:r>
              <a:rPr sz="1200" dirty="0">
                <a:latin typeface="Times New Roman"/>
                <a:cs typeface="Times New Roman"/>
              </a:rPr>
              <a:t>React.js</a:t>
            </a:r>
            <a:r>
              <a:rPr sz="1200" spc="25"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dirty="0">
                <a:latin typeface="Times New Roman"/>
                <a:cs typeface="Times New Roman"/>
              </a:rPr>
              <a:t>employed</a:t>
            </a:r>
            <a:r>
              <a:rPr sz="1200" spc="60"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spc="-10" dirty="0">
                <a:latin typeface="Times New Roman"/>
                <a:cs typeface="Times New Roman"/>
              </a:rPr>
              <a:t>component-</a:t>
            </a:r>
            <a:r>
              <a:rPr sz="1200" dirty="0">
                <a:latin typeface="Times New Roman"/>
                <a:cs typeface="Times New Roman"/>
              </a:rPr>
              <a:t>based</a:t>
            </a:r>
            <a:r>
              <a:rPr sz="1200" spc="40" dirty="0">
                <a:latin typeface="Times New Roman"/>
                <a:cs typeface="Times New Roman"/>
              </a:rPr>
              <a:t> </a:t>
            </a:r>
            <a:r>
              <a:rPr sz="1200" dirty="0">
                <a:latin typeface="Times New Roman"/>
                <a:cs typeface="Times New Roman"/>
              </a:rPr>
              <a:t>architecture,</a:t>
            </a:r>
            <a:r>
              <a:rPr sz="1200" spc="45" dirty="0">
                <a:latin typeface="Times New Roman"/>
                <a:cs typeface="Times New Roman"/>
              </a:rPr>
              <a:t> </a:t>
            </a:r>
            <a:r>
              <a:rPr sz="1200" dirty="0">
                <a:latin typeface="Times New Roman"/>
                <a:cs typeface="Times New Roman"/>
              </a:rPr>
              <a:t>state</a:t>
            </a:r>
            <a:r>
              <a:rPr sz="1200" spc="35" dirty="0">
                <a:latin typeface="Times New Roman"/>
                <a:cs typeface="Times New Roman"/>
              </a:rPr>
              <a:t> </a:t>
            </a:r>
            <a:r>
              <a:rPr sz="1200" dirty="0">
                <a:latin typeface="Times New Roman"/>
                <a:cs typeface="Times New Roman"/>
              </a:rPr>
              <a:t>management,</a:t>
            </a:r>
            <a:r>
              <a:rPr sz="1200" spc="45" dirty="0">
                <a:latin typeface="Times New Roman"/>
                <a:cs typeface="Times New Roman"/>
              </a:rPr>
              <a:t> </a:t>
            </a:r>
            <a:r>
              <a:rPr sz="1200" spc="-25" dirty="0">
                <a:latin typeface="Times New Roman"/>
                <a:cs typeface="Times New Roman"/>
              </a:rPr>
              <a:t>and </a:t>
            </a:r>
            <a:r>
              <a:rPr sz="1200" dirty="0">
                <a:latin typeface="Times New Roman"/>
                <a:cs typeface="Times New Roman"/>
              </a:rPr>
              <a:t>dynamic</a:t>
            </a:r>
            <a:r>
              <a:rPr sz="1200" spc="-55" dirty="0">
                <a:latin typeface="Times New Roman"/>
                <a:cs typeface="Times New Roman"/>
              </a:rPr>
              <a:t> </a:t>
            </a:r>
            <a:r>
              <a:rPr sz="1200" spc="-10" dirty="0">
                <a:latin typeface="Times New Roman"/>
                <a:cs typeface="Times New Roman"/>
              </a:rPr>
              <a:t>rendering.</a:t>
            </a:r>
            <a:endParaRPr sz="1200">
              <a:latin typeface="Times New Roman"/>
              <a:cs typeface="Times New Roman"/>
            </a:endParaRPr>
          </a:p>
          <a:p>
            <a:pPr marL="469900" indent="-228600">
              <a:lnSpc>
                <a:spcPct val="100000"/>
              </a:lnSpc>
              <a:spcBef>
                <a:spcPts val="865"/>
              </a:spcBef>
              <a:buSzPct val="83333"/>
              <a:buFont typeface="Symbol"/>
              <a:buChar char=""/>
              <a:tabLst>
                <a:tab pos="469900" algn="l"/>
              </a:tabLst>
            </a:pPr>
            <a:r>
              <a:rPr sz="1200" b="1" spc="-10" dirty="0">
                <a:latin typeface="Times New Roman"/>
                <a:cs typeface="Times New Roman"/>
              </a:rPr>
              <a:t>Back-</a:t>
            </a:r>
            <a:r>
              <a:rPr sz="1200" b="1" dirty="0">
                <a:latin typeface="Times New Roman"/>
                <a:cs typeface="Times New Roman"/>
              </a:rPr>
              <a:t>End</a:t>
            </a:r>
            <a:r>
              <a:rPr sz="1200" b="1" spc="20" dirty="0">
                <a:latin typeface="Times New Roman"/>
                <a:cs typeface="Times New Roman"/>
              </a:rPr>
              <a:t> </a:t>
            </a:r>
            <a:r>
              <a:rPr sz="1200" b="1" spc="-10" dirty="0">
                <a:latin typeface="Times New Roman"/>
                <a:cs typeface="Times New Roman"/>
              </a:rPr>
              <a:t>Implementation:</a:t>
            </a:r>
            <a:endParaRPr sz="1200">
              <a:latin typeface="Times New Roman"/>
              <a:cs typeface="Times New Roman"/>
            </a:endParaRPr>
          </a:p>
          <a:p>
            <a:pPr marL="927100" lvl="1" indent="-228600">
              <a:lnSpc>
                <a:spcPct val="100000"/>
              </a:lnSpc>
              <a:spcBef>
                <a:spcPts val="845"/>
              </a:spcBef>
              <a:buSzPct val="83333"/>
              <a:buFont typeface="Courier New"/>
              <a:buChar char="o"/>
              <a:tabLst>
                <a:tab pos="927100" algn="l"/>
              </a:tabLst>
            </a:pPr>
            <a:r>
              <a:rPr sz="1200" dirty="0">
                <a:latin typeface="Times New Roman"/>
                <a:cs typeface="Times New Roman"/>
              </a:rPr>
              <a:t>Node.js</a:t>
            </a:r>
            <a:r>
              <a:rPr sz="1200" spc="-30" dirty="0">
                <a:latin typeface="Times New Roman"/>
                <a:cs typeface="Times New Roman"/>
              </a:rPr>
              <a:t> </a:t>
            </a:r>
            <a:r>
              <a:rPr sz="1200" dirty="0">
                <a:latin typeface="Times New Roman"/>
                <a:cs typeface="Times New Roman"/>
              </a:rPr>
              <a:t>handled</a:t>
            </a:r>
            <a:r>
              <a:rPr sz="1200" spc="-30" dirty="0">
                <a:latin typeface="Times New Roman"/>
                <a:cs typeface="Times New Roman"/>
              </a:rPr>
              <a:t> </a:t>
            </a:r>
            <a:r>
              <a:rPr sz="1200" spc="-10" dirty="0">
                <a:latin typeface="Times New Roman"/>
                <a:cs typeface="Times New Roman"/>
              </a:rPr>
              <a:t>server-</a:t>
            </a:r>
            <a:r>
              <a:rPr sz="1200" dirty="0">
                <a:latin typeface="Times New Roman"/>
                <a:cs typeface="Times New Roman"/>
              </a:rPr>
              <a:t>side</a:t>
            </a:r>
            <a:r>
              <a:rPr sz="1200" spc="-10" dirty="0">
                <a:latin typeface="Times New Roman"/>
                <a:cs typeface="Times New Roman"/>
              </a:rPr>
              <a:t> </a:t>
            </a:r>
            <a:r>
              <a:rPr sz="1200" dirty="0">
                <a:latin typeface="Times New Roman"/>
                <a:cs typeface="Times New Roman"/>
              </a:rPr>
              <a:t>logic,</a:t>
            </a:r>
            <a:r>
              <a:rPr sz="1200" spc="-25" dirty="0">
                <a:latin typeface="Times New Roman"/>
                <a:cs typeface="Times New Roman"/>
              </a:rPr>
              <a:t> </a:t>
            </a:r>
            <a:r>
              <a:rPr sz="1200" dirty="0">
                <a:latin typeface="Times New Roman"/>
                <a:cs typeface="Times New Roman"/>
              </a:rPr>
              <a:t>routing,</a:t>
            </a:r>
            <a:r>
              <a:rPr sz="1200" spc="-20" dirty="0">
                <a:latin typeface="Times New Roman"/>
                <a:cs typeface="Times New Roman"/>
              </a:rPr>
              <a:t> </a:t>
            </a:r>
            <a:r>
              <a:rPr sz="1200" spc="-10" dirty="0">
                <a:latin typeface="Times New Roman"/>
                <a:cs typeface="Times New Roman"/>
              </a:rPr>
              <a:t>and</a:t>
            </a:r>
            <a:r>
              <a:rPr sz="1200" spc="-65" dirty="0">
                <a:latin typeface="Times New Roman"/>
                <a:cs typeface="Times New Roman"/>
              </a:rPr>
              <a:t> </a:t>
            </a:r>
            <a:r>
              <a:rPr sz="1200" dirty="0">
                <a:latin typeface="Times New Roman"/>
                <a:cs typeface="Times New Roman"/>
              </a:rPr>
              <a:t>API</a:t>
            </a:r>
            <a:r>
              <a:rPr sz="1200" spc="-25" dirty="0">
                <a:latin typeface="Times New Roman"/>
                <a:cs typeface="Times New Roman"/>
              </a:rPr>
              <a:t> </a:t>
            </a:r>
            <a:r>
              <a:rPr sz="1200" spc="-10" dirty="0">
                <a:latin typeface="Times New Roman"/>
                <a:cs typeface="Times New Roman"/>
              </a:rPr>
              <a:t>endpoints.</a:t>
            </a:r>
            <a:endParaRPr sz="1200">
              <a:latin typeface="Times New Roman"/>
              <a:cs typeface="Times New Roman"/>
            </a:endParaRPr>
          </a:p>
          <a:p>
            <a:pPr marL="927100" lvl="1" indent="-228600">
              <a:lnSpc>
                <a:spcPct val="100000"/>
              </a:lnSpc>
              <a:spcBef>
                <a:spcPts val="840"/>
              </a:spcBef>
              <a:buSzPct val="83333"/>
              <a:buFont typeface="Courier New"/>
              <a:buChar char="o"/>
              <a:tabLst>
                <a:tab pos="927100" algn="l"/>
              </a:tabLst>
            </a:pPr>
            <a:r>
              <a:rPr sz="1200" spc="-10" dirty="0">
                <a:latin typeface="Times New Roman"/>
                <a:cs typeface="Times New Roman"/>
              </a:rPr>
              <a:t>RESTful</a:t>
            </a:r>
            <a:r>
              <a:rPr sz="1200" spc="-85" dirty="0">
                <a:latin typeface="Times New Roman"/>
                <a:cs typeface="Times New Roman"/>
              </a:rPr>
              <a:t> </a:t>
            </a:r>
            <a:r>
              <a:rPr sz="1200" dirty="0">
                <a:latin typeface="Times New Roman"/>
                <a:cs typeface="Times New Roman"/>
              </a:rPr>
              <a:t>APIs</a:t>
            </a:r>
            <a:r>
              <a:rPr sz="1200" spc="-65" dirty="0">
                <a:latin typeface="Times New Roman"/>
                <a:cs typeface="Times New Roman"/>
              </a:rPr>
              <a:t> </a:t>
            </a:r>
            <a:r>
              <a:rPr sz="1200" dirty="0">
                <a:latin typeface="Times New Roman"/>
                <a:cs typeface="Times New Roman"/>
              </a:rPr>
              <a:t>were</a:t>
            </a:r>
            <a:r>
              <a:rPr sz="1200" spc="-25" dirty="0">
                <a:latin typeface="Times New Roman"/>
                <a:cs typeface="Times New Roman"/>
              </a:rPr>
              <a:t> </a:t>
            </a:r>
            <a:r>
              <a:rPr sz="1200" dirty="0">
                <a:latin typeface="Times New Roman"/>
                <a:cs typeface="Times New Roman"/>
              </a:rPr>
              <a:t>developed</a:t>
            </a:r>
            <a:r>
              <a:rPr sz="1200" spc="-2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connect</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frontend</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Firebase</a:t>
            </a:r>
            <a:r>
              <a:rPr sz="1200" spc="-30" dirty="0">
                <a:latin typeface="Times New Roman"/>
                <a:cs typeface="Times New Roman"/>
              </a:rPr>
              <a:t> </a:t>
            </a:r>
            <a:r>
              <a:rPr sz="1200" spc="-10" dirty="0">
                <a:latin typeface="Times New Roman"/>
                <a:cs typeface="Times New Roman"/>
              </a:rPr>
              <a:t>services.</a:t>
            </a:r>
            <a:endParaRPr sz="1200">
              <a:latin typeface="Times New Roman"/>
              <a:cs typeface="Times New Roman"/>
            </a:endParaRPr>
          </a:p>
          <a:p>
            <a:pPr marL="469900" indent="-228600">
              <a:lnSpc>
                <a:spcPct val="100000"/>
              </a:lnSpc>
              <a:spcBef>
                <a:spcPts val="860"/>
              </a:spcBef>
              <a:buSzPct val="83333"/>
              <a:buFont typeface="Symbol"/>
              <a:buChar char=""/>
              <a:tabLst>
                <a:tab pos="469900" algn="l"/>
              </a:tabLst>
            </a:pPr>
            <a:r>
              <a:rPr sz="1200" b="1" dirty="0">
                <a:latin typeface="Times New Roman"/>
                <a:cs typeface="Times New Roman"/>
              </a:rPr>
              <a:t>Database</a:t>
            </a:r>
            <a:r>
              <a:rPr sz="1200" b="1" spc="-20" dirty="0">
                <a:latin typeface="Times New Roman"/>
                <a:cs typeface="Times New Roman"/>
              </a:rPr>
              <a:t> </a:t>
            </a:r>
            <a:r>
              <a:rPr sz="1200" b="1" dirty="0">
                <a:latin typeface="Times New Roman"/>
                <a:cs typeface="Times New Roman"/>
              </a:rPr>
              <a:t>and</a:t>
            </a:r>
            <a:r>
              <a:rPr sz="1200" b="1" spc="-10" dirty="0">
                <a:latin typeface="Times New Roman"/>
                <a:cs typeface="Times New Roman"/>
              </a:rPr>
              <a:t> </a:t>
            </a:r>
            <a:r>
              <a:rPr sz="1200" b="1" dirty="0">
                <a:latin typeface="Times New Roman"/>
                <a:cs typeface="Times New Roman"/>
              </a:rPr>
              <a:t>Cloud</a:t>
            </a:r>
            <a:r>
              <a:rPr sz="1200" b="1" spc="-15" dirty="0">
                <a:latin typeface="Times New Roman"/>
                <a:cs typeface="Times New Roman"/>
              </a:rPr>
              <a:t> </a:t>
            </a:r>
            <a:r>
              <a:rPr sz="1200" b="1" spc="-10" dirty="0">
                <a:latin typeface="Times New Roman"/>
                <a:cs typeface="Times New Roman"/>
              </a:rPr>
              <a:t>Integration:</a:t>
            </a:r>
            <a:endParaRPr sz="1200">
              <a:latin typeface="Times New Roman"/>
              <a:cs typeface="Times New Roman"/>
            </a:endParaRPr>
          </a:p>
          <a:p>
            <a:pPr marL="927100" lvl="1" indent="-228600">
              <a:lnSpc>
                <a:spcPct val="100000"/>
              </a:lnSpc>
              <a:spcBef>
                <a:spcPts val="840"/>
              </a:spcBef>
              <a:buSzPct val="83333"/>
              <a:buFont typeface="Courier New"/>
              <a:buChar char="o"/>
              <a:tabLst>
                <a:tab pos="927100" algn="l"/>
              </a:tabLst>
            </a:pPr>
            <a:r>
              <a:rPr sz="1200" dirty="0">
                <a:latin typeface="Times New Roman"/>
                <a:cs typeface="Times New Roman"/>
              </a:rPr>
              <a:t>Firebase</a:t>
            </a:r>
            <a:r>
              <a:rPr sz="1200" spc="-30"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dirty="0">
                <a:latin typeface="Times New Roman"/>
                <a:cs typeface="Times New Roman"/>
              </a:rPr>
              <a:t>used for</a:t>
            </a:r>
            <a:r>
              <a:rPr sz="1200" spc="-20" dirty="0">
                <a:latin typeface="Times New Roman"/>
                <a:cs typeface="Times New Roman"/>
              </a:rPr>
              <a:t> real-</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database</a:t>
            </a:r>
            <a:r>
              <a:rPr sz="1200" spc="-25" dirty="0">
                <a:latin typeface="Times New Roman"/>
                <a:cs typeface="Times New Roman"/>
              </a:rPr>
              <a:t> </a:t>
            </a:r>
            <a:r>
              <a:rPr sz="1200" spc="-10" dirty="0">
                <a:latin typeface="Times New Roman"/>
                <a:cs typeface="Times New Roman"/>
              </a:rPr>
              <a:t>storage.</a:t>
            </a:r>
            <a:endParaRPr sz="12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12</a:t>
            </a:r>
          </a:p>
        </p:txBody>
      </p:sp>
      <p:sp>
        <p:nvSpPr>
          <p:cNvPr id="2" name="object 2"/>
          <p:cNvSpPr txBox="1"/>
          <p:nvPr/>
        </p:nvSpPr>
        <p:spPr>
          <a:xfrm>
            <a:off x="902004" y="780034"/>
            <a:ext cx="5969000" cy="7958455"/>
          </a:xfrm>
          <a:prstGeom prst="rect">
            <a:avLst/>
          </a:prstGeom>
        </p:spPr>
        <p:txBody>
          <a:bodyPr vert="horz" wrap="square" lIns="0" tIns="119380" rIns="0" bIns="0" rtlCol="0">
            <a:spAutoFit/>
          </a:bodyPr>
          <a:lstStyle/>
          <a:p>
            <a:pPr marL="927100" indent="-228600">
              <a:lnSpc>
                <a:spcPct val="100000"/>
              </a:lnSpc>
              <a:spcBef>
                <a:spcPts val="940"/>
              </a:spcBef>
              <a:buSzPct val="83333"/>
              <a:buFont typeface="Courier New"/>
              <a:buChar char="o"/>
              <a:tabLst>
                <a:tab pos="927100" algn="l"/>
              </a:tabLst>
            </a:pPr>
            <a:r>
              <a:rPr sz="1200" spc="-10" dirty="0">
                <a:latin typeface="Times New Roman"/>
                <a:cs typeface="Times New Roman"/>
              </a:rPr>
              <a:t>Firebase</a:t>
            </a:r>
            <a:r>
              <a:rPr sz="1200" spc="-65" dirty="0">
                <a:latin typeface="Times New Roman"/>
                <a:cs typeface="Times New Roman"/>
              </a:rPr>
              <a:t> </a:t>
            </a:r>
            <a:r>
              <a:rPr sz="1200" spc="-10" dirty="0">
                <a:latin typeface="Times New Roman"/>
                <a:cs typeface="Times New Roman"/>
              </a:rPr>
              <a:t>Authentication</a:t>
            </a:r>
            <a:r>
              <a:rPr sz="1200" spc="-35" dirty="0">
                <a:latin typeface="Times New Roman"/>
                <a:cs typeface="Times New Roman"/>
              </a:rPr>
              <a:t> </a:t>
            </a:r>
            <a:r>
              <a:rPr sz="1200" dirty="0">
                <a:latin typeface="Times New Roman"/>
                <a:cs typeface="Times New Roman"/>
              </a:rPr>
              <a:t>provided</a:t>
            </a:r>
            <a:r>
              <a:rPr sz="1200" spc="-15" dirty="0">
                <a:latin typeface="Times New Roman"/>
                <a:cs typeface="Times New Roman"/>
              </a:rPr>
              <a:t> </a:t>
            </a:r>
            <a:r>
              <a:rPr sz="1200" dirty="0">
                <a:latin typeface="Times New Roman"/>
                <a:cs typeface="Times New Roman"/>
              </a:rPr>
              <a:t>secure</a:t>
            </a:r>
            <a:r>
              <a:rPr sz="1200" spc="5" dirty="0">
                <a:latin typeface="Times New Roman"/>
                <a:cs typeface="Times New Roman"/>
              </a:rPr>
              <a:t> </a:t>
            </a:r>
            <a:r>
              <a:rPr sz="1200" dirty="0">
                <a:latin typeface="Times New Roman"/>
                <a:cs typeface="Times New Roman"/>
              </a:rPr>
              <a:t>login</a:t>
            </a:r>
            <a:r>
              <a:rPr sz="1200" spc="-1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and</a:t>
            </a:r>
            <a:r>
              <a:rPr sz="1200" spc="-10" dirty="0">
                <a:latin typeface="Times New Roman"/>
                <a:cs typeface="Times New Roman"/>
              </a:rPr>
              <a:t> admins.</a:t>
            </a:r>
            <a:endParaRPr sz="1200">
              <a:latin typeface="Times New Roman"/>
              <a:cs typeface="Times New Roman"/>
            </a:endParaRPr>
          </a:p>
          <a:p>
            <a:pPr marL="927100" indent="-228600">
              <a:lnSpc>
                <a:spcPct val="100000"/>
              </a:lnSpc>
              <a:spcBef>
                <a:spcPts val="840"/>
              </a:spcBef>
              <a:buSzPct val="83333"/>
              <a:buFont typeface="Courier New"/>
              <a:buChar char="o"/>
              <a:tabLst>
                <a:tab pos="927100" algn="l"/>
              </a:tabLst>
            </a:pPr>
            <a:r>
              <a:rPr sz="1200" dirty="0">
                <a:latin typeface="Times New Roman"/>
                <a:cs typeface="Times New Roman"/>
              </a:rPr>
              <a:t>Cloud</a:t>
            </a:r>
            <a:r>
              <a:rPr sz="1200" spc="-15" dirty="0">
                <a:latin typeface="Times New Roman"/>
                <a:cs typeface="Times New Roman"/>
              </a:rPr>
              <a:t> </a:t>
            </a:r>
            <a:r>
              <a:rPr sz="1200" dirty="0">
                <a:latin typeface="Times New Roman"/>
                <a:cs typeface="Times New Roman"/>
              </a:rPr>
              <a:t>storage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hosting</a:t>
            </a:r>
            <a:r>
              <a:rPr sz="1200" spc="-10" dirty="0">
                <a:latin typeface="Times New Roman"/>
                <a:cs typeface="Times New Roman"/>
              </a:rPr>
              <a:t> </a:t>
            </a:r>
            <a:r>
              <a:rPr sz="1200" dirty="0">
                <a:latin typeface="Times New Roman"/>
                <a:cs typeface="Times New Roman"/>
              </a:rPr>
              <a:t>ensured</a:t>
            </a:r>
            <a:r>
              <a:rPr sz="1200" spc="-1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spc="-10" dirty="0">
                <a:latin typeface="Times New Roman"/>
                <a:cs typeface="Times New Roman"/>
              </a:rPr>
              <a:t>persistence</a:t>
            </a:r>
            <a:r>
              <a:rPr sz="1200" dirty="0">
                <a:latin typeface="Times New Roman"/>
                <a:cs typeface="Times New Roman"/>
              </a:rPr>
              <a:t> and</a:t>
            </a:r>
            <a:r>
              <a:rPr sz="1200" spc="-10" dirty="0">
                <a:latin typeface="Times New Roman"/>
                <a:cs typeface="Times New Roman"/>
              </a:rPr>
              <a:t> application</a:t>
            </a:r>
            <a:r>
              <a:rPr sz="1200" spc="-35" dirty="0">
                <a:latin typeface="Times New Roman"/>
                <a:cs typeface="Times New Roman"/>
              </a:rPr>
              <a:t> </a:t>
            </a:r>
            <a:r>
              <a:rPr sz="1200" spc="-10" dirty="0">
                <a:latin typeface="Times New Roman"/>
                <a:cs typeface="Times New Roman"/>
              </a:rPr>
              <a:t>availability.</a:t>
            </a:r>
            <a:endParaRPr sz="1200">
              <a:latin typeface="Times New Roman"/>
              <a:cs typeface="Times New Roman"/>
            </a:endParaRPr>
          </a:p>
          <a:p>
            <a:pPr marL="469900" indent="-228600">
              <a:lnSpc>
                <a:spcPct val="100000"/>
              </a:lnSpc>
              <a:spcBef>
                <a:spcPts val="890"/>
              </a:spcBef>
              <a:buSzPct val="83333"/>
              <a:buFont typeface="Symbol"/>
              <a:buChar char=""/>
              <a:tabLst>
                <a:tab pos="469900" algn="l"/>
              </a:tabLst>
            </a:pPr>
            <a:r>
              <a:rPr sz="1200" b="1" spc="-10" dirty="0">
                <a:latin typeface="Times New Roman"/>
                <a:cs typeface="Times New Roman"/>
              </a:rPr>
              <a:t>Features Implemented:</a:t>
            </a:r>
            <a:endParaRPr sz="1200">
              <a:latin typeface="Times New Roman"/>
              <a:cs typeface="Times New Roman"/>
            </a:endParaRPr>
          </a:p>
          <a:p>
            <a:pPr marL="927100" lvl="1" indent="-228600">
              <a:lnSpc>
                <a:spcPct val="100000"/>
              </a:lnSpc>
              <a:spcBef>
                <a:spcPts val="815"/>
              </a:spcBef>
              <a:buSzPct val="83333"/>
              <a:buFont typeface="Courier New"/>
              <a:buChar char="o"/>
              <a:tabLst>
                <a:tab pos="927100" algn="l"/>
              </a:tabLst>
            </a:pPr>
            <a:r>
              <a:rPr sz="1200" dirty="0">
                <a:latin typeface="Times New Roman"/>
                <a:cs typeface="Times New Roman"/>
              </a:rPr>
              <a:t>User</a:t>
            </a:r>
            <a:r>
              <a:rPr sz="1200" spc="5" dirty="0">
                <a:latin typeface="Times New Roman"/>
                <a:cs typeface="Times New Roman"/>
              </a:rPr>
              <a:t> </a:t>
            </a:r>
            <a:r>
              <a:rPr sz="1200" spc="-10" dirty="0">
                <a:latin typeface="Times New Roman"/>
                <a:cs typeface="Times New Roman"/>
              </a:rPr>
              <a:t>registration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login.</a:t>
            </a:r>
            <a:endParaRPr sz="1200">
              <a:latin typeface="Times New Roman"/>
              <a:cs typeface="Times New Roman"/>
            </a:endParaRPr>
          </a:p>
          <a:p>
            <a:pPr marL="927100" lvl="1" indent="-228600">
              <a:lnSpc>
                <a:spcPct val="100000"/>
              </a:lnSpc>
              <a:spcBef>
                <a:spcPts val="865"/>
              </a:spcBef>
              <a:buSzPct val="83333"/>
              <a:buFont typeface="Courier New"/>
              <a:buChar char="o"/>
              <a:tabLst>
                <a:tab pos="927100" algn="l"/>
              </a:tabLst>
            </a:pPr>
            <a:r>
              <a:rPr sz="1200" spc="-20" dirty="0">
                <a:latin typeface="Times New Roman"/>
                <a:cs typeface="Times New Roman"/>
              </a:rPr>
              <a:t>Vehicle</a:t>
            </a:r>
            <a:r>
              <a:rPr sz="1200" spc="-10" dirty="0">
                <a:latin typeface="Times New Roman"/>
                <a:cs typeface="Times New Roman"/>
              </a:rPr>
              <a:t> listing</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dirty="0">
                <a:latin typeface="Times New Roman"/>
                <a:cs typeface="Times New Roman"/>
              </a:rPr>
              <a:t>search</a:t>
            </a:r>
            <a:r>
              <a:rPr sz="1200" spc="-4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spc="-10" dirty="0">
                <a:latin typeface="Times New Roman"/>
                <a:cs typeface="Times New Roman"/>
              </a:rPr>
              <a:t>functionality.</a:t>
            </a:r>
            <a:endParaRPr sz="1200">
              <a:latin typeface="Times New Roman"/>
              <a:cs typeface="Times New Roman"/>
            </a:endParaRPr>
          </a:p>
          <a:p>
            <a:pPr marL="927100" lvl="1" indent="-228600">
              <a:lnSpc>
                <a:spcPct val="100000"/>
              </a:lnSpc>
              <a:spcBef>
                <a:spcPts val="840"/>
              </a:spcBef>
              <a:buSzPct val="83333"/>
              <a:buFont typeface="Courier New"/>
              <a:buChar char="o"/>
              <a:tabLst>
                <a:tab pos="927100" algn="l"/>
              </a:tabLst>
            </a:pPr>
            <a:r>
              <a:rPr sz="1200" dirty="0">
                <a:latin typeface="Times New Roman"/>
                <a:cs typeface="Times New Roman"/>
              </a:rPr>
              <a:t>Booking</a:t>
            </a:r>
            <a:r>
              <a:rPr sz="1200" spc="-5" dirty="0">
                <a:latin typeface="Times New Roman"/>
                <a:cs typeface="Times New Roman"/>
              </a:rPr>
              <a:t> </a:t>
            </a:r>
            <a:r>
              <a:rPr sz="1200" spc="-10" dirty="0">
                <a:latin typeface="Times New Roman"/>
                <a:cs typeface="Times New Roman"/>
              </a:rPr>
              <a:t>management</a:t>
            </a:r>
            <a:r>
              <a:rPr sz="1200" spc="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20"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927100" lvl="1" indent="-228600">
              <a:lnSpc>
                <a:spcPct val="100000"/>
              </a:lnSpc>
              <a:spcBef>
                <a:spcPts val="840"/>
              </a:spcBef>
              <a:buSzPct val="83333"/>
              <a:buFont typeface="Courier New"/>
              <a:buChar char="o"/>
              <a:tabLst>
                <a:tab pos="927100" algn="l"/>
              </a:tabLst>
            </a:pPr>
            <a:r>
              <a:rPr sz="1200" dirty="0">
                <a:latin typeface="Times New Roman"/>
                <a:cs typeface="Times New Roman"/>
              </a:rPr>
              <a:t>Admin</a:t>
            </a:r>
            <a:r>
              <a:rPr sz="1200" spc="-40" dirty="0">
                <a:latin typeface="Times New Roman"/>
                <a:cs typeface="Times New Roman"/>
              </a:rPr>
              <a:t> </a:t>
            </a:r>
            <a:r>
              <a:rPr sz="1200" dirty="0">
                <a:latin typeface="Times New Roman"/>
                <a:cs typeface="Times New Roman"/>
              </a:rPr>
              <a:t>dashboard</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vehicle</a:t>
            </a:r>
            <a:r>
              <a:rPr sz="1200" spc="-20" dirty="0">
                <a:latin typeface="Times New Roman"/>
                <a:cs typeface="Times New Roman"/>
              </a:rPr>
              <a:t> </a:t>
            </a:r>
            <a:r>
              <a:rPr sz="1200" dirty="0">
                <a:latin typeface="Times New Roman"/>
                <a:cs typeface="Times New Roman"/>
              </a:rPr>
              <a:t>and booking</a:t>
            </a:r>
            <a:r>
              <a:rPr sz="1200" spc="5" dirty="0">
                <a:latin typeface="Times New Roman"/>
                <a:cs typeface="Times New Roman"/>
              </a:rPr>
              <a:t> </a:t>
            </a:r>
            <a:r>
              <a:rPr sz="1200" spc="-10" dirty="0">
                <a:latin typeface="Times New Roman"/>
                <a:cs typeface="Times New Roman"/>
              </a:rPr>
              <a:t>management.</a:t>
            </a:r>
            <a:endParaRPr sz="1200">
              <a:latin typeface="Times New Roman"/>
              <a:cs typeface="Times New Roman"/>
            </a:endParaRPr>
          </a:p>
          <a:p>
            <a:pPr marL="927100" lvl="1" indent="-228600">
              <a:lnSpc>
                <a:spcPct val="100000"/>
              </a:lnSpc>
              <a:spcBef>
                <a:spcPts val="865"/>
              </a:spcBef>
              <a:buSzPct val="83333"/>
              <a:buFont typeface="Courier New"/>
              <a:buChar char="o"/>
              <a:tabLst>
                <a:tab pos="927100" algn="l"/>
              </a:tabLst>
            </a:pPr>
            <a:r>
              <a:rPr sz="1200" dirty="0">
                <a:latin typeface="Times New Roman"/>
                <a:cs typeface="Times New Roman"/>
              </a:rPr>
              <a:t>Form</a:t>
            </a:r>
            <a:r>
              <a:rPr sz="1200" spc="-60" dirty="0">
                <a:latin typeface="Times New Roman"/>
                <a:cs typeface="Times New Roman"/>
              </a:rPr>
              <a:t> </a:t>
            </a:r>
            <a:r>
              <a:rPr sz="120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error</a:t>
            </a:r>
            <a:r>
              <a:rPr sz="1200" spc="-50" dirty="0">
                <a:latin typeface="Times New Roman"/>
                <a:cs typeface="Times New Roman"/>
              </a:rPr>
              <a:t> </a:t>
            </a:r>
            <a:r>
              <a:rPr sz="1200" dirty="0">
                <a:latin typeface="Times New Roman"/>
                <a:cs typeface="Times New Roman"/>
              </a:rPr>
              <a:t>handling,</a:t>
            </a:r>
            <a:r>
              <a:rPr sz="1200" spc="-2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responsive</a:t>
            </a:r>
            <a:r>
              <a:rPr sz="1200" spc="-40" dirty="0">
                <a:latin typeface="Times New Roman"/>
                <a:cs typeface="Times New Roman"/>
              </a:rPr>
              <a:t> </a:t>
            </a:r>
            <a:r>
              <a:rPr sz="1200" spc="-10" dirty="0">
                <a:latin typeface="Times New Roman"/>
                <a:cs typeface="Times New Roman"/>
              </a:rPr>
              <a:t>design.</a:t>
            </a:r>
            <a:endParaRPr sz="1200">
              <a:latin typeface="Times New Roman"/>
              <a:cs typeface="Times New Roman"/>
            </a:endParaRPr>
          </a:p>
          <a:p>
            <a:pPr marL="12700" marR="12065" algn="just">
              <a:lnSpc>
                <a:spcPct val="103299"/>
              </a:lnSpc>
              <a:spcBef>
                <a:spcPts val="795"/>
              </a:spcBef>
            </a:pPr>
            <a:r>
              <a:rPr sz="1200" dirty="0">
                <a:latin typeface="Times New Roman"/>
                <a:cs typeface="Times New Roman"/>
              </a:rPr>
              <a:t>The</a:t>
            </a:r>
            <a:r>
              <a:rPr sz="1200" spc="200" dirty="0">
                <a:latin typeface="Times New Roman"/>
                <a:cs typeface="Times New Roman"/>
              </a:rPr>
              <a:t> </a:t>
            </a:r>
            <a:r>
              <a:rPr sz="1200" dirty="0">
                <a:latin typeface="Times New Roman"/>
                <a:cs typeface="Times New Roman"/>
              </a:rPr>
              <a:t>system</a:t>
            </a:r>
            <a:r>
              <a:rPr sz="1200" spc="160" dirty="0">
                <a:latin typeface="Times New Roman"/>
                <a:cs typeface="Times New Roman"/>
              </a:rPr>
              <a:t> </a:t>
            </a:r>
            <a:r>
              <a:rPr sz="1200" dirty="0">
                <a:latin typeface="Times New Roman"/>
                <a:cs typeface="Times New Roman"/>
              </a:rPr>
              <a:t>was</a:t>
            </a:r>
            <a:r>
              <a:rPr sz="1200" spc="195" dirty="0">
                <a:latin typeface="Times New Roman"/>
                <a:cs typeface="Times New Roman"/>
              </a:rPr>
              <a:t> </a:t>
            </a:r>
            <a:r>
              <a:rPr sz="1200" dirty="0">
                <a:latin typeface="Times New Roman"/>
                <a:cs typeface="Times New Roman"/>
              </a:rPr>
              <a:t>developed</a:t>
            </a:r>
            <a:r>
              <a:rPr sz="1200" spc="240" dirty="0">
                <a:latin typeface="Times New Roman"/>
                <a:cs typeface="Times New Roman"/>
              </a:rPr>
              <a:t> </a:t>
            </a:r>
            <a:r>
              <a:rPr sz="1200" dirty="0">
                <a:latin typeface="Times New Roman"/>
                <a:cs typeface="Times New Roman"/>
              </a:rPr>
              <a:t>following</a:t>
            </a:r>
            <a:r>
              <a:rPr sz="1200" spc="220" dirty="0">
                <a:latin typeface="Times New Roman"/>
                <a:cs typeface="Times New Roman"/>
              </a:rPr>
              <a:t> </a:t>
            </a:r>
            <a:r>
              <a:rPr sz="1200" dirty="0">
                <a:latin typeface="Times New Roman"/>
                <a:cs typeface="Times New Roman"/>
              </a:rPr>
              <a:t>best</a:t>
            </a:r>
            <a:r>
              <a:rPr sz="1200" spc="229" dirty="0">
                <a:latin typeface="Times New Roman"/>
                <a:cs typeface="Times New Roman"/>
              </a:rPr>
              <a:t> </a:t>
            </a:r>
            <a:r>
              <a:rPr sz="1200" dirty="0">
                <a:latin typeface="Times New Roman"/>
                <a:cs typeface="Times New Roman"/>
              </a:rPr>
              <a:t>practices</a:t>
            </a:r>
            <a:r>
              <a:rPr sz="1200" spc="215" dirty="0">
                <a:latin typeface="Times New Roman"/>
                <a:cs typeface="Times New Roman"/>
              </a:rPr>
              <a:t> </a:t>
            </a:r>
            <a:r>
              <a:rPr sz="1200" dirty="0">
                <a:latin typeface="Times New Roman"/>
                <a:cs typeface="Times New Roman"/>
              </a:rPr>
              <a:t>in</a:t>
            </a:r>
            <a:r>
              <a:rPr sz="1200" spc="180" dirty="0">
                <a:latin typeface="Times New Roman"/>
                <a:cs typeface="Times New Roman"/>
              </a:rPr>
              <a:t> </a:t>
            </a:r>
            <a:r>
              <a:rPr sz="1200" dirty="0">
                <a:latin typeface="Times New Roman"/>
                <a:cs typeface="Times New Roman"/>
              </a:rPr>
              <a:t>coding,</a:t>
            </a:r>
            <a:r>
              <a:rPr sz="1200" spc="215" dirty="0">
                <a:latin typeface="Times New Roman"/>
                <a:cs typeface="Times New Roman"/>
              </a:rPr>
              <a:t> </a:t>
            </a:r>
            <a:r>
              <a:rPr sz="1200" dirty="0">
                <a:latin typeface="Times New Roman"/>
                <a:cs typeface="Times New Roman"/>
              </a:rPr>
              <a:t>version</a:t>
            </a:r>
            <a:r>
              <a:rPr sz="1200" spc="180" dirty="0">
                <a:latin typeface="Times New Roman"/>
                <a:cs typeface="Times New Roman"/>
              </a:rPr>
              <a:t> </a:t>
            </a:r>
            <a:r>
              <a:rPr sz="1200" dirty="0">
                <a:latin typeface="Times New Roman"/>
                <a:cs typeface="Times New Roman"/>
              </a:rPr>
              <a:t>control,</a:t>
            </a:r>
            <a:r>
              <a:rPr sz="1200" spc="215" dirty="0">
                <a:latin typeface="Times New Roman"/>
                <a:cs typeface="Times New Roman"/>
              </a:rPr>
              <a:t> </a:t>
            </a:r>
            <a:r>
              <a:rPr sz="1200" dirty="0">
                <a:latin typeface="Times New Roman"/>
                <a:cs typeface="Times New Roman"/>
              </a:rPr>
              <a:t>and</a:t>
            </a:r>
            <a:r>
              <a:rPr sz="1200" spc="225" dirty="0">
                <a:latin typeface="Times New Roman"/>
                <a:cs typeface="Times New Roman"/>
              </a:rPr>
              <a:t> </a:t>
            </a:r>
            <a:r>
              <a:rPr sz="1200" spc="-10" dirty="0">
                <a:latin typeface="Times New Roman"/>
                <a:cs typeface="Times New Roman"/>
              </a:rPr>
              <a:t>modular programming</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ensure</a:t>
            </a:r>
            <a:r>
              <a:rPr sz="1200" spc="25" dirty="0">
                <a:latin typeface="Times New Roman"/>
                <a:cs typeface="Times New Roman"/>
              </a:rPr>
              <a:t> </a:t>
            </a:r>
            <a:r>
              <a:rPr sz="1200" spc="-10" dirty="0">
                <a:latin typeface="Times New Roman"/>
                <a:cs typeface="Times New Roman"/>
              </a:rPr>
              <a:t>maintainability</a:t>
            </a:r>
            <a:r>
              <a:rPr sz="1200" spc="-4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scalability.</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30"/>
              </a:spcBef>
            </a:pPr>
            <a:endParaRPr sz="1200">
              <a:latin typeface="Times New Roman"/>
              <a:cs typeface="Times New Roman"/>
            </a:endParaRPr>
          </a:p>
          <a:p>
            <a:pPr marL="12700" algn="just">
              <a:lnSpc>
                <a:spcPct val="100000"/>
              </a:lnSpc>
            </a:pPr>
            <a:r>
              <a:rPr sz="1400" b="1" dirty="0">
                <a:latin typeface="Times New Roman"/>
                <a:cs typeface="Times New Roman"/>
              </a:rPr>
              <a:t>4.6 </a:t>
            </a:r>
            <a:r>
              <a:rPr sz="1400" b="1" spc="-10" dirty="0">
                <a:latin typeface="Times New Roman"/>
                <a:cs typeface="Times New Roman"/>
              </a:rPr>
              <a:t>System</a:t>
            </a:r>
            <a:r>
              <a:rPr sz="1400" b="1" spc="-30" dirty="0">
                <a:latin typeface="Times New Roman"/>
                <a:cs typeface="Times New Roman"/>
              </a:rPr>
              <a:t> </a:t>
            </a:r>
            <a:r>
              <a:rPr sz="1400" b="1" spc="-10" dirty="0">
                <a:latin typeface="Times New Roman"/>
                <a:cs typeface="Times New Roman"/>
              </a:rPr>
              <a:t>Testing/Maintenance</a:t>
            </a:r>
            <a:endParaRPr sz="1400">
              <a:latin typeface="Times New Roman"/>
              <a:cs typeface="Times New Roman"/>
            </a:endParaRPr>
          </a:p>
          <a:p>
            <a:pPr marL="12700">
              <a:lnSpc>
                <a:spcPct val="100000"/>
              </a:lnSpc>
              <a:spcBef>
                <a:spcPts val="844"/>
              </a:spcBef>
            </a:pPr>
            <a:r>
              <a:rPr sz="1200" b="1" spc="-10" dirty="0">
                <a:latin typeface="Times New Roman"/>
                <a:cs typeface="Times New Roman"/>
              </a:rPr>
              <a:t>Testing:</a:t>
            </a:r>
            <a:endParaRPr sz="1200">
              <a:latin typeface="Times New Roman"/>
              <a:cs typeface="Times New Roman"/>
            </a:endParaRPr>
          </a:p>
          <a:p>
            <a:pPr marL="12700">
              <a:lnSpc>
                <a:spcPct val="100000"/>
              </a:lnSpc>
              <a:spcBef>
                <a:spcPts val="25"/>
              </a:spcBef>
            </a:pP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65" dirty="0">
                <a:latin typeface="Times New Roman"/>
                <a:cs typeface="Times New Roman"/>
              </a:rPr>
              <a:t> </a:t>
            </a:r>
            <a:r>
              <a:rPr sz="1200" dirty="0">
                <a:latin typeface="Times New Roman"/>
                <a:cs typeface="Times New Roman"/>
              </a:rPr>
              <a:t>underwent </a:t>
            </a:r>
            <a:r>
              <a:rPr sz="1200" spc="-10" dirty="0">
                <a:latin typeface="Times New Roman"/>
                <a:cs typeface="Times New Roman"/>
              </a:rPr>
              <a:t>multiple levels</a:t>
            </a:r>
            <a:r>
              <a:rPr sz="1200" spc="-35" dirty="0">
                <a:latin typeface="Times New Roman"/>
                <a:cs typeface="Times New Roman"/>
              </a:rPr>
              <a:t> </a:t>
            </a:r>
            <a:r>
              <a:rPr sz="1200" dirty="0">
                <a:latin typeface="Times New Roman"/>
                <a:cs typeface="Times New Roman"/>
              </a:rPr>
              <a:t>of</a:t>
            </a:r>
            <a:r>
              <a:rPr sz="1200" spc="-60" dirty="0">
                <a:latin typeface="Times New Roman"/>
                <a:cs typeface="Times New Roman"/>
              </a:rPr>
              <a:t> </a:t>
            </a:r>
            <a:r>
              <a:rPr sz="1200" dirty="0">
                <a:latin typeface="Times New Roman"/>
                <a:cs typeface="Times New Roman"/>
              </a:rPr>
              <a:t>testing</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ensure</a:t>
            </a:r>
            <a:r>
              <a:rPr sz="1200" spc="-30" dirty="0">
                <a:latin typeface="Times New Roman"/>
                <a:cs typeface="Times New Roman"/>
              </a:rPr>
              <a:t> </a:t>
            </a:r>
            <a:r>
              <a:rPr sz="1200" spc="-10" dirty="0">
                <a:latin typeface="Times New Roman"/>
                <a:cs typeface="Times New Roman"/>
              </a:rPr>
              <a:t>quality,</a:t>
            </a:r>
            <a:r>
              <a:rPr sz="1200" spc="-15" dirty="0">
                <a:latin typeface="Times New Roman"/>
                <a:cs typeface="Times New Roman"/>
              </a:rPr>
              <a:t> </a:t>
            </a:r>
            <a:r>
              <a:rPr sz="1200" spc="-10" dirty="0">
                <a:latin typeface="Times New Roman"/>
                <a:cs typeface="Times New Roman"/>
              </a:rPr>
              <a:t>reliability,</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functionality:</a:t>
            </a:r>
            <a:endParaRPr sz="1200">
              <a:latin typeface="Times New Roman"/>
              <a:cs typeface="Times New Roman"/>
            </a:endParaRPr>
          </a:p>
          <a:p>
            <a:pPr marL="469900" indent="-228600">
              <a:lnSpc>
                <a:spcPct val="100000"/>
              </a:lnSpc>
              <a:spcBef>
                <a:spcPts val="845"/>
              </a:spcBef>
              <a:buFont typeface="Times New Roman"/>
              <a:buAutoNum type="arabicPeriod"/>
              <a:tabLst>
                <a:tab pos="469900" algn="l"/>
              </a:tabLst>
            </a:pPr>
            <a:r>
              <a:rPr sz="1200" b="1" dirty="0">
                <a:latin typeface="Times New Roman"/>
                <a:cs typeface="Times New Roman"/>
              </a:rPr>
              <a:t>Unit</a:t>
            </a:r>
            <a:r>
              <a:rPr sz="1200" b="1" spc="-40" dirty="0">
                <a:latin typeface="Times New Roman"/>
                <a:cs typeface="Times New Roman"/>
              </a:rPr>
              <a:t> </a:t>
            </a:r>
            <a:r>
              <a:rPr sz="1200" b="1" spc="-10" dirty="0">
                <a:latin typeface="Times New Roman"/>
                <a:cs typeface="Times New Roman"/>
              </a:rPr>
              <a:t>Testing:</a:t>
            </a:r>
            <a:r>
              <a:rPr sz="1200" b="1" spc="-15" dirty="0">
                <a:latin typeface="Times New Roman"/>
                <a:cs typeface="Times New Roman"/>
              </a:rPr>
              <a:t> </a:t>
            </a:r>
            <a:r>
              <a:rPr sz="1200" spc="-10" dirty="0">
                <a:latin typeface="Times New Roman"/>
                <a:cs typeface="Times New Roman"/>
              </a:rPr>
              <a:t>Individual</a:t>
            </a:r>
            <a:r>
              <a:rPr sz="1200" spc="-50" dirty="0">
                <a:latin typeface="Times New Roman"/>
                <a:cs typeface="Times New Roman"/>
              </a:rPr>
              <a:t> </a:t>
            </a:r>
            <a:r>
              <a:rPr sz="1200" dirty="0">
                <a:latin typeface="Times New Roman"/>
                <a:cs typeface="Times New Roman"/>
              </a:rPr>
              <a:t>modules,</a:t>
            </a:r>
            <a:r>
              <a:rPr sz="1200" spc="-20" dirty="0">
                <a:latin typeface="Times New Roman"/>
                <a:cs typeface="Times New Roman"/>
              </a:rPr>
              <a:t> </a:t>
            </a:r>
            <a:r>
              <a:rPr sz="1200" dirty="0">
                <a:latin typeface="Times New Roman"/>
                <a:cs typeface="Times New Roman"/>
              </a:rPr>
              <a:t>components,</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functions</a:t>
            </a:r>
            <a:r>
              <a:rPr sz="1200" spc="-40" dirty="0">
                <a:latin typeface="Times New Roman"/>
                <a:cs typeface="Times New Roman"/>
              </a:rPr>
              <a:t> </a:t>
            </a:r>
            <a:r>
              <a:rPr sz="1200" dirty="0">
                <a:latin typeface="Times New Roman"/>
                <a:cs typeface="Times New Roman"/>
              </a:rPr>
              <a:t>were</a:t>
            </a:r>
            <a:r>
              <a:rPr sz="1200" spc="-30" dirty="0">
                <a:latin typeface="Times New Roman"/>
                <a:cs typeface="Times New Roman"/>
              </a:rPr>
              <a:t> </a:t>
            </a:r>
            <a:r>
              <a:rPr sz="1200" dirty="0">
                <a:latin typeface="Times New Roman"/>
                <a:cs typeface="Times New Roman"/>
              </a:rPr>
              <a:t>tested</a:t>
            </a:r>
            <a:r>
              <a:rPr sz="1200" spc="-25" dirty="0">
                <a:latin typeface="Times New Roman"/>
                <a:cs typeface="Times New Roman"/>
              </a:rPr>
              <a:t> </a:t>
            </a:r>
            <a:r>
              <a:rPr sz="1200" spc="-10" dirty="0">
                <a:latin typeface="Times New Roman"/>
                <a:cs typeface="Times New Roman"/>
              </a:rPr>
              <a:t>separately.</a:t>
            </a:r>
            <a:endParaRPr sz="1200">
              <a:latin typeface="Times New Roman"/>
              <a:cs typeface="Times New Roman"/>
            </a:endParaRPr>
          </a:p>
          <a:p>
            <a:pPr marL="469900" marR="9525" indent="-229235">
              <a:lnSpc>
                <a:spcPct val="103299"/>
              </a:lnSpc>
              <a:spcBef>
                <a:spcPts val="790"/>
              </a:spcBef>
              <a:buFont typeface="Times New Roman"/>
              <a:buAutoNum type="arabicPeriod"/>
              <a:tabLst>
                <a:tab pos="469900" algn="l"/>
              </a:tabLst>
            </a:pPr>
            <a:r>
              <a:rPr sz="1200" b="1" dirty="0">
                <a:latin typeface="Times New Roman"/>
                <a:cs typeface="Times New Roman"/>
              </a:rPr>
              <a:t>Integration</a:t>
            </a:r>
            <a:r>
              <a:rPr sz="1200" b="1" spc="45" dirty="0">
                <a:latin typeface="Times New Roman"/>
                <a:cs typeface="Times New Roman"/>
              </a:rPr>
              <a:t> </a:t>
            </a:r>
            <a:r>
              <a:rPr sz="1200" b="1" dirty="0">
                <a:latin typeface="Times New Roman"/>
                <a:cs typeface="Times New Roman"/>
              </a:rPr>
              <a:t>Testing:</a:t>
            </a:r>
            <a:r>
              <a:rPr sz="1200" b="1" spc="100" dirty="0">
                <a:latin typeface="Times New Roman"/>
                <a:cs typeface="Times New Roman"/>
              </a:rPr>
              <a:t> </a:t>
            </a:r>
            <a:r>
              <a:rPr sz="1200" dirty="0">
                <a:latin typeface="Times New Roman"/>
                <a:cs typeface="Times New Roman"/>
              </a:rPr>
              <a:t>Interaction</a:t>
            </a:r>
            <a:r>
              <a:rPr sz="1200" spc="60" dirty="0">
                <a:latin typeface="Times New Roman"/>
                <a:cs typeface="Times New Roman"/>
              </a:rPr>
              <a:t> </a:t>
            </a:r>
            <a:r>
              <a:rPr sz="1200" dirty="0">
                <a:latin typeface="Times New Roman"/>
                <a:cs typeface="Times New Roman"/>
              </a:rPr>
              <a:t>between</a:t>
            </a:r>
            <a:r>
              <a:rPr sz="1200" spc="80" dirty="0">
                <a:latin typeface="Times New Roman"/>
                <a:cs typeface="Times New Roman"/>
              </a:rPr>
              <a:t> </a:t>
            </a:r>
            <a:r>
              <a:rPr sz="1200" dirty="0">
                <a:latin typeface="Times New Roman"/>
                <a:cs typeface="Times New Roman"/>
              </a:rPr>
              <a:t>frontend,</a:t>
            </a:r>
            <a:r>
              <a:rPr sz="1200" spc="95" dirty="0">
                <a:latin typeface="Times New Roman"/>
                <a:cs typeface="Times New Roman"/>
              </a:rPr>
              <a:t> </a:t>
            </a:r>
            <a:r>
              <a:rPr sz="1200" dirty="0">
                <a:latin typeface="Times New Roman"/>
                <a:cs typeface="Times New Roman"/>
              </a:rPr>
              <a:t>backend,</a:t>
            </a:r>
            <a:r>
              <a:rPr sz="1200" spc="90" dirty="0">
                <a:latin typeface="Times New Roman"/>
                <a:cs typeface="Times New Roman"/>
              </a:rPr>
              <a:t> </a:t>
            </a:r>
            <a:r>
              <a:rPr sz="1200" dirty="0">
                <a:latin typeface="Times New Roman"/>
                <a:cs typeface="Times New Roman"/>
              </a:rPr>
              <a:t>and</a:t>
            </a:r>
            <a:r>
              <a:rPr sz="1200" spc="80" dirty="0">
                <a:latin typeface="Times New Roman"/>
                <a:cs typeface="Times New Roman"/>
              </a:rPr>
              <a:t> </a:t>
            </a:r>
            <a:r>
              <a:rPr sz="1200" dirty="0">
                <a:latin typeface="Times New Roman"/>
                <a:cs typeface="Times New Roman"/>
              </a:rPr>
              <a:t>Firebase</a:t>
            </a:r>
            <a:r>
              <a:rPr sz="1200" spc="80" dirty="0">
                <a:latin typeface="Times New Roman"/>
                <a:cs typeface="Times New Roman"/>
              </a:rPr>
              <a:t> </a:t>
            </a:r>
            <a:r>
              <a:rPr sz="1200" dirty="0">
                <a:latin typeface="Times New Roman"/>
                <a:cs typeface="Times New Roman"/>
              </a:rPr>
              <a:t>services</a:t>
            </a:r>
            <a:r>
              <a:rPr sz="1200" spc="75" dirty="0">
                <a:latin typeface="Times New Roman"/>
                <a:cs typeface="Times New Roman"/>
              </a:rPr>
              <a:t> </a:t>
            </a:r>
            <a:r>
              <a:rPr sz="1200" spc="-25" dirty="0">
                <a:latin typeface="Times New Roman"/>
                <a:cs typeface="Times New Roman"/>
              </a:rPr>
              <a:t>was </a:t>
            </a:r>
            <a:r>
              <a:rPr sz="1200" spc="-10" dirty="0">
                <a:latin typeface="Times New Roman"/>
                <a:cs typeface="Times New Roman"/>
              </a:rPr>
              <a:t>verified.</a:t>
            </a:r>
            <a:endParaRPr sz="1200">
              <a:latin typeface="Times New Roman"/>
              <a:cs typeface="Times New Roman"/>
            </a:endParaRPr>
          </a:p>
          <a:p>
            <a:pPr marL="469900" marR="5080" indent="-229235">
              <a:lnSpc>
                <a:spcPct val="103499"/>
              </a:lnSpc>
              <a:spcBef>
                <a:spcPts val="815"/>
              </a:spcBef>
              <a:buFont typeface="Times New Roman"/>
              <a:buAutoNum type="arabicPeriod"/>
              <a:tabLst>
                <a:tab pos="469900" algn="l"/>
                <a:tab pos="1069975" algn="l"/>
                <a:tab pos="1734820" algn="l"/>
                <a:tab pos="2468880" algn="l"/>
                <a:tab pos="3032125" algn="l"/>
                <a:tab pos="3979545" algn="l"/>
                <a:tab pos="4692015" algn="l"/>
                <a:tab pos="5335905" algn="l"/>
              </a:tabLst>
            </a:pPr>
            <a:r>
              <a:rPr sz="1200" b="1" spc="-10" dirty="0">
                <a:latin typeface="Times New Roman"/>
                <a:cs typeface="Times New Roman"/>
              </a:rPr>
              <a:t>System</a:t>
            </a:r>
            <a:r>
              <a:rPr sz="1200" b="1" dirty="0">
                <a:latin typeface="Times New Roman"/>
                <a:cs typeface="Times New Roman"/>
              </a:rPr>
              <a:t>	</a:t>
            </a:r>
            <a:r>
              <a:rPr sz="1200" b="1" spc="-10" dirty="0">
                <a:latin typeface="Times New Roman"/>
                <a:cs typeface="Times New Roman"/>
              </a:rPr>
              <a:t>Testing:</a:t>
            </a:r>
            <a:r>
              <a:rPr sz="1200" b="1" dirty="0">
                <a:latin typeface="Times New Roman"/>
                <a:cs typeface="Times New Roman"/>
              </a:rPr>
              <a:t>	</a:t>
            </a:r>
            <a:r>
              <a:rPr sz="1200" spc="-10" dirty="0">
                <a:latin typeface="Times New Roman"/>
                <a:cs typeface="Times New Roman"/>
              </a:rPr>
              <a:t>Complete</a:t>
            </a:r>
            <a:r>
              <a:rPr sz="1200" dirty="0">
                <a:latin typeface="Times New Roman"/>
                <a:cs typeface="Times New Roman"/>
              </a:rPr>
              <a:t>	</a:t>
            </a:r>
            <a:r>
              <a:rPr sz="1200" spc="-10" dirty="0">
                <a:latin typeface="Times New Roman"/>
                <a:cs typeface="Times New Roman"/>
              </a:rPr>
              <a:t>system</a:t>
            </a:r>
            <a:r>
              <a:rPr sz="1200" dirty="0">
                <a:latin typeface="Times New Roman"/>
                <a:cs typeface="Times New Roman"/>
              </a:rPr>
              <a:t>	</a:t>
            </a:r>
            <a:r>
              <a:rPr sz="1200" spc="-10" dirty="0">
                <a:latin typeface="Times New Roman"/>
                <a:cs typeface="Times New Roman"/>
              </a:rPr>
              <a:t>functionality,</a:t>
            </a:r>
            <a:r>
              <a:rPr sz="1200" dirty="0">
                <a:latin typeface="Times New Roman"/>
                <a:cs typeface="Times New Roman"/>
              </a:rPr>
              <a:t>	</a:t>
            </a:r>
            <a:r>
              <a:rPr sz="1200" spc="-10" dirty="0">
                <a:latin typeface="Times New Roman"/>
                <a:cs typeface="Times New Roman"/>
              </a:rPr>
              <a:t>including</a:t>
            </a:r>
            <a:r>
              <a:rPr sz="1200" dirty="0">
                <a:latin typeface="Times New Roman"/>
                <a:cs typeface="Times New Roman"/>
              </a:rPr>
              <a:t>	</a:t>
            </a:r>
            <a:r>
              <a:rPr sz="1200" spc="-10" dirty="0">
                <a:latin typeface="Times New Roman"/>
                <a:cs typeface="Times New Roman"/>
              </a:rPr>
              <a:t>booking</a:t>
            </a:r>
            <a:r>
              <a:rPr sz="1200" dirty="0">
                <a:latin typeface="Times New Roman"/>
                <a:cs typeface="Times New Roman"/>
              </a:rPr>
              <a:t>	</a:t>
            </a:r>
            <a:r>
              <a:rPr sz="1200" spc="-20" dirty="0">
                <a:latin typeface="Times New Roman"/>
                <a:cs typeface="Times New Roman"/>
              </a:rPr>
              <a:t>workflow, </a:t>
            </a:r>
            <a:r>
              <a:rPr sz="1200" spc="-10" dirty="0">
                <a:latin typeface="Times New Roman"/>
                <a:cs typeface="Times New Roman"/>
              </a:rPr>
              <a:t>authentication,</a:t>
            </a:r>
            <a:r>
              <a:rPr sz="1200" dirty="0">
                <a:latin typeface="Times New Roman"/>
                <a:cs typeface="Times New Roman"/>
              </a:rPr>
              <a:t> and</a:t>
            </a:r>
            <a:r>
              <a:rPr sz="1200" spc="-10" dirty="0">
                <a:latin typeface="Times New Roman"/>
                <a:cs typeface="Times New Roman"/>
              </a:rPr>
              <a:t> </a:t>
            </a:r>
            <a:r>
              <a:rPr sz="1200" dirty="0">
                <a:latin typeface="Times New Roman"/>
                <a:cs typeface="Times New Roman"/>
              </a:rPr>
              <a:t>admin</a:t>
            </a:r>
            <a:r>
              <a:rPr sz="1200" spc="-35" dirty="0">
                <a:latin typeface="Times New Roman"/>
                <a:cs typeface="Times New Roman"/>
              </a:rPr>
              <a:t> </a:t>
            </a:r>
            <a:r>
              <a:rPr sz="1200" dirty="0">
                <a:latin typeface="Times New Roman"/>
                <a:cs typeface="Times New Roman"/>
              </a:rPr>
              <a:t>operations, was</a:t>
            </a:r>
            <a:r>
              <a:rPr sz="1200" spc="-20" dirty="0">
                <a:latin typeface="Times New Roman"/>
                <a:cs typeface="Times New Roman"/>
              </a:rPr>
              <a:t> </a:t>
            </a:r>
            <a:r>
              <a:rPr sz="1200" spc="-10" dirty="0">
                <a:latin typeface="Times New Roman"/>
                <a:cs typeface="Times New Roman"/>
              </a:rPr>
              <a:t>tested.</a:t>
            </a:r>
            <a:endParaRPr sz="1200">
              <a:latin typeface="Times New Roman"/>
              <a:cs typeface="Times New Roman"/>
            </a:endParaRPr>
          </a:p>
          <a:p>
            <a:pPr marL="469900" marR="10160" indent="-229235">
              <a:lnSpc>
                <a:spcPct val="103299"/>
              </a:lnSpc>
              <a:spcBef>
                <a:spcPts val="790"/>
              </a:spcBef>
              <a:buFont typeface="Times New Roman"/>
              <a:buAutoNum type="arabicPeriod"/>
              <a:tabLst>
                <a:tab pos="469900" algn="l"/>
              </a:tabLst>
            </a:pPr>
            <a:r>
              <a:rPr sz="1200" b="1" dirty="0">
                <a:latin typeface="Times New Roman"/>
                <a:cs typeface="Times New Roman"/>
              </a:rPr>
              <a:t>User</a:t>
            </a:r>
            <a:r>
              <a:rPr sz="1200" b="1" spc="340" dirty="0">
                <a:latin typeface="Times New Roman"/>
                <a:cs typeface="Times New Roman"/>
              </a:rPr>
              <a:t> </a:t>
            </a:r>
            <a:r>
              <a:rPr sz="1200" b="1" dirty="0">
                <a:latin typeface="Times New Roman"/>
                <a:cs typeface="Times New Roman"/>
              </a:rPr>
              <a:t>Acceptance</a:t>
            </a:r>
            <a:r>
              <a:rPr sz="1200" b="1" spc="459" dirty="0">
                <a:latin typeface="Times New Roman"/>
                <a:cs typeface="Times New Roman"/>
              </a:rPr>
              <a:t> </a:t>
            </a:r>
            <a:r>
              <a:rPr sz="1200" b="1" dirty="0">
                <a:latin typeface="Times New Roman"/>
                <a:cs typeface="Times New Roman"/>
              </a:rPr>
              <a:t>Testing</a:t>
            </a:r>
            <a:r>
              <a:rPr sz="1200" b="1" spc="100" dirty="0">
                <a:latin typeface="Times New Roman"/>
                <a:cs typeface="Times New Roman"/>
              </a:rPr>
              <a:t>  </a:t>
            </a:r>
            <a:r>
              <a:rPr sz="1200" b="1" dirty="0">
                <a:latin typeface="Times New Roman"/>
                <a:cs typeface="Times New Roman"/>
              </a:rPr>
              <a:t>(UAT):</a:t>
            </a:r>
            <a:r>
              <a:rPr sz="1200" b="1" spc="105" dirty="0">
                <a:latin typeface="Times New Roman"/>
                <a:cs typeface="Times New Roman"/>
              </a:rPr>
              <a:t>  </a:t>
            </a:r>
            <a:r>
              <a:rPr sz="1200" spc="-10" dirty="0">
                <a:latin typeface="Times New Roman"/>
                <a:cs typeface="Times New Roman"/>
              </a:rPr>
              <a:t>End-</a:t>
            </a:r>
            <a:r>
              <a:rPr sz="1200" dirty="0">
                <a:latin typeface="Times New Roman"/>
                <a:cs typeface="Times New Roman"/>
              </a:rPr>
              <a:t>users</a:t>
            </a:r>
            <a:r>
              <a:rPr sz="1200" spc="480" dirty="0">
                <a:latin typeface="Times New Roman"/>
                <a:cs typeface="Times New Roman"/>
              </a:rPr>
              <a:t> </a:t>
            </a:r>
            <a:r>
              <a:rPr sz="1200" dirty="0">
                <a:latin typeface="Times New Roman"/>
                <a:cs typeface="Times New Roman"/>
              </a:rPr>
              <a:t>tested</a:t>
            </a:r>
            <a:r>
              <a:rPr sz="1200" spc="480" dirty="0">
                <a:latin typeface="Times New Roman"/>
                <a:cs typeface="Times New Roman"/>
              </a:rPr>
              <a:t> </a:t>
            </a:r>
            <a:r>
              <a:rPr sz="1200" dirty="0">
                <a:latin typeface="Times New Roman"/>
                <a:cs typeface="Times New Roman"/>
              </a:rPr>
              <a:t>the</a:t>
            </a:r>
            <a:r>
              <a:rPr sz="1200" spc="495" dirty="0">
                <a:latin typeface="Times New Roman"/>
                <a:cs typeface="Times New Roman"/>
              </a:rPr>
              <a:t> </a:t>
            </a:r>
            <a:r>
              <a:rPr sz="1200" dirty="0">
                <a:latin typeface="Times New Roman"/>
                <a:cs typeface="Times New Roman"/>
              </a:rPr>
              <a:t>application</a:t>
            </a:r>
            <a:r>
              <a:rPr sz="1200" spc="100" dirty="0">
                <a:latin typeface="Times New Roman"/>
                <a:cs typeface="Times New Roman"/>
              </a:rPr>
              <a:t>  </a:t>
            </a:r>
            <a:r>
              <a:rPr sz="1200" dirty="0">
                <a:latin typeface="Times New Roman"/>
                <a:cs typeface="Times New Roman"/>
              </a:rPr>
              <a:t>for</a:t>
            </a:r>
            <a:r>
              <a:rPr sz="1200" spc="110" dirty="0">
                <a:latin typeface="Times New Roman"/>
                <a:cs typeface="Times New Roman"/>
              </a:rPr>
              <a:t>  </a:t>
            </a:r>
            <a:r>
              <a:rPr sz="1200" spc="-10" dirty="0">
                <a:latin typeface="Times New Roman"/>
                <a:cs typeface="Times New Roman"/>
              </a:rPr>
              <a:t>usability, </a:t>
            </a:r>
            <a:r>
              <a:rPr sz="1200" dirty="0">
                <a:latin typeface="Times New Roman"/>
                <a:cs typeface="Times New Roman"/>
              </a:rPr>
              <a:t>responsiveness,</a:t>
            </a:r>
            <a:r>
              <a:rPr sz="1200" spc="-4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overall</a:t>
            </a:r>
            <a:r>
              <a:rPr sz="1200" spc="-70" dirty="0">
                <a:latin typeface="Times New Roman"/>
                <a:cs typeface="Times New Roman"/>
              </a:rPr>
              <a:t> </a:t>
            </a:r>
            <a:r>
              <a:rPr sz="1200" spc="-10" dirty="0">
                <a:latin typeface="Times New Roman"/>
                <a:cs typeface="Times New Roman"/>
              </a:rPr>
              <a:t>performance.</a:t>
            </a:r>
            <a:endParaRPr sz="1200">
              <a:latin typeface="Times New Roman"/>
              <a:cs typeface="Times New Roman"/>
            </a:endParaRPr>
          </a:p>
          <a:p>
            <a:pPr marL="12700">
              <a:lnSpc>
                <a:spcPct val="100000"/>
              </a:lnSpc>
              <a:spcBef>
                <a:spcPts val="890"/>
              </a:spcBef>
            </a:pPr>
            <a:r>
              <a:rPr sz="1200" b="1" spc="-10" dirty="0">
                <a:latin typeface="Times New Roman"/>
                <a:cs typeface="Times New Roman"/>
              </a:rPr>
              <a:t>Maintenance:</a:t>
            </a:r>
            <a:endParaRPr sz="1200">
              <a:latin typeface="Times New Roman"/>
              <a:cs typeface="Times New Roman"/>
            </a:endParaRPr>
          </a:p>
          <a:p>
            <a:pPr marL="12700">
              <a:lnSpc>
                <a:spcPct val="100000"/>
              </a:lnSpc>
              <a:spcBef>
                <a:spcPts val="2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designed</a:t>
            </a:r>
            <a:r>
              <a:rPr sz="1200" spc="4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easy</a:t>
            </a:r>
            <a:r>
              <a:rPr sz="1200" spc="25" dirty="0">
                <a:latin typeface="Times New Roman"/>
                <a:cs typeface="Times New Roman"/>
              </a:rPr>
              <a:t> </a:t>
            </a:r>
            <a:r>
              <a:rPr sz="1200" dirty="0">
                <a:latin typeface="Times New Roman"/>
                <a:cs typeface="Times New Roman"/>
              </a:rPr>
              <a:t>maintenance</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future</a:t>
            </a:r>
            <a:r>
              <a:rPr sz="1200" spc="20" dirty="0">
                <a:latin typeface="Times New Roman"/>
                <a:cs typeface="Times New Roman"/>
              </a:rPr>
              <a:t> </a:t>
            </a:r>
            <a:r>
              <a:rPr sz="1200" dirty="0">
                <a:latin typeface="Times New Roman"/>
                <a:cs typeface="Times New Roman"/>
              </a:rPr>
              <a:t>upgrades.</a:t>
            </a:r>
            <a:r>
              <a:rPr sz="1200" spc="35" dirty="0">
                <a:latin typeface="Times New Roman"/>
                <a:cs typeface="Times New Roman"/>
              </a:rPr>
              <a:t> </a:t>
            </a:r>
            <a:r>
              <a:rPr sz="1200" dirty="0">
                <a:latin typeface="Times New Roman"/>
                <a:cs typeface="Times New Roman"/>
              </a:rPr>
              <a:t>Firebase’s</a:t>
            </a:r>
            <a:r>
              <a:rPr sz="1200" spc="15" dirty="0">
                <a:latin typeface="Times New Roman"/>
                <a:cs typeface="Times New Roman"/>
              </a:rPr>
              <a:t> </a:t>
            </a:r>
            <a:r>
              <a:rPr sz="1200" spc="-20" dirty="0">
                <a:latin typeface="Times New Roman"/>
                <a:cs typeface="Times New Roman"/>
              </a:rPr>
              <a:t>real-</a:t>
            </a:r>
            <a:r>
              <a:rPr sz="1200" dirty="0">
                <a:latin typeface="Times New Roman"/>
                <a:cs typeface="Times New Roman"/>
              </a:rPr>
              <a:t>time</a:t>
            </a:r>
            <a:r>
              <a:rPr sz="1200" spc="20" dirty="0">
                <a:latin typeface="Times New Roman"/>
                <a:cs typeface="Times New Roman"/>
              </a:rPr>
              <a:t> </a:t>
            </a:r>
            <a:r>
              <a:rPr sz="1200" spc="-10" dirty="0">
                <a:latin typeface="Times New Roman"/>
                <a:cs typeface="Times New Roman"/>
              </a:rPr>
              <a:t>database</a:t>
            </a:r>
            <a:endParaRPr sz="1200">
              <a:latin typeface="Times New Roman"/>
              <a:cs typeface="Times New Roman"/>
            </a:endParaRPr>
          </a:p>
          <a:p>
            <a:pPr marL="12700" marR="9525" algn="just">
              <a:lnSpc>
                <a:spcPct val="103299"/>
              </a:lnSpc>
            </a:pPr>
            <a:r>
              <a:rPr sz="1200" dirty="0">
                <a:latin typeface="Times New Roman"/>
                <a:cs typeface="Times New Roman"/>
              </a:rPr>
              <a:t>ensures</a:t>
            </a:r>
            <a:r>
              <a:rPr sz="1200" spc="55" dirty="0">
                <a:latin typeface="Times New Roman"/>
                <a:cs typeface="Times New Roman"/>
              </a:rPr>
              <a:t> </a:t>
            </a:r>
            <a:r>
              <a:rPr sz="1200" dirty="0">
                <a:latin typeface="Times New Roman"/>
                <a:cs typeface="Times New Roman"/>
              </a:rPr>
              <a:t>minimal</a:t>
            </a:r>
            <a:r>
              <a:rPr sz="1200" spc="30" dirty="0">
                <a:latin typeface="Times New Roman"/>
                <a:cs typeface="Times New Roman"/>
              </a:rPr>
              <a:t> </a:t>
            </a:r>
            <a:r>
              <a:rPr sz="1200" dirty="0">
                <a:latin typeface="Times New Roman"/>
                <a:cs typeface="Times New Roman"/>
              </a:rPr>
              <a:t>downtime,</a:t>
            </a:r>
            <a:r>
              <a:rPr sz="1200" spc="55" dirty="0">
                <a:latin typeface="Times New Roman"/>
                <a:cs typeface="Times New Roman"/>
              </a:rPr>
              <a:t> </a:t>
            </a:r>
            <a:r>
              <a:rPr sz="1200" dirty="0">
                <a:latin typeface="Times New Roman"/>
                <a:cs typeface="Times New Roman"/>
              </a:rPr>
              <a:t>and</a:t>
            </a:r>
            <a:r>
              <a:rPr sz="1200" spc="70" dirty="0">
                <a:latin typeface="Times New Roman"/>
                <a:cs typeface="Times New Roman"/>
              </a:rPr>
              <a:t> </a:t>
            </a:r>
            <a:r>
              <a:rPr sz="1200" dirty="0">
                <a:latin typeface="Times New Roman"/>
                <a:cs typeface="Times New Roman"/>
              </a:rPr>
              <a:t>modular</a:t>
            </a:r>
            <a:r>
              <a:rPr sz="1200" spc="55" dirty="0">
                <a:latin typeface="Times New Roman"/>
                <a:cs typeface="Times New Roman"/>
              </a:rPr>
              <a:t> </a:t>
            </a:r>
            <a:r>
              <a:rPr sz="1200" dirty="0">
                <a:latin typeface="Times New Roman"/>
                <a:cs typeface="Times New Roman"/>
              </a:rPr>
              <a:t>React</a:t>
            </a:r>
            <a:r>
              <a:rPr sz="1200" spc="7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Node.js</a:t>
            </a:r>
            <a:r>
              <a:rPr sz="1200" spc="35" dirty="0">
                <a:latin typeface="Times New Roman"/>
                <a:cs typeface="Times New Roman"/>
              </a:rPr>
              <a:t> </a:t>
            </a:r>
            <a:r>
              <a:rPr sz="1200" dirty="0">
                <a:latin typeface="Times New Roman"/>
                <a:cs typeface="Times New Roman"/>
              </a:rPr>
              <a:t>code</a:t>
            </a:r>
            <a:r>
              <a:rPr sz="1200" spc="40"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developers</a:t>
            </a:r>
            <a:r>
              <a:rPr sz="1200" spc="35" dirty="0">
                <a:latin typeface="Times New Roman"/>
                <a:cs typeface="Times New Roman"/>
              </a:rPr>
              <a:t> </a:t>
            </a:r>
            <a:r>
              <a:rPr sz="1200" dirty="0">
                <a:latin typeface="Times New Roman"/>
                <a:cs typeface="Times New Roman"/>
              </a:rPr>
              <a:t>to</a:t>
            </a:r>
            <a:r>
              <a:rPr sz="1200" spc="70" dirty="0">
                <a:latin typeface="Times New Roman"/>
                <a:cs typeface="Times New Roman"/>
              </a:rPr>
              <a:t> </a:t>
            </a:r>
            <a:r>
              <a:rPr sz="1200" dirty="0">
                <a:latin typeface="Times New Roman"/>
                <a:cs typeface="Times New Roman"/>
              </a:rPr>
              <a:t>add</a:t>
            </a:r>
            <a:r>
              <a:rPr sz="1200" spc="45" dirty="0">
                <a:latin typeface="Times New Roman"/>
                <a:cs typeface="Times New Roman"/>
              </a:rPr>
              <a:t> </a:t>
            </a:r>
            <a:r>
              <a:rPr sz="1200" spc="-25" dirty="0">
                <a:latin typeface="Times New Roman"/>
                <a:cs typeface="Times New Roman"/>
              </a:rPr>
              <a:t>new </a:t>
            </a:r>
            <a:r>
              <a:rPr sz="1200" dirty="0">
                <a:latin typeface="Times New Roman"/>
                <a:cs typeface="Times New Roman"/>
              </a:rPr>
              <a:t>features,</a:t>
            </a:r>
            <a:r>
              <a:rPr sz="1200" spc="45" dirty="0">
                <a:latin typeface="Times New Roman"/>
                <a:cs typeface="Times New Roman"/>
              </a:rPr>
              <a:t> </a:t>
            </a:r>
            <a:r>
              <a:rPr sz="1200" dirty="0">
                <a:latin typeface="Times New Roman"/>
                <a:cs typeface="Times New Roman"/>
              </a:rPr>
              <a:t>fix</a:t>
            </a:r>
            <a:r>
              <a:rPr sz="1200" spc="60" dirty="0">
                <a:latin typeface="Times New Roman"/>
                <a:cs typeface="Times New Roman"/>
              </a:rPr>
              <a:t> </a:t>
            </a:r>
            <a:r>
              <a:rPr sz="1200" dirty="0">
                <a:latin typeface="Times New Roman"/>
                <a:cs typeface="Times New Roman"/>
              </a:rPr>
              <a:t>bugs,</a:t>
            </a:r>
            <a:r>
              <a:rPr sz="1200" spc="5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scale</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system </a:t>
            </a:r>
            <a:r>
              <a:rPr sz="1200" spc="-10" dirty="0">
                <a:latin typeface="Times New Roman"/>
                <a:cs typeface="Times New Roman"/>
              </a:rPr>
              <a:t>efficiently.</a:t>
            </a:r>
            <a:r>
              <a:rPr sz="1200" spc="45" dirty="0">
                <a:latin typeface="Times New Roman"/>
                <a:cs typeface="Times New Roman"/>
              </a:rPr>
              <a:t> </a:t>
            </a:r>
            <a:r>
              <a:rPr sz="1200" dirty="0">
                <a:latin typeface="Times New Roman"/>
                <a:cs typeface="Times New Roman"/>
              </a:rPr>
              <a:t>Documentation</a:t>
            </a:r>
            <a:r>
              <a:rPr sz="1200" spc="15" dirty="0">
                <a:latin typeface="Times New Roman"/>
                <a:cs typeface="Times New Roman"/>
              </a:rPr>
              <a:t> </a:t>
            </a:r>
            <a:r>
              <a:rPr sz="1200" dirty="0">
                <a:latin typeface="Times New Roman"/>
                <a:cs typeface="Times New Roman"/>
              </a:rPr>
              <a:t>was</a:t>
            </a:r>
            <a:r>
              <a:rPr sz="1200" spc="35" dirty="0">
                <a:latin typeface="Times New Roman"/>
                <a:cs typeface="Times New Roman"/>
              </a:rPr>
              <a:t> </a:t>
            </a:r>
            <a:r>
              <a:rPr sz="1200" dirty="0">
                <a:latin typeface="Times New Roman"/>
                <a:cs typeface="Times New Roman"/>
              </a:rPr>
              <a:t>prepared</a:t>
            </a:r>
            <a:r>
              <a:rPr sz="1200" spc="3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assist</a:t>
            </a:r>
            <a:r>
              <a:rPr sz="1200" spc="60" dirty="0">
                <a:latin typeface="Times New Roman"/>
                <a:cs typeface="Times New Roman"/>
              </a:rPr>
              <a:t> </a:t>
            </a:r>
            <a:r>
              <a:rPr sz="1200" spc="-10" dirty="0">
                <a:latin typeface="Times New Roman"/>
                <a:cs typeface="Times New Roman"/>
              </a:rPr>
              <a:t>future </a:t>
            </a:r>
            <a:r>
              <a:rPr sz="1200" dirty="0">
                <a:latin typeface="Times New Roman"/>
                <a:cs typeface="Times New Roman"/>
              </a:rPr>
              <a:t>developers</a:t>
            </a:r>
            <a:r>
              <a:rPr sz="1200" spc="-2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understanding</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system</a:t>
            </a:r>
            <a:r>
              <a:rPr sz="1200" spc="-70" dirty="0">
                <a:latin typeface="Times New Roman"/>
                <a:cs typeface="Times New Roman"/>
              </a:rPr>
              <a:t> </a:t>
            </a:r>
            <a:r>
              <a:rPr sz="1200" dirty="0">
                <a:latin typeface="Times New Roman"/>
                <a:cs typeface="Times New Roman"/>
              </a:rPr>
              <a:t>architecture</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implementation.</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10"/>
              </a:spcBef>
            </a:pPr>
            <a:endParaRPr sz="1200">
              <a:latin typeface="Times New Roman"/>
              <a:cs typeface="Times New Roman"/>
            </a:endParaRPr>
          </a:p>
          <a:p>
            <a:pPr marL="12700" algn="just">
              <a:lnSpc>
                <a:spcPct val="100000"/>
              </a:lnSpc>
            </a:pPr>
            <a:r>
              <a:rPr sz="1400" b="1" dirty="0">
                <a:latin typeface="Times New Roman"/>
                <a:cs typeface="Times New Roman"/>
              </a:rPr>
              <a:t>4.7 </a:t>
            </a:r>
            <a:r>
              <a:rPr sz="1400" b="1" spc="-10" dirty="0">
                <a:latin typeface="Times New Roman"/>
                <a:cs typeface="Times New Roman"/>
              </a:rPr>
              <a:t>Conclusion</a:t>
            </a:r>
            <a:endParaRPr sz="1400">
              <a:latin typeface="Times New Roman"/>
              <a:cs typeface="Times New Roman"/>
            </a:endParaRPr>
          </a:p>
          <a:p>
            <a:pPr marL="12700" marR="5080" algn="just">
              <a:lnSpc>
                <a:spcPct val="103299"/>
              </a:lnSpc>
              <a:spcBef>
                <a:spcPts val="775"/>
              </a:spcBef>
            </a:pPr>
            <a:r>
              <a:rPr sz="1200" dirty="0">
                <a:latin typeface="Times New Roman"/>
                <a:cs typeface="Times New Roman"/>
              </a:rPr>
              <a:t>The</a:t>
            </a:r>
            <a:r>
              <a:rPr sz="1200" spc="100" dirty="0">
                <a:latin typeface="Times New Roman"/>
                <a:cs typeface="Times New Roman"/>
              </a:rPr>
              <a:t> </a:t>
            </a:r>
            <a:r>
              <a:rPr sz="1200" dirty="0">
                <a:latin typeface="Times New Roman"/>
                <a:cs typeface="Times New Roman"/>
              </a:rPr>
              <a:t>development</a:t>
            </a:r>
            <a:r>
              <a:rPr sz="1200" spc="135" dirty="0">
                <a:latin typeface="Times New Roman"/>
                <a:cs typeface="Times New Roman"/>
              </a:rPr>
              <a:t> </a:t>
            </a:r>
            <a:r>
              <a:rPr sz="1200" dirty="0">
                <a:latin typeface="Times New Roman"/>
                <a:cs typeface="Times New Roman"/>
              </a:rPr>
              <a:t>of</a:t>
            </a:r>
            <a:r>
              <a:rPr sz="1200" spc="70" dirty="0">
                <a:latin typeface="Times New Roman"/>
                <a:cs typeface="Times New Roman"/>
              </a:rPr>
              <a:t> </a:t>
            </a:r>
            <a:r>
              <a:rPr sz="1200" dirty="0">
                <a:latin typeface="Times New Roman"/>
                <a:cs typeface="Times New Roman"/>
              </a:rPr>
              <a:t>the</a:t>
            </a:r>
            <a:r>
              <a:rPr sz="1200" spc="120" dirty="0">
                <a:latin typeface="Times New Roman"/>
                <a:cs typeface="Times New Roman"/>
              </a:rPr>
              <a:t> </a:t>
            </a:r>
            <a:r>
              <a:rPr sz="1200" b="1" dirty="0">
                <a:latin typeface="Times New Roman"/>
                <a:cs typeface="Times New Roman"/>
              </a:rPr>
              <a:t>Car</a:t>
            </a:r>
            <a:r>
              <a:rPr sz="1200" b="1" spc="55" dirty="0">
                <a:latin typeface="Times New Roman"/>
                <a:cs typeface="Times New Roman"/>
              </a:rPr>
              <a:t> </a:t>
            </a:r>
            <a:r>
              <a:rPr sz="1200" b="1" dirty="0">
                <a:latin typeface="Times New Roman"/>
                <a:cs typeface="Times New Roman"/>
              </a:rPr>
              <a:t>Rental</a:t>
            </a:r>
            <a:r>
              <a:rPr sz="1200" b="1" spc="85" dirty="0">
                <a:latin typeface="Times New Roman"/>
                <a:cs typeface="Times New Roman"/>
              </a:rPr>
              <a:t> </a:t>
            </a:r>
            <a:r>
              <a:rPr sz="1200" b="1" dirty="0">
                <a:latin typeface="Times New Roman"/>
                <a:cs typeface="Times New Roman"/>
              </a:rPr>
              <a:t>System</a:t>
            </a:r>
            <a:r>
              <a:rPr sz="1200" b="1" spc="110" dirty="0">
                <a:latin typeface="Times New Roman"/>
                <a:cs typeface="Times New Roman"/>
              </a:rPr>
              <a:t> </a:t>
            </a:r>
            <a:r>
              <a:rPr sz="1200" dirty="0">
                <a:latin typeface="Times New Roman"/>
                <a:cs typeface="Times New Roman"/>
              </a:rPr>
              <a:t>successfully</a:t>
            </a:r>
            <a:r>
              <a:rPr sz="1200" spc="85" dirty="0">
                <a:latin typeface="Times New Roman"/>
                <a:cs typeface="Times New Roman"/>
              </a:rPr>
              <a:t> </a:t>
            </a:r>
            <a:r>
              <a:rPr sz="1200" dirty="0">
                <a:latin typeface="Times New Roman"/>
                <a:cs typeface="Times New Roman"/>
              </a:rPr>
              <a:t>demonstrates</a:t>
            </a:r>
            <a:r>
              <a:rPr sz="1200" spc="75" dirty="0">
                <a:latin typeface="Times New Roman"/>
                <a:cs typeface="Times New Roman"/>
              </a:rPr>
              <a:t> </a:t>
            </a:r>
            <a:r>
              <a:rPr sz="1200" dirty="0">
                <a:latin typeface="Times New Roman"/>
                <a:cs typeface="Times New Roman"/>
              </a:rPr>
              <a:t>the</a:t>
            </a:r>
            <a:r>
              <a:rPr sz="1200" spc="100" dirty="0">
                <a:latin typeface="Times New Roman"/>
                <a:cs typeface="Times New Roman"/>
              </a:rPr>
              <a:t> </a:t>
            </a:r>
            <a:r>
              <a:rPr sz="1200" dirty="0">
                <a:latin typeface="Times New Roman"/>
                <a:cs typeface="Times New Roman"/>
              </a:rPr>
              <a:t>application</a:t>
            </a:r>
            <a:r>
              <a:rPr sz="1200" spc="85" dirty="0">
                <a:latin typeface="Times New Roman"/>
                <a:cs typeface="Times New Roman"/>
              </a:rPr>
              <a:t> </a:t>
            </a:r>
            <a:r>
              <a:rPr sz="1200" dirty="0">
                <a:latin typeface="Times New Roman"/>
                <a:cs typeface="Times New Roman"/>
              </a:rPr>
              <a:t>of</a:t>
            </a:r>
            <a:r>
              <a:rPr sz="1200" spc="95" dirty="0">
                <a:latin typeface="Times New Roman"/>
                <a:cs typeface="Times New Roman"/>
              </a:rPr>
              <a:t> </a:t>
            </a:r>
            <a:r>
              <a:rPr sz="1200" spc="-10" dirty="0">
                <a:latin typeface="Times New Roman"/>
                <a:cs typeface="Times New Roman"/>
              </a:rPr>
              <a:t>full- </a:t>
            </a:r>
            <a:r>
              <a:rPr sz="1200" dirty="0">
                <a:latin typeface="Times New Roman"/>
                <a:cs typeface="Times New Roman"/>
              </a:rPr>
              <a:t>stack</a:t>
            </a:r>
            <a:r>
              <a:rPr sz="1200" spc="30" dirty="0">
                <a:latin typeface="Times New Roman"/>
                <a:cs typeface="Times New Roman"/>
              </a:rPr>
              <a:t> </a:t>
            </a:r>
            <a:r>
              <a:rPr sz="1200" dirty="0">
                <a:latin typeface="Times New Roman"/>
                <a:cs typeface="Times New Roman"/>
              </a:rPr>
              <a:t>web</a:t>
            </a:r>
            <a:r>
              <a:rPr sz="1200" spc="15" dirty="0">
                <a:latin typeface="Times New Roman"/>
                <a:cs typeface="Times New Roman"/>
              </a:rPr>
              <a:t> </a:t>
            </a:r>
            <a:r>
              <a:rPr sz="1200" dirty="0">
                <a:latin typeface="Times New Roman"/>
                <a:cs typeface="Times New Roman"/>
              </a:rPr>
              <a:t>development</a:t>
            </a:r>
            <a:r>
              <a:rPr sz="1200" spc="55" dirty="0">
                <a:latin typeface="Times New Roman"/>
                <a:cs typeface="Times New Roman"/>
              </a:rPr>
              <a:t> </a:t>
            </a:r>
            <a:r>
              <a:rPr sz="1200" dirty="0">
                <a:latin typeface="Times New Roman"/>
                <a:cs typeface="Times New Roman"/>
              </a:rPr>
              <a:t>concepts in</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practical</a:t>
            </a:r>
            <a:r>
              <a:rPr sz="1200" spc="-10" dirty="0">
                <a:latin typeface="Times New Roman"/>
                <a:cs typeface="Times New Roman"/>
              </a:rPr>
              <a:t> </a:t>
            </a:r>
            <a:r>
              <a:rPr sz="1200" dirty="0">
                <a:latin typeface="Times New Roman"/>
                <a:cs typeface="Times New Roman"/>
              </a:rPr>
              <a:t>project.</a:t>
            </a:r>
            <a:r>
              <a:rPr sz="1200" spc="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integrates</a:t>
            </a:r>
            <a:r>
              <a:rPr sz="1200" spc="75" dirty="0">
                <a:latin typeface="Times New Roman"/>
                <a:cs typeface="Times New Roman"/>
              </a:rPr>
              <a:t> </a:t>
            </a:r>
            <a:r>
              <a:rPr sz="1200" b="1" dirty="0">
                <a:latin typeface="Times New Roman"/>
                <a:cs typeface="Times New Roman"/>
              </a:rPr>
              <a:t>React.js,</a:t>
            </a:r>
            <a:r>
              <a:rPr sz="1200" b="1" spc="25" dirty="0">
                <a:latin typeface="Times New Roman"/>
                <a:cs typeface="Times New Roman"/>
              </a:rPr>
              <a:t> </a:t>
            </a:r>
            <a:r>
              <a:rPr sz="1200" b="1" spc="-10" dirty="0">
                <a:latin typeface="Times New Roman"/>
                <a:cs typeface="Times New Roman"/>
              </a:rPr>
              <a:t>Node.js, </a:t>
            </a:r>
            <a:r>
              <a:rPr sz="1200" b="1" dirty="0">
                <a:latin typeface="Times New Roman"/>
                <a:cs typeface="Times New Roman"/>
              </a:rPr>
              <a:t>and</a:t>
            </a:r>
            <a:r>
              <a:rPr sz="1200" b="1" spc="-40" dirty="0">
                <a:latin typeface="Times New Roman"/>
                <a:cs typeface="Times New Roman"/>
              </a:rPr>
              <a:t> </a:t>
            </a:r>
            <a:r>
              <a:rPr sz="1200" b="1" spc="-20" dirty="0">
                <a:latin typeface="Times New Roman"/>
                <a:cs typeface="Times New Roman"/>
              </a:rPr>
              <a:t>Firebase</a:t>
            </a:r>
            <a:r>
              <a:rPr sz="1200" b="1"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20" dirty="0">
                <a:latin typeface="Times New Roman"/>
                <a:cs typeface="Times New Roman"/>
              </a:rPr>
              <a:t>provide</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spc="-10" dirty="0">
                <a:latin typeface="Times New Roman"/>
                <a:cs typeface="Times New Roman"/>
              </a:rPr>
              <a:t>responsive,</a:t>
            </a:r>
            <a:r>
              <a:rPr sz="1200" spc="-30" dirty="0">
                <a:latin typeface="Times New Roman"/>
                <a:cs typeface="Times New Roman"/>
              </a:rPr>
              <a:t> </a:t>
            </a:r>
            <a:r>
              <a:rPr sz="1200" spc="-10" dirty="0">
                <a:latin typeface="Times New Roman"/>
                <a:cs typeface="Times New Roman"/>
              </a:rPr>
              <a:t>secure,</a:t>
            </a:r>
            <a:r>
              <a:rPr sz="1200" spc="-25" dirty="0">
                <a:latin typeface="Times New Roman"/>
                <a:cs typeface="Times New Roman"/>
              </a:rPr>
              <a:t> </a:t>
            </a:r>
            <a:r>
              <a:rPr sz="1200" spc="-1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scalable</a:t>
            </a:r>
            <a:r>
              <a:rPr sz="1200" spc="-20" dirty="0">
                <a:latin typeface="Times New Roman"/>
                <a:cs typeface="Times New Roman"/>
              </a:rPr>
              <a:t> </a:t>
            </a:r>
            <a:r>
              <a:rPr sz="1200" spc="-10" dirty="0">
                <a:latin typeface="Times New Roman"/>
                <a:cs typeface="Times New Roman"/>
              </a:rPr>
              <a:t>solution</a:t>
            </a:r>
            <a:r>
              <a:rPr sz="1200" spc="-40" dirty="0">
                <a:latin typeface="Times New Roman"/>
                <a:cs typeface="Times New Roman"/>
              </a:rPr>
              <a:t> </a:t>
            </a:r>
            <a:r>
              <a:rPr sz="1200" spc="-10" dirty="0">
                <a:latin typeface="Times New Roman"/>
                <a:cs typeface="Times New Roman"/>
              </a:rPr>
              <a:t>for</a:t>
            </a:r>
            <a:r>
              <a:rPr sz="1200" spc="-30" dirty="0">
                <a:latin typeface="Times New Roman"/>
                <a:cs typeface="Times New Roman"/>
              </a:rPr>
              <a:t> </a:t>
            </a:r>
            <a:r>
              <a:rPr sz="1200" spc="-10" dirty="0">
                <a:latin typeface="Times New Roman"/>
                <a:cs typeface="Times New Roman"/>
              </a:rPr>
              <a:t>vehicle</a:t>
            </a:r>
            <a:r>
              <a:rPr sz="1200" spc="-45" dirty="0">
                <a:latin typeface="Times New Roman"/>
                <a:cs typeface="Times New Roman"/>
              </a:rPr>
              <a:t> </a:t>
            </a:r>
            <a:r>
              <a:rPr sz="1200" spc="-10" dirty="0">
                <a:latin typeface="Times New Roman"/>
                <a:cs typeface="Times New Roman"/>
              </a:rPr>
              <a:t>rental</a:t>
            </a:r>
            <a:r>
              <a:rPr sz="1200" spc="-65" dirty="0">
                <a:latin typeface="Times New Roman"/>
                <a:cs typeface="Times New Roman"/>
              </a:rPr>
              <a:t> </a:t>
            </a:r>
            <a:r>
              <a:rPr sz="1200" spc="-10" dirty="0">
                <a:latin typeface="Times New Roman"/>
                <a:cs typeface="Times New Roman"/>
              </a:rPr>
              <a:t>management.</a:t>
            </a:r>
            <a:endParaRPr sz="12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13</a:t>
            </a:r>
          </a:p>
        </p:txBody>
      </p:sp>
      <p:sp>
        <p:nvSpPr>
          <p:cNvPr id="2" name="object 2"/>
          <p:cNvSpPr txBox="1"/>
          <p:nvPr/>
        </p:nvSpPr>
        <p:spPr>
          <a:xfrm>
            <a:off x="902004" y="886714"/>
            <a:ext cx="5969635" cy="964565"/>
          </a:xfrm>
          <a:prstGeom prst="rect">
            <a:avLst/>
          </a:prstGeom>
        </p:spPr>
        <p:txBody>
          <a:bodyPr vert="horz" wrap="square" lIns="0" tIns="6350" rIns="0" bIns="0" rtlCol="0">
            <a:spAutoFit/>
          </a:bodyPr>
          <a:lstStyle/>
          <a:p>
            <a:pPr marL="12700" marR="5080" algn="just">
              <a:lnSpc>
                <a:spcPct val="103400"/>
              </a:lnSpc>
              <a:spcBef>
                <a:spcPts val="50"/>
              </a:spcBef>
            </a:pPr>
            <a:r>
              <a:rPr sz="1200" dirty="0">
                <a:latin typeface="Times New Roman"/>
                <a:cs typeface="Times New Roman"/>
              </a:rPr>
              <a:t>Through</a:t>
            </a:r>
            <a:r>
              <a:rPr sz="1200" spc="35" dirty="0">
                <a:latin typeface="Times New Roman"/>
                <a:cs typeface="Times New Roman"/>
              </a:rPr>
              <a:t> </a:t>
            </a:r>
            <a:r>
              <a:rPr sz="1200" dirty="0">
                <a:latin typeface="Times New Roman"/>
                <a:cs typeface="Times New Roman"/>
              </a:rPr>
              <a:t>this</a:t>
            </a:r>
            <a:r>
              <a:rPr sz="1200" spc="75" dirty="0">
                <a:latin typeface="Times New Roman"/>
                <a:cs typeface="Times New Roman"/>
              </a:rPr>
              <a:t> </a:t>
            </a:r>
            <a:r>
              <a:rPr sz="1200" dirty="0">
                <a:latin typeface="Times New Roman"/>
                <a:cs typeface="Times New Roman"/>
              </a:rPr>
              <a:t>project,</a:t>
            </a:r>
            <a:r>
              <a:rPr sz="1200" spc="70" dirty="0">
                <a:latin typeface="Times New Roman"/>
                <a:cs typeface="Times New Roman"/>
              </a:rPr>
              <a:t> </a:t>
            </a:r>
            <a:r>
              <a:rPr sz="1200" dirty="0">
                <a:latin typeface="Times New Roman"/>
                <a:cs typeface="Times New Roman"/>
              </a:rPr>
              <a:t>participants</a:t>
            </a:r>
            <a:r>
              <a:rPr sz="1200" spc="70" dirty="0">
                <a:latin typeface="Times New Roman"/>
                <a:cs typeface="Times New Roman"/>
              </a:rPr>
              <a:t> </a:t>
            </a:r>
            <a:r>
              <a:rPr sz="1200" dirty="0">
                <a:latin typeface="Times New Roman"/>
                <a:cs typeface="Times New Roman"/>
              </a:rPr>
              <a:t>gained</a:t>
            </a:r>
            <a:r>
              <a:rPr sz="1200" spc="85" dirty="0">
                <a:latin typeface="Times New Roman"/>
                <a:cs typeface="Times New Roman"/>
              </a:rPr>
              <a:t> </a:t>
            </a:r>
            <a:r>
              <a:rPr sz="1200" dirty="0">
                <a:latin typeface="Times New Roman"/>
                <a:cs typeface="Times New Roman"/>
              </a:rPr>
              <a:t>experience</a:t>
            </a:r>
            <a:r>
              <a:rPr sz="1200" spc="100" dirty="0">
                <a:latin typeface="Times New Roman"/>
                <a:cs typeface="Times New Roman"/>
              </a:rPr>
              <a:t> </a:t>
            </a:r>
            <a:r>
              <a:rPr sz="1200" dirty="0">
                <a:latin typeface="Times New Roman"/>
                <a:cs typeface="Times New Roman"/>
              </a:rPr>
              <a:t>in</a:t>
            </a:r>
            <a:r>
              <a:rPr sz="1200" spc="95" dirty="0">
                <a:latin typeface="Times New Roman"/>
                <a:cs typeface="Times New Roman"/>
              </a:rPr>
              <a:t> </a:t>
            </a:r>
            <a:r>
              <a:rPr sz="1200" b="1" dirty="0">
                <a:latin typeface="Times New Roman"/>
                <a:cs typeface="Times New Roman"/>
              </a:rPr>
              <a:t>system</a:t>
            </a:r>
            <a:r>
              <a:rPr sz="1200" b="1" spc="70" dirty="0">
                <a:latin typeface="Times New Roman"/>
                <a:cs typeface="Times New Roman"/>
              </a:rPr>
              <a:t> </a:t>
            </a:r>
            <a:r>
              <a:rPr sz="1200" b="1" dirty="0">
                <a:latin typeface="Times New Roman"/>
                <a:cs typeface="Times New Roman"/>
              </a:rPr>
              <a:t>analysis,</a:t>
            </a:r>
            <a:r>
              <a:rPr sz="1200" b="1" spc="90" dirty="0">
                <a:latin typeface="Times New Roman"/>
                <a:cs typeface="Times New Roman"/>
              </a:rPr>
              <a:t> </a:t>
            </a:r>
            <a:r>
              <a:rPr sz="1200" b="1" dirty="0">
                <a:latin typeface="Times New Roman"/>
                <a:cs typeface="Times New Roman"/>
              </a:rPr>
              <a:t>design,</a:t>
            </a:r>
            <a:r>
              <a:rPr sz="1200" b="1" spc="75" dirty="0">
                <a:latin typeface="Times New Roman"/>
                <a:cs typeface="Times New Roman"/>
              </a:rPr>
              <a:t> </a:t>
            </a:r>
            <a:r>
              <a:rPr sz="1200" b="1" spc="-10" dirty="0">
                <a:latin typeface="Times New Roman"/>
                <a:cs typeface="Times New Roman"/>
              </a:rPr>
              <a:t>development, </a:t>
            </a:r>
            <a:r>
              <a:rPr sz="1200" b="1" dirty="0">
                <a:latin typeface="Times New Roman"/>
                <a:cs typeface="Times New Roman"/>
              </a:rPr>
              <a:t>testing,</a:t>
            </a:r>
            <a:r>
              <a:rPr sz="1200" b="1" spc="240" dirty="0">
                <a:latin typeface="Times New Roman"/>
                <a:cs typeface="Times New Roman"/>
              </a:rPr>
              <a:t> </a:t>
            </a:r>
            <a:r>
              <a:rPr sz="1200" b="1" dirty="0">
                <a:latin typeface="Times New Roman"/>
                <a:cs typeface="Times New Roman"/>
              </a:rPr>
              <a:t>and</a:t>
            </a:r>
            <a:r>
              <a:rPr sz="1200" b="1" spc="229" dirty="0">
                <a:latin typeface="Times New Roman"/>
                <a:cs typeface="Times New Roman"/>
              </a:rPr>
              <a:t> </a:t>
            </a:r>
            <a:r>
              <a:rPr sz="1200" b="1" dirty="0">
                <a:latin typeface="Times New Roman"/>
                <a:cs typeface="Times New Roman"/>
              </a:rPr>
              <a:t>deployment</a:t>
            </a:r>
            <a:r>
              <a:rPr sz="1200" dirty="0">
                <a:latin typeface="Times New Roman"/>
                <a:cs typeface="Times New Roman"/>
              </a:rPr>
              <a:t>,</a:t>
            </a:r>
            <a:r>
              <a:rPr sz="1200" spc="245" dirty="0">
                <a:latin typeface="Times New Roman"/>
                <a:cs typeface="Times New Roman"/>
              </a:rPr>
              <a:t> </a:t>
            </a:r>
            <a:r>
              <a:rPr sz="1200" dirty="0">
                <a:latin typeface="Times New Roman"/>
                <a:cs typeface="Times New Roman"/>
              </a:rPr>
              <a:t>reinforcing</a:t>
            </a:r>
            <a:r>
              <a:rPr sz="1200" spc="229" dirty="0">
                <a:latin typeface="Times New Roman"/>
                <a:cs typeface="Times New Roman"/>
              </a:rPr>
              <a:t> </a:t>
            </a:r>
            <a:r>
              <a:rPr sz="1200" dirty="0">
                <a:latin typeface="Times New Roman"/>
                <a:cs typeface="Times New Roman"/>
              </a:rPr>
              <a:t>their</a:t>
            </a:r>
            <a:r>
              <a:rPr sz="1200" spc="235" dirty="0">
                <a:latin typeface="Times New Roman"/>
                <a:cs typeface="Times New Roman"/>
              </a:rPr>
              <a:t> </a:t>
            </a:r>
            <a:r>
              <a:rPr sz="1200" dirty="0">
                <a:latin typeface="Times New Roman"/>
                <a:cs typeface="Times New Roman"/>
              </a:rPr>
              <a:t>understanding</a:t>
            </a:r>
            <a:r>
              <a:rPr sz="1200" spc="229" dirty="0">
                <a:latin typeface="Times New Roman"/>
                <a:cs typeface="Times New Roman"/>
              </a:rPr>
              <a:t> </a:t>
            </a:r>
            <a:r>
              <a:rPr sz="1200" dirty="0">
                <a:latin typeface="Times New Roman"/>
                <a:cs typeface="Times New Roman"/>
              </a:rPr>
              <a:t>of</a:t>
            </a:r>
            <a:r>
              <a:rPr sz="1200" spc="210" dirty="0">
                <a:latin typeface="Times New Roman"/>
                <a:cs typeface="Times New Roman"/>
              </a:rPr>
              <a:t> </a:t>
            </a:r>
            <a:r>
              <a:rPr sz="1200" dirty="0">
                <a:latin typeface="Times New Roman"/>
                <a:cs typeface="Times New Roman"/>
              </a:rPr>
              <a:t>modern</a:t>
            </a:r>
            <a:r>
              <a:rPr sz="1200" spc="210" dirty="0">
                <a:latin typeface="Times New Roman"/>
                <a:cs typeface="Times New Roman"/>
              </a:rPr>
              <a:t> </a:t>
            </a:r>
            <a:r>
              <a:rPr sz="1200" dirty="0">
                <a:latin typeface="Times New Roman"/>
                <a:cs typeface="Times New Roman"/>
              </a:rPr>
              <a:t>web</a:t>
            </a:r>
            <a:r>
              <a:rPr sz="1200" spc="210" dirty="0">
                <a:latin typeface="Times New Roman"/>
                <a:cs typeface="Times New Roman"/>
              </a:rPr>
              <a:t> </a:t>
            </a:r>
            <a:r>
              <a:rPr sz="1200" dirty="0">
                <a:latin typeface="Times New Roman"/>
                <a:cs typeface="Times New Roman"/>
              </a:rPr>
              <a:t>technologies.</a:t>
            </a:r>
            <a:r>
              <a:rPr sz="1200" spc="220" dirty="0">
                <a:latin typeface="Times New Roman"/>
                <a:cs typeface="Times New Roman"/>
              </a:rPr>
              <a:t> </a:t>
            </a:r>
            <a:r>
              <a:rPr sz="1200" spc="-25" dirty="0">
                <a:latin typeface="Times New Roman"/>
                <a:cs typeface="Times New Roman"/>
              </a:rPr>
              <a:t>The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reduces</a:t>
            </a:r>
            <a:r>
              <a:rPr sz="1200" spc="5" dirty="0">
                <a:latin typeface="Times New Roman"/>
                <a:cs typeface="Times New Roman"/>
              </a:rPr>
              <a:t> </a:t>
            </a:r>
            <a:r>
              <a:rPr sz="1200" dirty="0">
                <a:latin typeface="Times New Roman"/>
                <a:cs typeface="Times New Roman"/>
              </a:rPr>
              <a:t>manual</a:t>
            </a:r>
            <a:r>
              <a:rPr sz="1200" spc="-45" dirty="0">
                <a:latin typeface="Times New Roman"/>
                <a:cs typeface="Times New Roman"/>
              </a:rPr>
              <a:t> </a:t>
            </a:r>
            <a:r>
              <a:rPr sz="1200" dirty="0">
                <a:latin typeface="Times New Roman"/>
                <a:cs typeface="Times New Roman"/>
              </a:rPr>
              <a:t>effort,</a:t>
            </a:r>
            <a:r>
              <a:rPr sz="1200" spc="-15" dirty="0">
                <a:latin typeface="Times New Roman"/>
                <a:cs typeface="Times New Roman"/>
              </a:rPr>
              <a:t> </a:t>
            </a:r>
            <a:r>
              <a:rPr sz="1200" dirty="0">
                <a:latin typeface="Times New Roman"/>
                <a:cs typeface="Times New Roman"/>
              </a:rPr>
              <a:t>ensures</a:t>
            </a:r>
            <a:r>
              <a:rPr sz="1200" spc="-15"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data</a:t>
            </a:r>
            <a:r>
              <a:rPr sz="1200" spc="-5" dirty="0">
                <a:latin typeface="Times New Roman"/>
                <a:cs typeface="Times New Roman"/>
              </a:rPr>
              <a:t> </a:t>
            </a:r>
            <a:r>
              <a:rPr sz="1200" spc="-10" dirty="0">
                <a:latin typeface="Times New Roman"/>
                <a:cs typeface="Times New Roman"/>
              </a:rPr>
              <a:t>accuracy,</a:t>
            </a:r>
            <a:r>
              <a:rPr sz="1200" spc="5"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offers</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professional</a:t>
            </a:r>
            <a:r>
              <a:rPr sz="1200" spc="-45" dirty="0">
                <a:latin typeface="Times New Roman"/>
                <a:cs typeface="Times New Roman"/>
              </a:rPr>
              <a:t> </a:t>
            </a:r>
            <a:r>
              <a:rPr sz="1200" spc="-10" dirty="0">
                <a:latin typeface="Times New Roman"/>
                <a:cs typeface="Times New Roman"/>
              </a:rPr>
              <a:t>platform </a:t>
            </a:r>
            <a:r>
              <a:rPr sz="1200" dirty="0">
                <a:latin typeface="Times New Roman"/>
                <a:cs typeface="Times New Roman"/>
              </a:rPr>
              <a:t>for both</a:t>
            </a:r>
            <a:r>
              <a:rPr sz="1200" spc="-25" dirty="0">
                <a:latin typeface="Times New Roman"/>
                <a:cs typeface="Times New Roman"/>
              </a:rPr>
              <a:t> </a:t>
            </a:r>
            <a:r>
              <a:rPr sz="1200" dirty="0">
                <a:latin typeface="Times New Roman"/>
                <a:cs typeface="Times New Roman"/>
              </a:rPr>
              <a:t>customers</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administrators.</a:t>
            </a:r>
            <a:r>
              <a:rPr sz="1200" spc="-10" dirty="0">
                <a:latin typeface="Times New Roman"/>
                <a:cs typeface="Times New Roman"/>
              </a:rPr>
              <a:t> </a:t>
            </a:r>
            <a:r>
              <a:rPr sz="1200" dirty="0">
                <a:latin typeface="Times New Roman"/>
                <a:cs typeface="Times New Roman"/>
              </a:rPr>
              <a:t>Overall, the</a:t>
            </a:r>
            <a:r>
              <a:rPr sz="1200" spc="-10" dirty="0">
                <a:latin typeface="Times New Roman"/>
                <a:cs typeface="Times New Roman"/>
              </a:rPr>
              <a:t> </a:t>
            </a:r>
            <a:r>
              <a:rPr sz="1200" dirty="0">
                <a:latin typeface="Times New Roman"/>
                <a:cs typeface="Times New Roman"/>
              </a:rPr>
              <a:t>project</a:t>
            </a:r>
            <a:r>
              <a:rPr sz="1200" spc="15" dirty="0">
                <a:latin typeface="Times New Roman"/>
                <a:cs typeface="Times New Roman"/>
              </a:rPr>
              <a:t> </a:t>
            </a:r>
            <a:r>
              <a:rPr sz="1200" dirty="0">
                <a:latin typeface="Times New Roman"/>
                <a:cs typeface="Times New Roman"/>
              </a:rPr>
              <a:t>highlights</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effective</a:t>
            </a:r>
            <a:r>
              <a:rPr sz="1200" spc="-10" dirty="0">
                <a:latin typeface="Times New Roman"/>
                <a:cs typeface="Times New Roman"/>
              </a:rPr>
              <a:t> </a:t>
            </a:r>
            <a:r>
              <a:rPr sz="1200" dirty="0">
                <a:latin typeface="Times New Roman"/>
                <a:cs typeface="Times New Roman"/>
              </a:rPr>
              <a:t>application</a:t>
            </a:r>
            <a:r>
              <a:rPr sz="1200" spc="-30" dirty="0">
                <a:latin typeface="Times New Roman"/>
                <a:cs typeface="Times New Roman"/>
              </a:rPr>
              <a:t> </a:t>
            </a:r>
            <a:r>
              <a:rPr sz="1200" spc="-25" dirty="0">
                <a:latin typeface="Times New Roman"/>
                <a:cs typeface="Times New Roman"/>
              </a:rPr>
              <a:t>of </a:t>
            </a:r>
            <a:r>
              <a:rPr sz="1200" dirty="0">
                <a:latin typeface="Times New Roman"/>
                <a:cs typeface="Times New Roman"/>
              </a:rPr>
              <a:t>training</a:t>
            </a:r>
            <a:r>
              <a:rPr sz="1200" spc="-25" dirty="0">
                <a:latin typeface="Times New Roman"/>
                <a:cs typeface="Times New Roman"/>
              </a:rPr>
              <a:t> </a:t>
            </a:r>
            <a:r>
              <a:rPr sz="1200" dirty="0">
                <a:latin typeface="Times New Roman"/>
                <a:cs typeface="Times New Roman"/>
              </a:rPr>
              <a:t>concepts</a:t>
            </a:r>
            <a:r>
              <a:rPr sz="1200" spc="-3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creating</a:t>
            </a:r>
            <a:r>
              <a:rPr sz="1200" spc="-2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spc="-10" dirty="0">
                <a:latin typeface="Times New Roman"/>
                <a:cs typeface="Times New Roman"/>
              </a:rPr>
              <a:t>functional,</a:t>
            </a:r>
            <a:r>
              <a:rPr sz="1200" spc="35" dirty="0">
                <a:latin typeface="Times New Roman"/>
                <a:cs typeface="Times New Roman"/>
              </a:rPr>
              <a:t> </a:t>
            </a:r>
            <a:r>
              <a:rPr sz="1200" spc="-10" dirty="0">
                <a:latin typeface="Times New Roman"/>
                <a:cs typeface="Times New Roman"/>
              </a:rPr>
              <a:t>industry-</a:t>
            </a:r>
            <a:r>
              <a:rPr sz="1200" dirty="0">
                <a:latin typeface="Times New Roman"/>
                <a:cs typeface="Times New Roman"/>
              </a:rPr>
              <a:t>relevant web</a:t>
            </a:r>
            <a:r>
              <a:rPr sz="1200" spc="-45" dirty="0">
                <a:latin typeface="Times New Roman"/>
                <a:cs typeface="Times New Roman"/>
              </a:rPr>
              <a:t> </a:t>
            </a:r>
            <a:r>
              <a:rPr sz="1200" spc="-10" dirty="0">
                <a:latin typeface="Times New Roman"/>
                <a:cs typeface="Times New Roman"/>
              </a:rPr>
              <a:t>application.</a:t>
            </a:r>
            <a:endParaRPr sz="12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86713"/>
            <a:ext cx="3912235" cy="1238250"/>
          </a:xfrm>
          <a:prstGeom prst="rect">
            <a:avLst/>
          </a:prstGeom>
        </p:spPr>
        <p:txBody>
          <a:bodyPr vert="horz" wrap="square" lIns="0" tIns="11430" rIns="0" bIns="0" rtlCol="0">
            <a:spAutoFit/>
          </a:bodyPr>
          <a:lstStyle/>
          <a:p>
            <a:pPr marL="2059305" algn="ctr">
              <a:lnSpc>
                <a:spcPct val="100000"/>
              </a:lnSpc>
              <a:spcBef>
                <a:spcPts val="90"/>
              </a:spcBef>
            </a:pPr>
            <a:r>
              <a:rPr sz="1400" b="1" dirty="0">
                <a:latin typeface="Times New Roman"/>
                <a:cs typeface="Times New Roman"/>
              </a:rPr>
              <a:t>Chapter</a:t>
            </a:r>
            <a:r>
              <a:rPr sz="1400" b="1" spc="-80" dirty="0">
                <a:latin typeface="Times New Roman"/>
                <a:cs typeface="Times New Roman"/>
              </a:rPr>
              <a:t> </a:t>
            </a:r>
            <a:r>
              <a:rPr sz="1400" b="1" spc="-50" dirty="0">
                <a:latin typeface="Times New Roman"/>
                <a:cs typeface="Times New Roman"/>
              </a:rPr>
              <a:t>5</a:t>
            </a:r>
            <a:endParaRPr sz="1400">
              <a:latin typeface="Times New Roman"/>
              <a:cs typeface="Times New Roman"/>
            </a:endParaRPr>
          </a:p>
          <a:p>
            <a:pPr marL="2051685" algn="ctr">
              <a:lnSpc>
                <a:spcPct val="100000"/>
              </a:lnSpc>
              <a:spcBef>
                <a:spcPts val="1130"/>
              </a:spcBef>
            </a:pPr>
            <a:r>
              <a:rPr sz="1400" b="1" dirty="0">
                <a:latin typeface="Times New Roman"/>
                <a:cs typeface="Times New Roman"/>
              </a:rPr>
              <a:t>Snapshots</a:t>
            </a:r>
            <a:r>
              <a:rPr sz="1400" b="1" spc="-30" dirty="0">
                <a:latin typeface="Times New Roman"/>
                <a:cs typeface="Times New Roman"/>
              </a:rPr>
              <a:t> </a:t>
            </a:r>
            <a:r>
              <a:rPr sz="1400" b="1" dirty="0">
                <a:latin typeface="Times New Roman"/>
                <a:cs typeface="Times New Roman"/>
              </a:rPr>
              <a:t>of</a:t>
            </a:r>
            <a:r>
              <a:rPr sz="1400" b="1" spc="-45" dirty="0">
                <a:latin typeface="Times New Roman"/>
                <a:cs typeface="Times New Roman"/>
              </a:rPr>
              <a:t> </a:t>
            </a:r>
            <a:r>
              <a:rPr sz="1400" b="1" dirty="0">
                <a:latin typeface="Times New Roman"/>
                <a:cs typeface="Times New Roman"/>
              </a:rPr>
              <a:t>the</a:t>
            </a:r>
            <a:r>
              <a:rPr sz="1400" b="1" spc="-50" dirty="0">
                <a:latin typeface="Times New Roman"/>
                <a:cs typeface="Times New Roman"/>
              </a:rPr>
              <a:t> </a:t>
            </a:r>
            <a:r>
              <a:rPr sz="1400" b="1" spc="-10" dirty="0">
                <a:latin typeface="Times New Roman"/>
                <a:cs typeface="Times New Roman"/>
              </a:rPr>
              <a:t>Project</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65"/>
              </a:spcBef>
            </a:pPr>
            <a:endParaRPr sz="1400">
              <a:latin typeface="Times New Roman"/>
              <a:cs typeface="Times New Roman"/>
            </a:endParaRPr>
          </a:p>
          <a:p>
            <a:pPr marL="12700">
              <a:lnSpc>
                <a:spcPct val="100000"/>
              </a:lnSpc>
            </a:pPr>
            <a:r>
              <a:rPr sz="1400" b="1" dirty="0">
                <a:latin typeface="Times New Roman"/>
                <a:cs typeface="Times New Roman"/>
              </a:rPr>
              <a:t>5.1</a:t>
            </a:r>
            <a:r>
              <a:rPr sz="1400" b="1" spc="-40" dirty="0">
                <a:latin typeface="Times New Roman"/>
                <a:cs typeface="Times New Roman"/>
              </a:rPr>
              <a:t> </a:t>
            </a:r>
            <a:r>
              <a:rPr sz="1400" b="1" spc="-10" dirty="0">
                <a:latin typeface="Times New Roman"/>
                <a:cs typeface="Times New Roman"/>
              </a:rPr>
              <a:t>Source</a:t>
            </a:r>
            <a:r>
              <a:rPr sz="1400" b="1" spc="-35" dirty="0">
                <a:latin typeface="Times New Roman"/>
                <a:cs typeface="Times New Roman"/>
              </a:rPr>
              <a:t> </a:t>
            </a:r>
            <a:r>
              <a:rPr sz="1400" b="1" dirty="0">
                <a:latin typeface="Times New Roman"/>
                <a:cs typeface="Times New Roman"/>
              </a:rPr>
              <a:t>Code</a:t>
            </a:r>
            <a:r>
              <a:rPr sz="1400" b="1" spc="-30" dirty="0">
                <a:latin typeface="Times New Roman"/>
                <a:cs typeface="Times New Roman"/>
              </a:rPr>
              <a:t> </a:t>
            </a:r>
            <a:r>
              <a:rPr sz="1400" b="1" spc="-20" dirty="0">
                <a:latin typeface="Times New Roman"/>
                <a:cs typeface="Times New Roman"/>
              </a:rPr>
              <a:t>Page</a:t>
            </a:r>
            <a:endParaRPr sz="1400">
              <a:latin typeface="Times New Roman"/>
              <a:cs typeface="Times New Roman"/>
            </a:endParaRPr>
          </a:p>
        </p:txBody>
      </p:sp>
      <p:pic>
        <p:nvPicPr>
          <p:cNvPr id="3" name="object 3"/>
          <p:cNvPicPr/>
          <p:nvPr/>
        </p:nvPicPr>
        <p:blipFill>
          <a:blip r:embed="rId2" cstate="print"/>
          <a:stretch>
            <a:fillRect/>
          </a:stretch>
        </p:blipFill>
        <p:spPr>
          <a:xfrm>
            <a:off x="914400" y="2231135"/>
            <a:ext cx="5943600" cy="3208146"/>
          </a:xfrm>
          <a:prstGeom prst="rect">
            <a:avLst/>
          </a:prstGeom>
        </p:spPr>
      </p:pic>
      <p:pic>
        <p:nvPicPr>
          <p:cNvPr id="4" name="object 4"/>
          <p:cNvPicPr/>
          <p:nvPr/>
        </p:nvPicPr>
        <p:blipFill>
          <a:blip r:embed="rId3" cstate="print"/>
          <a:stretch>
            <a:fillRect/>
          </a:stretch>
        </p:blipFill>
        <p:spPr>
          <a:xfrm>
            <a:off x="914400" y="5830823"/>
            <a:ext cx="5943600" cy="3275571"/>
          </a:xfrm>
          <a:prstGeom prst="rect">
            <a:avLst/>
          </a:prstGeom>
        </p:spPr>
      </p:pic>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89761"/>
            <a:ext cx="995044"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5.2</a:t>
            </a:r>
            <a:r>
              <a:rPr sz="1200" b="1" spc="-10" dirty="0">
                <a:latin typeface="Times New Roman"/>
                <a:cs typeface="Times New Roman"/>
              </a:rPr>
              <a:t> </a:t>
            </a:r>
            <a:r>
              <a:rPr sz="1200" b="1" dirty="0">
                <a:latin typeface="Times New Roman"/>
                <a:cs typeface="Times New Roman"/>
              </a:rPr>
              <a:t>Home</a:t>
            </a:r>
            <a:r>
              <a:rPr sz="1200" b="1" spc="-15" dirty="0">
                <a:latin typeface="Times New Roman"/>
                <a:cs typeface="Times New Roman"/>
              </a:rPr>
              <a:t> </a:t>
            </a:r>
            <a:r>
              <a:rPr sz="1200" b="1" spc="-20" dirty="0">
                <a:latin typeface="Times New Roman"/>
                <a:cs typeface="Times New Roman"/>
              </a:rPr>
              <a:t>Page</a:t>
            </a:r>
            <a:endParaRPr sz="1200">
              <a:latin typeface="Times New Roman"/>
              <a:cs typeface="Times New Roman"/>
            </a:endParaRPr>
          </a:p>
        </p:txBody>
      </p:sp>
      <p:sp>
        <p:nvSpPr>
          <p:cNvPr id="3" name="object 3"/>
          <p:cNvSpPr txBox="1"/>
          <p:nvPr/>
        </p:nvSpPr>
        <p:spPr>
          <a:xfrm>
            <a:off x="902004" y="5014976"/>
            <a:ext cx="1004569"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5.3</a:t>
            </a:r>
            <a:r>
              <a:rPr sz="1200" b="1" spc="-65" dirty="0">
                <a:latin typeface="Times New Roman"/>
                <a:cs typeface="Times New Roman"/>
              </a:rPr>
              <a:t> </a:t>
            </a:r>
            <a:r>
              <a:rPr sz="1200" b="1" dirty="0">
                <a:latin typeface="Times New Roman"/>
                <a:cs typeface="Times New Roman"/>
              </a:rPr>
              <a:t>About</a:t>
            </a:r>
            <a:r>
              <a:rPr sz="1200" b="1" spc="-5" dirty="0">
                <a:latin typeface="Times New Roman"/>
                <a:cs typeface="Times New Roman"/>
              </a:rPr>
              <a:t> </a:t>
            </a:r>
            <a:r>
              <a:rPr sz="1200" b="1" spc="-20" dirty="0">
                <a:latin typeface="Times New Roman"/>
                <a:cs typeface="Times New Roman"/>
              </a:rPr>
              <a:t>Page</a:t>
            </a:r>
            <a:endParaRPr sz="12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15</a:t>
            </a:r>
          </a:p>
        </p:txBody>
      </p:sp>
      <p:pic>
        <p:nvPicPr>
          <p:cNvPr id="8" name="Picture 7">
            <a:extLst>
              <a:ext uri="{FF2B5EF4-FFF2-40B4-BE49-F238E27FC236}">
                <a16:creationId xmlns:a16="http://schemas.microsoft.com/office/drawing/2014/main" id="{7413C502-DF11-08BD-4515-A52A9B8F90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4265" y="1212994"/>
            <a:ext cx="6418621" cy="3068596"/>
          </a:xfrm>
          <a:prstGeom prst="rect">
            <a:avLst/>
          </a:prstGeom>
        </p:spPr>
      </p:pic>
      <p:pic>
        <p:nvPicPr>
          <p:cNvPr id="10" name="Picture 9">
            <a:extLst>
              <a:ext uri="{FF2B5EF4-FFF2-40B4-BE49-F238E27FC236}">
                <a16:creationId xmlns:a16="http://schemas.microsoft.com/office/drawing/2014/main" id="{FED01988-C195-19AA-1B35-429DE7C60E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0636" y="5313404"/>
            <a:ext cx="6639246" cy="31587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92809"/>
            <a:ext cx="1164590" cy="238125"/>
          </a:xfrm>
          <a:prstGeom prst="rect">
            <a:avLst/>
          </a:prstGeom>
        </p:spPr>
        <p:txBody>
          <a:bodyPr vert="horz" wrap="square" lIns="0" tIns="11430" rIns="0" bIns="0" rtlCol="0">
            <a:spAutoFit/>
          </a:bodyPr>
          <a:lstStyle/>
          <a:p>
            <a:pPr marL="12700">
              <a:lnSpc>
                <a:spcPct val="100000"/>
              </a:lnSpc>
              <a:spcBef>
                <a:spcPts val="90"/>
              </a:spcBef>
            </a:pPr>
            <a:r>
              <a:rPr sz="1400" b="1" dirty="0">
                <a:latin typeface="Times New Roman"/>
                <a:cs typeface="Times New Roman"/>
              </a:rPr>
              <a:t>5.6</a:t>
            </a:r>
            <a:r>
              <a:rPr sz="1400" b="1" spc="-20" dirty="0">
                <a:latin typeface="Times New Roman"/>
                <a:cs typeface="Times New Roman"/>
              </a:rPr>
              <a:t> </a:t>
            </a:r>
            <a:r>
              <a:rPr sz="1400" b="1" dirty="0">
                <a:latin typeface="Times New Roman"/>
                <a:cs typeface="Times New Roman"/>
              </a:rPr>
              <a:t>Client</a:t>
            </a:r>
            <a:r>
              <a:rPr sz="1400" b="1" spc="-25" dirty="0">
                <a:latin typeface="Times New Roman"/>
                <a:cs typeface="Times New Roman"/>
              </a:rPr>
              <a:t> </a:t>
            </a:r>
            <a:r>
              <a:rPr sz="1400" b="1" spc="-20" dirty="0">
                <a:latin typeface="Times New Roman"/>
                <a:cs typeface="Times New Roman"/>
              </a:rPr>
              <a:t>Page</a:t>
            </a:r>
            <a:endParaRPr sz="1400">
              <a:latin typeface="Times New Roman"/>
              <a:cs typeface="Times New Roman"/>
            </a:endParaRPr>
          </a:p>
        </p:txBody>
      </p:sp>
      <p:sp>
        <p:nvSpPr>
          <p:cNvPr id="3" name="object 3"/>
          <p:cNvSpPr txBox="1"/>
          <p:nvPr/>
        </p:nvSpPr>
        <p:spPr>
          <a:xfrm>
            <a:off x="902004" y="5203951"/>
            <a:ext cx="1143000" cy="238125"/>
          </a:xfrm>
          <a:prstGeom prst="rect">
            <a:avLst/>
          </a:prstGeom>
        </p:spPr>
        <p:txBody>
          <a:bodyPr vert="horz" wrap="square" lIns="0" tIns="11430" rIns="0" bIns="0" rtlCol="0">
            <a:spAutoFit/>
          </a:bodyPr>
          <a:lstStyle/>
          <a:p>
            <a:pPr marL="12700">
              <a:lnSpc>
                <a:spcPct val="100000"/>
              </a:lnSpc>
              <a:spcBef>
                <a:spcPts val="90"/>
              </a:spcBef>
            </a:pPr>
            <a:r>
              <a:rPr sz="1400" b="1" dirty="0">
                <a:latin typeface="Times New Roman"/>
                <a:cs typeface="Times New Roman"/>
              </a:rPr>
              <a:t>5.7</a:t>
            </a:r>
            <a:r>
              <a:rPr sz="1400" b="1" spc="-15" dirty="0">
                <a:latin typeface="Times New Roman"/>
                <a:cs typeface="Times New Roman"/>
              </a:rPr>
              <a:t> </a:t>
            </a:r>
            <a:r>
              <a:rPr sz="1400" b="1" dirty="0">
                <a:latin typeface="Times New Roman"/>
                <a:cs typeface="Times New Roman"/>
              </a:rPr>
              <a:t>Login</a:t>
            </a:r>
            <a:r>
              <a:rPr sz="1400" b="1" spc="-50" dirty="0">
                <a:latin typeface="Times New Roman"/>
                <a:cs typeface="Times New Roman"/>
              </a:rPr>
              <a:t> </a:t>
            </a:r>
            <a:r>
              <a:rPr sz="1400" b="1" spc="-20" dirty="0">
                <a:latin typeface="Times New Roman"/>
                <a:cs typeface="Times New Roman"/>
              </a:rPr>
              <a:t>Page</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17</a:t>
            </a:r>
          </a:p>
        </p:txBody>
      </p:sp>
      <p:pic>
        <p:nvPicPr>
          <p:cNvPr id="8" name="Picture 7">
            <a:extLst>
              <a:ext uri="{FF2B5EF4-FFF2-40B4-BE49-F238E27FC236}">
                <a16:creationId xmlns:a16="http://schemas.microsoft.com/office/drawing/2014/main" id="{FC18A85B-EEB9-1EFD-C7D1-F72C4A713A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2491" y="1265246"/>
            <a:ext cx="5959223" cy="2847633"/>
          </a:xfrm>
          <a:prstGeom prst="rect">
            <a:avLst/>
          </a:prstGeom>
        </p:spPr>
      </p:pic>
      <p:pic>
        <p:nvPicPr>
          <p:cNvPr id="10" name="Picture 9">
            <a:extLst>
              <a:ext uri="{FF2B5EF4-FFF2-40B4-BE49-F238E27FC236}">
                <a16:creationId xmlns:a16="http://schemas.microsoft.com/office/drawing/2014/main" id="{136E1F47-086A-ABF8-1D11-0C6F49D2C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091" y="5641648"/>
            <a:ext cx="5959223" cy="28476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18</a:t>
            </a:r>
          </a:p>
        </p:txBody>
      </p:sp>
      <p:sp>
        <p:nvSpPr>
          <p:cNvPr id="2" name="object 2"/>
          <p:cNvSpPr txBox="1"/>
          <p:nvPr/>
        </p:nvSpPr>
        <p:spPr>
          <a:xfrm>
            <a:off x="902004" y="886713"/>
            <a:ext cx="5970905" cy="7653762"/>
          </a:xfrm>
          <a:prstGeom prst="rect">
            <a:avLst/>
          </a:prstGeom>
        </p:spPr>
        <p:txBody>
          <a:bodyPr vert="horz" wrap="square" lIns="0" tIns="11430" rIns="0" bIns="0" rtlCol="0">
            <a:spAutoFit/>
          </a:bodyPr>
          <a:lstStyle/>
          <a:p>
            <a:pPr algn="ctr">
              <a:lnSpc>
                <a:spcPct val="100000"/>
              </a:lnSpc>
              <a:spcBef>
                <a:spcPts val="90"/>
              </a:spcBef>
            </a:pPr>
            <a:r>
              <a:rPr sz="1400" b="1" dirty="0">
                <a:latin typeface="Times New Roman"/>
                <a:cs typeface="Times New Roman"/>
              </a:rPr>
              <a:t>Chapter</a:t>
            </a:r>
            <a:r>
              <a:rPr sz="1400" b="1" spc="-80" dirty="0">
                <a:latin typeface="Times New Roman"/>
                <a:cs typeface="Times New Roman"/>
              </a:rPr>
              <a:t> </a:t>
            </a:r>
            <a:r>
              <a:rPr sz="1400" b="1" spc="-50" dirty="0">
                <a:latin typeface="Times New Roman"/>
                <a:cs typeface="Times New Roman"/>
              </a:rPr>
              <a:t>6</a:t>
            </a:r>
            <a:endParaRPr sz="1400" dirty="0">
              <a:latin typeface="Times New Roman"/>
              <a:cs typeface="Times New Roman"/>
            </a:endParaRPr>
          </a:p>
          <a:p>
            <a:pPr algn="ctr">
              <a:lnSpc>
                <a:spcPct val="100000"/>
              </a:lnSpc>
              <a:spcBef>
                <a:spcPts val="1130"/>
              </a:spcBef>
            </a:pPr>
            <a:r>
              <a:rPr sz="1400" b="1" dirty="0">
                <a:latin typeface="Times New Roman"/>
                <a:cs typeface="Times New Roman"/>
              </a:rPr>
              <a:t>Future</a:t>
            </a:r>
            <a:r>
              <a:rPr sz="1400" b="1" spc="-45" dirty="0">
                <a:latin typeface="Times New Roman"/>
                <a:cs typeface="Times New Roman"/>
              </a:rPr>
              <a:t> </a:t>
            </a:r>
            <a:r>
              <a:rPr sz="1400" b="1" dirty="0">
                <a:latin typeface="Times New Roman"/>
                <a:cs typeface="Times New Roman"/>
              </a:rPr>
              <a:t>Scope</a:t>
            </a:r>
            <a:r>
              <a:rPr sz="1400" b="1" spc="-20" dirty="0">
                <a:latin typeface="Times New Roman"/>
                <a:cs typeface="Times New Roman"/>
              </a:rPr>
              <a:t> </a:t>
            </a:r>
            <a:r>
              <a:rPr sz="1400" b="1" dirty="0">
                <a:latin typeface="Times New Roman"/>
                <a:cs typeface="Times New Roman"/>
              </a:rPr>
              <a:t>of</a:t>
            </a:r>
            <a:r>
              <a:rPr sz="1400" b="1" spc="-35" dirty="0">
                <a:latin typeface="Times New Roman"/>
                <a:cs typeface="Times New Roman"/>
              </a:rPr>
              <a:t> </a:t>
            </a:r>
            <a:r>
              <a:rPr sz="1400" b="1" dirty="0">
                <a:latin typeface="Times New Roman"/>
                <a:cs typeface="Times New Roman"/>
              </a:rPr>
              <a:t>the</a:t>
            </a:r>
            <a:r>
              <a:rPr sz="1400" b="1" spc="-30" dirty="0">
                <a:latin typeface="Times New Roman"/>
                <a:cs typeface="Times New Roman"/>
              </a:rPr>
              <a:t> </a:t>
            </a:r>
            <a:r>
              <a:rPr sz="1400" b="1" spc="-10" dirty="0">
                <a:latin typeface="Times New Roman"/>
                <a:cs typeface="Times New Roman"/>
              </a:rPr>
              <a:t>Project</a:t>
            </a: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75"/>
              </a:spcBef>
            </a:pPr>
            <a:endParaRPr sz="1400" dirty="0">
              <a:latin typeface="Times New Roman"/>
              <a:cs typeface="Times New Roman"/>
            </a:endParaRPr>
          </a:p>
          <a:p>
            <a:pPr marL="12700" marR="7620" algn="just">
              <a:lnSpc>
                <a:spcPct val="103400"/>
              </a:lnSpc>
            </a:pPr>
            <a:r>
              <a:rPr lang="en-US" sz="1200" dirty="0"/>
              <a:t>The </a:t>
            </a:r>
            <a:r>
              <a:rPr lang="en-US" sz="1200" b="1" dirty="0"/>
              <a:t>NIDHI-SETU</a:t>
            </a:r>
            <a:r>
              <a:rPr lang="en-US" sz="1200" dirty="0"/>
              <a:t> project establishes a strong digital platform for bridging innovators and government funding opportunities efficiently. While the current system meets essential needs such as user authentication, project submission, and real-time verification, there remains vast potential for future enhancement. Integrating AI-driven recommendations, advanced analytics, and multilingual support can further enhance accessibility, transparency, and scalability for broader national adoption.</a:t>
            </a:r>
            <a:endParaRPr sz="1200" dirty="0">
              <a:latin typeface="Times New Roman"/>
              <a:cs typeface="Times New Roman"/>
            </a:endParaRPr>
          </a:p>
          <a:p>
            <a:pPr>
              <a:lnSpc>
                <a:spcPct val="100000"/>
              </a:lnSpc>
              <a:spcBef>
                <a:spcPts val="330"/>
              </a:spcBef>
            </a:pPr>
            <a:endParaRPr sz="1200" dirty="0">
              <a:latin typeface="Times New Roman"/>
              <a:cs typeface="Times New Roman"/>
            </a:endParaRPr>
          </a:p>
          <a:p>
            <a:pPr marL="191770" indent="-179070" algn="just">
              <a:lnSpc>
                <a:spcPct val="100000"/>
              </a:lnSpc>
              <a:buAutoNum type="arabicPeriod"/>
              <a:tabLst>
                <a:tab pos="191770" algn="l"/>
              </a:tabLst>
            </a:pPr>
            <a:r>
              <a:rPr sz="1400" b="1" spc="-10" dirty="0">
                <a:latin typeface="Times New Roman"/>
                <a:cs typeface="Times New Roman"/>
              </a:rPr>
              <a:t>Integration</a:t>
            </a:r>
            <a:r>
              <a:rPr sz="1400" b="1" spc="-35" dirty="0">
                <a:latin typeface="Times New Roman"/>
                <a:cs typeface="Times New Roman"/>
              </a:rPr>
              <a:t> </a:t>
            </a:r>
            <a:r>
              <a:rPr sz="1400" b="1" dirty="0">
                <a:latin typeface="Times New Roman"/>
                <a:cs typeface="Times New Roman"/>
              </a:rPr>
              <a:t>of</a:t>
            </a:r>
            <a:r>
              <a:rPr sz="1400" b="1" spc="-15" dirty="0">
                <a:latin typeface="Times New Roman"/>
                <a:cs typeface="Times New Roman"/>
              </a:rPr>
              <a:t> </a:t>
            </a:r>
            <a:r>
              <a:rPr sz="1400" b="1" spc="-10" dirty="0">
                <a:latin typeface="Times New Roman"/>
                <a:cs typeface="Times New Roman"/>
              </a:rPr>
              <a:t>Secure</a:t>
            </a:r>
            <a:r>
              <a:rPr sz="1400" b="1" spc="-25" dirty="0">
                <a:latin typeface="Times New Roman"/>
                <a:cs typeface="Times New Roman"/>
              </a:rPr>
              <a:t> </a:t>
            </a:r>
            <a:r>
              <a:rPr sz="1400" b="1" dirty="0">
                <a:latin typeface="Times New Roman"/>
                <a:cs typeface="Times New Roman"/>
              </a:rPr>
              <a:t>Online</a:t>
            </a:r>
            <a:r>
              <a:rPr sz="1400" b="1" spc="-25" dirty="0">
                <a:latin typeface="Times New Roman"/>
                <a:cs typeface="Times New Roman"/>
              </a:rPr>
              <a:t> </a:t>
            </a:r>
            <a:r>
              <a:rPr sz="1400" b="1" dirty="0">
                <a:latin typeface="Times New Roman"/>
                <a:cs typeface="Times New Roman"/>
              </a:rPr>
              <a:t>Payment</a:t>
            </a:r>
            <a:r>
              <a:rPr sz="1400" b="1" spc="20" dirty="0">
                <a:latin typeface="Times New Roman"/>
                <a:cs typeface="Times New Roman"/>
              </a:rPr>
              <a:t> </a:t>
            </a:r>
            <a:r>
              <a:rPr sz="1400" b="1" spc="-10" dirty="0">
                <a:latin typeface="Times New Roman"/>
                <a:cs typeface="Times New Roman"/>
              </a:rPr>
              <a:t>Gateway</a:t>
            </a:r>
            <a:endParaRPr sz="1400" dirty="0">
              <a:latin typeface="Times New Roman"/>
              <a:cs typeface="Times New Roman"/>
            </a:endParaRPr>
          </a:p>
          <a:p>
            <a:pPr marL="12700" marR="6985" algn="just">
              <a:lnSpc>
                <a:spcPct val="103699"/>
              </a:lnSpc>
              <a:spcBef>
                <a:spcPts val="750"/>
              </a:spcBef>
            </a:pPr>
            <a:r>
              <a:rPr sz="1200" dirty="0">
                <a:latin typeface="Times New Roman"/>
                <a:cs typeface="Times New Roman"/>
              </a:rPr>
              <a:t>Currently,</a:t>
            </a:r>
            <a:r>
              <a:rPr sz="1200" spc="305" dirty="0">
                <a:latin typeface="Times New Roman"/>
                <a:cs typeface="Times New Roman"/>
              </a:rPr>
              <a:t> </a:t>
            </a:r>
            <a:r>
              <a:rPr sz="1200" dirty="0">
                <a:latin typeface="Times New Roman"/>
                <a:cs typeface="Times New Roman"/>
              </a:rPr>
              <a:t>the</a:t>
            </a:r>
            <a:r>
              <a:rPr sz="1200" spc="295" dirty="0">
                <a:latin typeface="Times New Roman"/>
                <a:cs typeface="Times New Roman"/>
              </a:rPr>
              <a:t> </a:t>
            </a:r>
            <a:r>
              <a:rPr sz="1200" dirty="0">
                <a:latin typeface="Times New Roman"/>
                <a:cs typeface="Times New Roman"/>
              </a:rPr>
              <a:t>system</a:t>
            </a:r>
            <a:r>
              <a:rPr sz="1200" spc="260" dirty="0">
                <a:latin typeface="Times New Roman"/>
                <a:cs typeface="Times New Roman"/>
              </a:rPr>
              <a:t> </a:t>
            </a:r>
            <a:r>
              <a:rPr sz="1200" dirty="0">
                <a:latin typeface="Times New Roman"/>
                <a:cs typeface="Times New Roman"/>
              </a:rPr>
              <a:t>allows</a:t>
            </a:r>
            <a:r>
              <a:rPr sz="1200" spc="285" dirty="0">
                <a:latin typeface="Times New Roman"/>
                <a:cs typeface="Times New Roman"/>
              </a:rPr>
              <a:t> </a:t>
            </a:r>
            <a:r>
              <a:rPr sz="1200" dirty="0">
                <a:latin typeface="Times New Roman"/>
                <a:cs typeface="Times New Roman"/>
              </a:rPr>
              <a:t>customers</a:t>
            </a:r>
            <a:r>
              <a:rPr sz="1200" spc="290" dirty="0">
                <a:latin typeface="Times New Roman"/>
                <a:cs typeface="Times New Roman"/>
              </a:rPr>
              <a:t> </a:t>
            </a:r>
            <a:r>
              <a:rPr sz="1200" dirty="0">
                <a:latin typeface="Times New Roman"/>
                <a:cs typeface="Times New Roman"/>
              </a:rPr>
              <a:t>to</a:t>
            </a:r>
            <a:r>
              <a:rPr sz="1200" spc="325" dirty="0">
                <a:latin typeface="Times New Roman"/>
                <a:cs typeface="Times New Roman"/>
              </a:rPr>
              <a:t> </a:t>
            </a:r>
            <a:r>
              <a:rPr sz="1200" dirty="0">
                <a:latin typeface="Times New Roman"/>
                <a:cs typeface="Times New Roman"/>
              </a:rPr>
              <a:t>book</a:t>
            </a:r>
            <a:r>
              <a:rPr sz="1200" spc="300" dirty="0">
                <a:latin typeface="Times New Roman"/>
                <a:cs typeface="Times New Roman"/>
              </a:rPr>
              <a:t> </a:t>
            </a:r>
            <a:r>
              <a:rPr sz="1200" dirty="0">
                <a:latin typeface="Times New Roman"/>
                <a:cs typeface="Times New Roman"/>
              </a:rPr>
              <a:t>vehicles</a:t>
            </a:r>
            <a:r>
              <a:rPr sz="1200" spc="290" dirty="0">
                <a:latin typeface="Times New Roman"/>
                <a:cs typeface="Times New Roman"/>
              </a:rPr>
              <a:t> </a:t>
            </a:r>
            <a:r>
              <a:rPr sz="1200" dirty="0">
                <a:latin typeface="Times New Roman"/>
                <a:cs typeface="Times New Roman"/>
              </a:rPr>
              <a:t>without</a:t>
            </a:r>
            <a:r>
              <a:rPr sz="1200" spc="320" dirty="0">
                <a:latin typeface="Times New Roman"/>
                <a:cs typeface="Times New Roman"/>
              </a:rPr>
              <a:t> </a:t>
            </a:r>
            <a:r>
              <a:rPr sz="1200" dirty="0">
                <a:latin typeface="Times New Roman"/>
                <a:cs typeface="Times New Roman"/>
              </a:rPr>
              <a:t>conducting</a:t>
            </a:r>
            <a:r>
              <a:rPr sz="1200" spc="300" dirty="0">
                <a:latin typeface="Times New Roman"/>
                <a:cs typeface="Times New Roman"/>
              </a:rPr>
              <a:t> </a:t>
            </a:r>
            <a:r>
              <a:rPr sz="1200" dirty="0">
                <a:latin typeface="Times New Roman"/>
                <a:cs typeface="Times New Roman"/>
              </a:rPr>
              <a:t>actual</a:t>
            </a:r>
            <a:r>
              <a:rPr sz="1200" spc="260" dirty="0">
                <a:latin typeface="Times New Roman"/>
                <a:cs typeface="Times New Roman"/>
              </a:rPr>
              <a:t> </a:t>
            </a:r>
            <a:r>
              <a:rPr sz="1200" spc="-10" dirty="0">
                <a:latin typeface="Times New Roman"/>
                <a:cs typeface="Times New Roman"/>
              </a:rPr>
              <a:t>online </a:t>
            </a:r>
            <a:r>
              <a:rPr sz="1200" dirty="0">
                <a:latin typeface="Times New Roman"/>
                <a:cs typeface="Times New Roman"/>
              </a:rPr>
              <a:t>transactions.</a:t>
            </a:r>
            <a:r>
              <a:rPr sz="1200" spc="-15"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spc="-10" dirty="0">
                <a:latin typeface="Times New Roman"/>
                <a:cs typeface="Times New Roman"/>
              </a:rPr>
              <a:t>integrating</a:t>
            </a:r>
            <a:r>
              <a:rPr sz="1200" spc="-25" dirty="0">
                <a:latin typeface="Times New Roman"/>
                <a:cs typeface="Times New Roman"/>
              </a:rPr>
              <a:t> </a:t>
            </a:r>
            <a:r>
              <a:rPr sz="1200" dirty="0">
                <a:latin typeface="Times New Roman"/>
                <a:cs typeface="Times New Roman"/>
              </a:rPr>
              <a:t>secure</a:t>
            </a:r>
            <a:r>
              <a:rPr sz="1200" spc="-25" dirty="0">
                <a:latin typeface="Times New Roman"/>
                <a:cs typeface="Times New Roman"/>
              </a:rPr>
              <a:t> </a:t>
            </a:r>
            <a:r>
              <a:rPr sz="1200" dirty="0">
                <a:latin typeface="Times New Roman"/>
                <a:cs typeface="Times New Roman"/>
              </a:rPr>
              <a:t>payment</a:t>
            </a:r>
            <a:r>
              <a:rPr sz="1200" spc="5" dirty="0">
                <a:latin typeface="Times New Roman"/>
                <a:cs typeface="Times New Roman"/>
              </a:rPr>
              <a:t> </a:t>
            </a:r>
            <a:r>
              <a:rPr sz="1200" spc="-10" dirty="0">
                <a:latin typeface="Times New Roman"/>
                <a:cs typeface="Times New Roman"/>
              </a:rPr>
              <a:t>gateways</a:t>
            </a:r>
            <a:r>
              <a:rPr sz="1200" spc="-35" dirty="0">
                <a:latin typeface="Times New Roman"/>
                <a:cs typeface="Times New Roman"/>
              </a:rPr>
              <a:t> </a:t>
            </a:r>
            <a:r>
              <a:rPr sz="1200" dirty="0">
                <a:latin typeface="Times New Roman"/>
                <a:cs typeface="Times New Roman"/>
              </a:rPr>
              <a:t>such</a:t>
            </a:r>
            <a:r>
              <a:rPr sz="1200" spc="-4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b="1" dirty="0">
                <a:latin typeface="Times New Roman"/>
                <a:cs typeface="Times New Roman"/>
              </a:rPr>
              <a:t>PayPal</a:t>
            </a:r>
            <a:r>
              <a:rPr sz="1200" b="1" spc="-45" dirty="0">
                <a:latin typeface="Times New Roman"/>
                <a:cs typeface="Times New Roman"/>
              </a:rPr>
              <a:t> </a:t>
            </a:r>
            <a:r>
              <a:rPr sz="1200" b="1" dirty="0">
                <a:latin typeface="Times New Roman"/>
                <a:cs typeface="Times New Roman"/>
              </a:rPr>
              <a:t>or</a:t>
            </a:r>
            <a:r>
              <a:rPr sz="1200" b="1" spc="-70" dirty="0">
                <a:latin typeface="Times New Roman"/>
                <a:cs typeface="Times New Roman"/>
              </a:rPr>
              <a:t> </a:t>
            </a:r>
            <a:r>
              <a:rPr sz="1200" b="1" spc="-10" dirty="0">
                <a:latin typeface="Times New Roman"/>
                <a:cs typeface="Times New Roman"/>
              </a:rPr>
              <a:t>UPI-</a:t>
            </a:r>
            <a:r>
              <a:rPr sz="1200" b="1" dirty="0">
                <a:latin typeface="Times New Roman"/>
                <a:cs typeface="Times New Roman"/>
              </a:rPr>
              <a:t>based</a:t>
            </a:r>
            <a:r>
              <a:rPr sz="1200" b="1" spc="-20" dirty="0">
                <a:latin typeface="Times New Roman"/>
                <a:cs typeface="Times New Roman"/>
              </a:rPr>
              <a:t> </a:t>
            </a:r>
            <a:r>
              <a:rPr sz="1200" b="1" dirty="0">
                <a:latin typeface="Times New Roman"/>
                <a:cs typeface="Times New Roman"/>
              </a:rPr>
              <a:t>systems</a:t>
            </a:r>
            <a:r>
              <a:rPr sz="1200" dirty="0">
                <a:latin typeface="Times New Roman"/>
                <a:cs typeface="Times New Roman"/>
              </a:rPr>
              <a:t>,</a:t>
            </a:r>
            <a:r>
              <a:rPr sz="1200" spc="-3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platform</a:t>
            </a:r>
            <a:r>
              <a:rPr sz="1200" spc="-6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handle</a:t>
            </a:r>
            <a:r>
              <a:rPr sz="1200" spc="-5" dirty="0">
                <a:latin typeface="Times New Roman"/>
                <a:cs typeface="Times New Roman"/>
              </a:rPr>
              <a:t> </a:t>
            </a:r>
            <a:r>
              <a:rPr sz="1200" b="1" spc="-25" dirty="0">
                <a:latin typeface="Times New Roman"/>
                <a:cs typeface="Times New Roman"/>
              </a:rPr>
              <a:t>real-</a:t>
            </a:r>
            <a:r>
              <a:rPr sz="1200" b="1" dirty="0">
                <a:latin typeface="Times New Roman"/>
                <a:cs typeface="Times New Roman"/>
              </a:rPr>
              <a:t>time</a:t>
            </a:r>
            <a:r>
              <a:rPr sz="1200" b="1" spc="-20" dirty="0">
                <a:latin typeface="Times New Roman"/>
                <a:cs typeface="Times New Roman"/>
              </a:rPr>
              <a:t> </a:t>
            </a:r>
            <a:r>
              <a:rPr sz="1200" b="1" dirty="0">
                <a:latin typeface="Times New Roman"/>
                <a:cs typeface="Times New Roman"/>
              </a:rPr>
              <a:t>financial</a:t>
            </a:r>
            <a:r>
              <a:rPr sz="1200" b="1" spc="-35" dirty="0">
                <a:latin typeface="Times New Roman"/>
                <a:cs typeface="Times New Roman"/>
              </a:rPr>
              <a:t> </a:t>
            </a:r>
            <a:r>
              <a:rPr sz="1200" b="1" dirty="0">
                <a:latin typeface="Times New Roman"/>
                <a:cs typeface="Times New Roman"/>
              </a:rPr>
              <a:t>transactions</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addition</a:t>
            </a:r>
            <a:r>
              <a:rPr sz="1200" spc="-40" dirty="0">
                <a:latin typeface="Times New Roman"/>
                <a:cs typeface="Times New Roman"/>
              </a:rPr>
              <a:t> </a:t>
            </a:r>
            <a:r>
              <a:rPr sz="1200" dirty="0">
                <a:latin typeface="Times New Roman"/>
                <a:cs typeface="Times New Roman"/>
              </a:rPr>
              <a:t>will</a:t>
            </a:r>
            <a:r>
              <a:rPr sz="1200" spc="-35" dirty="0">
                <a:latin typeface="Times New Roman"/>
                <a:cs typeface="Times New Roman"/>
              </a:rPr>
              <a:t> </a:t>
            </a:r>
            <a:r>
              <a:rPr sz="1200" dirty="0">
                <a:latin typeface="Times New Roman"/>
                <a:cs typeface="Times New Roman"/>
              </a:rPr>
              <a:t>allow</a:t>
            </a:r>
            <a:r>
              <a:rPr sz="1200" spc="-20"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pay</a:t>
            </a:r>
            <a:r>
              <a:rPr sz="1200" spc="-65" dirty="0">
                <a:latin typeface="Times New Roman"/>
                <a:cs typeface="Times New Roman"/>
              </a:rPr>
              <a:t> </a:t>
            </a:r>
            <a:r>
              <a:rPr sz="1200" spc="-10" dirty="0">
                <a:latin typeface="Times New Roman"/>
                <a:cs typeface="Times New Roman"/>
              </a:rPr>
              <a:t>while </a:t>
            </a:r>
            <a:r>
              <a:rPr sz="1200" dirty="0">
                <a:latin typeface="Times New Roman"/>
                <a:cs typeface="Times New Roman"/>
              </a:rPr>
              <a:t>booking,</a:t>
            </a:r>
            <a:r>
              <a:rPr sz="1200" spc="-25" dirty="0">
                <a:latin typeface="Times New Roman"/>
                <a:cs typeface="Times New Roman"/>
              </a:rPr>
              <a:t> </a:t>
            </a:r>
            <a:r>
              <a:rPr sz="1200" dirty="0">
                <a:latin typeface="Times New Roman"/>
                <a:cs typeface="Times New Roman"/>
              </a:rPr>
              <a:t>automate</a:t>
            </a:r>
            <a:r>
              <a:rPr sz="1200" spc="-35" dirty="0">
                <a:latin typeface="Times New Roman"/>
                <a:cs typeface="Times New Roman"/>
              </a:rPr>
              <a:t> </a:t>
            </a:r>
            <a:r>
              <a:rPr sz="1200" dirty="0">
                <a:latin typeface="Times New Roman"/>
                <a:cs typeface="Times New Roman"/>
              </a:rPr>
              <a:t>payment</a:t>
            </a:r>
            <a:r>
              <a:rPr sz="1200" spc="-15" dirty="0">
                <a:latin typeface="Times New Roman"/>
                <a:cs typeface="Times New Roman"/>
              </a:rPr>
              <a:t> </a:t>
            </a:r>
            <a:r>
              <a:rPr sz="1200" dirty="0">
                <a:latin typeface="Times New Roman"/>
                <a:cs typeface="Times New Roman"/>
              </a:rPr>
              <a:t>confirmation,</a:t>
            </a:r>
            <a:r>
              <a:rPr sz="1200" spc="-2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generate</a:t>
            </a:r>
            <a:r>
              <a:rPr sz="1200" spc="-55" dirty="0">
                <a:latin typeface="Times New Roman"/>
                <a:cs typeface="Times New Roman"/>
              </a:rPr>
              <a:t> </a:t>
            </a:r>
            <a:r>
              <a:rPr sz="1200" dirty="0">
                <a:latin typeface="Times New Roman"/>
                <a:cs typeface="Times New Roman"/>
              </a:rPr>
              <a:t>digital</a:t>
            </a:r>
            <a:r>
              <a:rPr sz="1200" spc="-30" dirty="0">
                <a:latin typeface="Times New Roman"/>
                <a:cs typeface="Times New Roman"/>
              </a:rPr>
              <a:t> </a:t>
            </a:r>
            <a:r>
              <a:rPr sz="1200" dirty="0">
                <a:latin typeface="Times New Roman"/>
                <a:cs typeface="Times New Roman"/>
              </a:rPr>
              <a:t>invoices.</a:t>
            </a:r>
            <a:r>
              <a:rPr sz="1200" spc="-25" dirty="0">
                <a:latin typeface="Times New Roman"/>
                <a:cs typeface="Times New Roman"/>
              </a:rPr>
              <a:t> </a:t>
            </a:r>
            <a:r>
              <a:rPr sz="1200" dirty="0">
                <a:latin typeface="Times New Roman"/>
                <a:cs typeface="Times New Roman"/>
              </a:rPr>
              <a:t>Furthermore,</a:t>
            </a:r>
            <a:r>
              <a:rPr sz="1200" spc="-25" dirty="0">
                <a:latin typeface="Times New Roman"/>
                <a:cs typeface="Times New Roman"/>
              </a:rPr>
              <a:t> </a:t>
            </a:r>
            <a:r>
              <a:rPr sz="1200" spc="-10" dirty="0">
                <a:latin typeface="Times New Roman"/>
                <a:cs typeface="Times New Roman"/>
              </a:rPr>
              <a:t>integrating </a:t>
            </a:r>
            <a:r>
              <a:rPr sz="1200" dirty="0">
                <a:latin typeface="Times New Roman"/>
                <a:cs typeface="Times New Roman"/>
              </a:rPr>
              <a:t>multiple</a:t>
            </a:r>
            <a:r>
              <a:rPr sz="1200" spc="75" dirty="0">
                <a:latin typeface="Times New Roman"/>
                <a:cs typeface="Times New Roman"/>
              </a:rPr>
              <a:t> </a:t>
            </a:r>
            <a:r>
              <a:rPr sz="1200" dirty="0">
                <a:latin typeface="Times New Roman"/>
                <a:cs typeface="Times New Roman"/>
              </a:rPr>
              <a:t>payment</a:t>
            </a:r>
            <a:r>
              <a:rPr sz="1200" spc="105" dirty="0">
                <a:latin typeface="Times New Roman"/>
                <a:cs typeface="Times New Roman"/>
              </a:rPr>
              <a:t> </a:t>
            </a:r>
            <a:r>
              <a:rPr sz="1200" dirty="0">
                <a:latin typeface="Times New Roman"/>
                <a:cs typeface="Times New Roman"/>
              </a:rPr>
              <a:t>options</a:t>
            </a:r>
            <a:r>
              <a:rPr sz="1200" spc="70" dirty="0">
                <a:latin typeface="Times New Roman"/>
                <a:cs typeface="Times New Roman"/>
              </a:rPr>
              <a:t> </a:t>
            </a:r>
            <a:r>
              <a:rPr sz="1200" dirty="0">
                <a:latin typeface="Times New Roman"/>
                <a:cs typeface="Times New Roman"/>
              </a:rPr>
              <a:t>will</a:t>
            </a:r>
            <a:r>
              <a:rPr sz="1200" spc="65" dirty="0">
                <a:latin typeface="Times New Roman"/>
                <a:cs typeface="Times New Roman"/>
              </a:rPr>
              <a:t> </a:t>
            </a:r>
            <a:r>
              <a:rPr sz="1200" dirty="0">
                <a:latin typeface="Times New Roman"/>
                <a:cs typeface="Times New Roman"/>
              </a:rPr>
              <a:t>enhance</a:t>
            </a:r>
            <a:r>
              <a:rPr sz="1200" spc="100" dirty="0">
                <a:latin typeface="Times New Roman"/>
                <a:cs typeface="Times New Roman"/>
              </a:rPr>
              <a:t> </a:t>
            </a:r>
            <a:r>
              <a:rPr sz="1200" dirty="0">
                <a:latin typeface="Times New Roman"/>
                <a:cs typeface="Times New Roman"/>
              </a:rPr>
              <a:t>flexibility</a:t>
            </a:r>
            <a:r>
              <a:rPr sz="1200" spc="80" dirty="0">
                <a:latin typeface="Times New Roman"/>
                <a:cs typeface="Times New Roman"/>
              </a:rPr>
              <a:t> </a:t>
            </a:r>
            <a:r>
              <a:rPr sz="1200" dirty="0">
                <a:latin typeface="Times New Roman"/>
                <a:cs typeface="Times New Roman"/>
              </a:rPr>
              <a:t>for</a:t>
            </a:r>
            <a:r>
              <a:rPr sz="1200" spc="85" dirty="0">
                <a:latin typeface="Times New Roman"/>
                <a:cs typeface="Times New Roman"/>
              </a:rPr>
              <a:t> </a:t>
            </a:r>
            <a:r>
              <a:rPr sz="1200" dirty="0">
                <a:latin typeface="Times New Roman"/>
                <a:cs typeface="Times New Roman"/>
              </a:rPr>
              <a:t>users</a:t>
            </a:r>
            <a:r>
              <a:rPr sz="1200" spc="70"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dirty="0">
                <a:latin typeface="Times New Roman"/>
                <a:cs typeface="Times New Roman"/>
              </a:rPr>
              <a:t>make</a:t>
            </a:r>
            <a:r>
              <a:rPr sz="1200" spc="80" dirty="0">
                <a:latin typeface="Times New Roman"/>
                <a:cs typeface="Times New Roman"/>
              </a:rPr>
              <a:t> </a:t>
            </a:r>
            <a:r>
              <a:rPr sz="1200" dirty="0">
                <a:latin typeface="Times New Roman"/>
                <a:cs typeface="Times New Roman"/>
              </a:rPr>
              <a:t>the</a:t>
            </a:r>
            <a:r>
              <a:rPr sz="1200" spc="75"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spc="-10" dirty="0">
                <a:latin typeface="Times New Roman"/>
                <a:cs typeface="Times New Roman"/>
              </a:rPr>
              <a:t>commercially </a:t>
            </a:r>
            <a:r>
              <a:rPr sz="1200" dirty="0">
                <a:latin typeface="Times New Roman"/>
                <a:cs typeface="Times New Roman"/>
              </a:rPr>
              <a:t>viable</a:t>
            </a:r>
            <a:r>
              <a:rPr sz="1200" spc="-5" dirty="0">
                <a:latin typeface="Times New Roman"/>
                <a:cs typeface="Times New Roman"/>
              </a:rPr>
              <a:t> </a:t>
            </a:r>
            <a:r>
              <a:rPr sz="1200" dirty="0">
                <a:latin typeface="Times New Roman"/>
                <a:cs typeface="Times New Roman"/>
              </a:rPr>
              <a:t>for</a:t>
            </a:r>
            <a:r>
              <a:rPr sz="1200" spc="-20" dirty="0">
                <a:latin typeface="Times New Roman"/>
                <a:cs typeface="Times New Roman"/>
              </a:rPr>
              <a:t> larger-</a:t>
            </a:r>
            <a:r>
              <a:rPr sz="1200" dirty="0">
                <a:latin typeface="Times New Roman"/>
                <a:cs typeface="Times New Roman"/>
              </a:rPr>
              <a:t>scale</a:t>
            </a:r>
            <a:r>
              <a:rPr sz="1200" spc="-30" dirty="0">
                <a:latin typeface="Times New Roman"/>
                <a:cs typeface="Times New Roman"/>
              </a:rPr>
              <a:t> </a:t>
            </a:r>
            <a:r>
              <a:rPr sz="1200" spc="-10" dirty="0">
                <a:latin typeface="Times New Roman"/>
                <a:cs typeface="Times New Roman"/>
              </a:rPr>
              <a:t>operations.</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05"/>
              </a:spcBef>
            </a:pPr>
            <a:endParaRPr sz="1200" dirty="0">
              <a:latin typeface="Times New Roman"/>
              <a:cs typeface="Times New Roman"/>
            </a:endParaRPr>
          </a:p>
          <a:p>
            <a:pPr marL="191770" indent="-179070" algn="just">
              <a:lnSpc>
                <a:spcPct val="100000"/>
              </a:lnSpc>
              <a:buAutoNum type="arabicPeriod" startAt="2"/>
              <a:tabLst>
                <a:tab pos="191770" algn="l"/>
              </a:tabLst>
            </a:pPr>
            <a:r>
              <a:rPr sz="1400" b="1" spc="-10" dirty="0">
                <a:latin typeface="Times New Roman"/>
                <a:cs typeface="Times New Roman"/>
              </a:rPr>
              <a:t>GPS-</a:t>
            </a:r>
            <a:r>
              <a:rPr sz="1400" b="1" dirty="0">
                <a:latin typeface="Times New Roman"/>
                <a:cs typeface="Times New Roman"/>
              </a:rPr>
              <a:t>Based</a:t>
            </a:r>
            <a:r>
              <a:rPr sz="1400" b="1" spc="-45" dirty="0">
                <a:latin typeface="Times New Roman"/>
                <a:cs typeface="Times New Roman"/>
              </a:rPr>
              <a:t> </a:t>
            </a:r>
            <a:r>
              <a:rPr sz="1400" b="1" spc="-25" dirty="0">
                <a:latin typeface="Times New Roman"/>
                <a:cs typeface="Times New Roman"/>
              </a:rPr>
              <a:t>Vehicle</a:t>
            </a:r>
            <a:r>
              <a:rPr sz="1400" b="1" spc="-35" dirty="0">
                <a:latin typeface="Times New Roman"/>
                <a:cs typeface="Times New Roman"/>
              </a:rPr>
              <a:t> </a:t>
            </a:r>
            <a:r>
              <a:rPr sz="1400" b="1" spc="-20" dirty="0">
                <a:latin typeface="Times New Roman"/>
                <a:cs typeface="Times New Roman"/>
              </a:rPr>
              <a:t>Tracking</a:t>
            </a:r>
            <a:r>
              <a:rPr sz="1400" b="1" spc="-15" dirty="0">
                <a:latin typeface="Times New Roman"/>
                <a:cs typeface="Times New Roman"/>
              </a:rPr>
              <a:t> </a:t>
            </a:r>
            <a:r>
              <a:rPr sz="1400" b="1" dirty="0">
                <a:latin typeface="Times New Roman"/>
                <a:cs typeface="Times New Roman"/>
              </a:rPr>
              <a:t>and</a:t>
            </a:r>
            <a:r>
              <a:rPr sz="1400" b="1" spc="-15" dirty="0">
                <a:latin typeface="Times New Roman"/>
                <a:cs typeface="Times New Roman"/>
              </a:rPr>
              <a:t> </a:t>
            </a:r>
            <a:r>
              <a:rPr sz="1400" b="1" dirty="0">
                <a:latin typeface="Times New Roman"/>
                <a:cs typeface="Times New Roman"/>
              </a:rPr>
              <a:t>Fleet</a:t>
            </a:r>
            <a:r>
              <a:rPr sz="1400" b="1" spc="-5" dirty="0">
                <a:latin typeface="Times New Roman"/>
                <a:cs typeface="Times New Roman"/>
              </a:rPr>
              <a:t> </a:t>
            </a:r>
            <a:r>
              <a:rPr sz="1400" b="1" spc="-10" dirty="0">
                <a:latin typeface="Times New Roman"/>
                <a:cs typeface="Times New Roman"/>
              </a:rPr>
              <a:t>Management</a:t>
            </a:r>
            <a:endParaRPr sz="1400" dirty="0">
              <a:latin typeface="Times New Roman"/>
              <a:cs typeface="Times New Roman"/>
            </a:endParaRPr>
          </a:p>
          <a:p>
            <a:pPr marL="12700" marR="10160" algn="just">
              <a:lnSpc>
                <a:spcPct val="103400"/>
              </a:lnSpc>
              <a:spcBef>
                <a:spcPts val="775"/>
              </a:spcBef>
            </a:pPr>
            <a:r>
              <a:rPr lang="en-US" sz="1200" dirty="0"/>
              <a:t>Integrating a </a:t>
            </a:r>
            <a:r>
              <a:rPr lang="en-US" sz="1200" b="1" dirty="0"/>
              <a:t>real-time project tracking system</a:t>
            </a:r>
            <a:r>
              <a:rPr lang="en-US" sz="1200" dirty="0"/>
              <a:t> in </a:t>
            </a:r>
            <a:r>
              <a:rPr lang="en-US" sz="1200" b="1" dirty="0"/>
              <a:t>NIDHI-SETU</a:t>
            </a:r>
            <a:r>
              <a:rPr lang="en-US" sz="1200" dirty="0"/>
              <a:t> can enhance transparency and efficiency. Innovators can monitor the status of their funding applications, while administrators gain better visibility into project progress. Adding automated alerts and dashboards will strengthen trust, ensure accountability, and improve overall system management.</a:t>
            </a:r>
            <a:endParaRPr sz="1200" dirty="0">
              <a:latin typeface="Times New Roman"/>
              <a:cs typeface="Times New Roman"/>
            </a:endParaRPr>
          </a:p>
          <a:p>
            <a:pPr>
              <a:lnSpc>
                <a:spcPct val="100000"/>
              </a:lnSpc>
              <a:spcBef>
                <a:spcPts val="330"/>
              </a:spcBef>
            </a:pPr>
            <a:endParaRPr sz="1200" dirty="0">
              <a:latin typeface="Times New Roman"/>
              <a:cs typeface="Times New Roman"/>
            </a:endParaRPr>
          </a:p>
          <a:p>
            <a:pPr marL="191770" indent="-179070" algn="just">
              <a:lnSpc>
                <a:spcPct val="100000"/>
              </a:lnSpc>
              <a:buAutoNum type="arabicPeriod" startAt="3"/>
              <a:tabLst>
                <a:tab pos="191770" algn="l"/>
              </a:tabLst>
            </a:pPr>
            <a:r>
              <a:rPr sz="1400" b="1" dirty="0">
                <a:latin typeface="Times New Roman"/>
                <a:cs typeface="Times New Roman"/>
              </a:rPr>
              <a:t>Development</a:t>
            </a:r>
            <a:r>
              <a:rPr sz="1400" b="1" spc="-70" dirty="0">
                <a:latin typeface="Times New Roman"/>
                <a:cs typeface="Times New Roman"/>
              </a:rPr>
              <a:t> </a:t>
            </a:r>
            <a:r>
              <a:rPr sz="1400" b="1" dirty="0">
                <a:latin typeface="Times New Roman"/>
                <a:cs typeface="Times New Roman"/>
              </a:rPr>
              <a:t>of</a:t>
            </a:r>
            <a:r>
              <a:rPr sz="1400" b="1" spc="-25" dirty="0">
                <a:latin typeface="Times New Roman"/>
                <a:cs typeface="Times New Roman"/>
              </a:rPr>
              <a:t> </a:t>
            </a:r>
            <a:r>
              <a:rPr sz="1400" b="1" dirty="0">
                <a:latin typeface="Times New Roman"/>
                <a:cs typeface="Times New Roman"/>
              </a:rPr>
              <a:t>Dedicated</a:t>
            </a:r>
            <a:r>
              <a:rPr sz="1400" b="1" spc="-45" dirty="0">
                <a:latin typeface="Times New Roman"/>
                <a:cs typeface="Times New Roman"/>
              </a:rPr>
              <a:t> </a:t>
            </a:r>
            <a:r>
              <a:rPr sz="1400" b="1" spc="-10" dirty="0">
                <a:latin typeface="Times New Roman"/>
                <a:cs typeface="Times New Roman"/>
              </a:rPr>
              <a:t>Mobile</a:t>
            </a:r>
            <a:r>
              <a:rPr sz="1400" b="1" spc="-80" dirty="0">
                <a:latin typeface="Times New Roman"/>
                <a:cs typeface="Times New Roman"/>
              </a:rPr>
              <a:t> </a:t>
            </a:r>
            <a:r>
              <a:rPr sz="1400" b="1" spc="-10" dirty="0">
                <a:latin typeface="Times New Roman"/>
                <a:cs typeface="Times New Roman"/>
              </a:rPr>
              <a:t>Applications</a:t>
            </a:r>
            <a:endParaRPr sz="1400" dirty="0">
              <a:latin typeface="Times New Roman"/>
              <a:cs typeface="Times New Roman"/>
            </a:endParaRPr>
          </a:p>
          <a:p>
            <a:pPr marL="12700" marR="5080" algn="just">
              <a:lnSpc>
                <a:spcPct val="103400"/>
              </a:lnSpc>
              <a:spcBef>
                <a:spcPts val="775"/>
              </a:spcBef>
            </a:pPr>
            <a:r>
              <a:rPr sz="1200" dirty="0">
                <a:latin typeface="Times New Roman"/>
                <a:cs typeface="Times New Roman"/>
              </a:rPr>
              <a:t>Although</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current</a:t>
            </a:r>
            <a:r>
              <a:rPr sz="1200" spc="-10" dirty="0">
                <a:latin typeface="Times New Roman"/>
                <a:cs typeface="Times New Roman"/>
              </a:rPr>
              <a:t> </a:t>
            </a:r>
            <a:r>
              <a:rPr sz="1200" dirty="0">
                <a:latin typeface="Times New Roman"/>
                <a:cs typeface="Times New Roman"/>
              </a:rPr>
              <a:t>web</a:t>
            </a:r>
            <a:r>
              <a:rPr sz="1200" spc="-30" dirty="0">
                <a:latin typeface="Times New Roman"/>
                <a:cs typeface="Times New Roman"/>
              </a:rPr>
              <a:t> </a:t>
            </a:r>
            <a:r>
              <a:rPr sz="1200" dirty="0">
                <a:latin typeface="Times New Roman"/>
                <a:cs typeface="Times New Roman"/>
              </a:rPr>
              <a:t>application</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responsive</a:t>
            </a:r>
            <a:r>
              <a:rPr sz="1200" spc="-2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mobile</a:t>
            </a:r>
            <a:r>
              <a:rPr sz="1200" spc="-15" dirty="0">
                <a:latin typeface="Times New Roman"/>
                <a:cs typeface="Times New Roman"/>
              </a:rPr>
              <a:t> </a:t>
            </a:r>
            <a:r>
              <a:rPr sz="1200" dirty="0">
                <a:latin typeface="Times New Roman"/>
                <a:cs typeface="Times New Roman"/>
              </a:rPr>
              <a:t>devices, developing</a:t>
            </a:r>
            <a:r>
              <a:rPr sz="1200" spc="25" dirty="0">
                <a:latin typeface="Times New Roman"/>
                <a:cs typeface="Times New Roman"/>
              </a:rPr>
              <a:t> </a:t>
            </a:r>
            <a:r>
              <a:rPr sz="1200" b="1" dirty="0">
                <a:latin typeface="Times New Roman"/>
                <a:cs typeface="Times New Roman"/>
              </a:rPr>
              <a:t>native</a:t>
            </a:r>
            <a:r>
              <a:rPr sz="1200" b="1" spc="-10" dirty="0">
                <a:latin typeface="Times New Roman"/>
                <a:cs typeface="Times New Roman"/>
              </a:rPr>
              <a:t> mobile </a:t>
            </a:r>
            <a:r>
              <a:rPr sz="1200" b="1" dirty="0">
                <a:latin typeface="Times New Roman"/>
                <a:cs typeface="Times New Roman"/>
              </a:rPr>
              <a:t>applications</a:t>
            </a:r>
            <a:r>
              <a:rPr sz="1200" b="1" spc="-75" dirty="0">
                <a:latin typeface="Times New Roman"/>
                <a:cs typeface="Times New Roman"/>
              </a:rPr>
              <a:t> </a:t>
            </a:r>
            <a:r>
              <a:rPr sz="1200" b="1" spc="-20" dirty="0">
                <a:latin typeface="Times New Roman"/>
                <a:cs typeface="Times New Roman"/>
              </a:rPr>
              <a:t>for</a:t>
            </a:r>
            <a:r>
              <a:rPr sz="1200" b="1" spc="-55" dirty="0">
                <a:latin typeface="Times New Roman"/>
                <a:cs typeface="Times New Roman"/>
              </a:rPr>
              <a:t> </a:t>
            </a:r>
            <a:r>
              <a:rPr sz="1200" b="1" dirty="0">
                <a:latin typeface="Times New Roman"/>
                <a:cs typeface="Times New Roman"/>
              </a:rPr>
              <a:t>Android and</a:t>
            </a:r>
            <a:r>
              <a:rPr sz="1200" b="1" spc="-5" dirty="0">
                <a:latin typeface="Times New Roman"/>
                <a:cs typeface="Times New Roman"/>
              </a:rPr>
              <a:t> </a:t>
            </a:r>
            <a:r>
              <a:rPr sz="1200" b="1" dirty="0">
                <a:latin typeface="Times New Roman"/>
                <a:cs typeface="Times New Roman"/>
              </a:rPr>
              <a:t>iOS</a:t>
            </a:r>
            <a:r>
              <a:rPr sz="1200" b="1" spc="2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provide</a:t>
            </a:r>
            <a:r>
              <a:rPr sz="1200" spc="-1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smoother</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dirty="0">
                <a:latin typeface="Times New Roman"/>
                <a:cs typeface="Times New Roman"/>
              </a:rPr>
              <a:t>optimized</a:t>
            </a:r>
            <a:r>
              <a:rPr sz="1200" spc="-5" dirty="0">
                <a:latin typeface="Times New Roman"/>
                <a:cs typeface="Times New Roman"/>
              </a:rPr>
              <a:t> </a:t>
            </a:r>
            <a:r>
              <a:rPr sz="1200" dirty="0">
                <a:latin typeface="Times New Roman"/>
                <a:cs typeface="Times New Roman"/>
              </a:rPr>
              <a:t>user </a:t>
            </a:r>
            <a:r>
              <a:rPr sz="1200" spc="-10" dirty="0">
                <a:latin typeface="Times New Roman"/>
                <a:cs typeface="Times New Roman"/>
              </a:rPr>
              <a:t>experience. Mobile</a:t>
            </a:r>
            <a:r>
              <a:rPr sz="1200" spc="-25" dirty="0">
                <a:latin typeface="Times New Roman"/>
                <a:cs typeface="Times New Roman"/>
              </a:rPr>
              <a:t> </a:t>
            </a:r>
            <a:r>
              <a:rPr sz="1200" dirty="0">
                <a:latin typeface="Times New Roman"/>
                <a:cs typeface="Times New Roman"/>
              </a:rPr>
              <a:t>apps</a:t>
            </a:r>
            <a:r>
              <a:rPr sz="1200" spc="-25"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b="1" dirty="0">
                <a:latin typeface="Times New Roman"/>
                <a:cs typeface="Times New Roman"/>
              </a:rPr>
              <a:t>push</a:t>
            </a:r>
            <a:r>
              <a:rPr sz="1200" b="1" spc="-10" dirty="0">
                <a:latin typeface="Times New Roman"/>
                <a:cs typeface="Times New Roman"/>
              </a:rPr>
              <a:t> notifications</a:t>
            </a:r>
            <a:r>
              <a:rPr sz="1200" b="1" spc="-1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booking</a:t>
            </a:r>
            <a:r>
              <a:rPr sz="1200" spc="-20" dirty="0">
                <a:latin typeface="Times New Roman"/>
                <a:cs typeface="Times New Roman"/>
              </a:rPr>
              <a:t> </a:t>
            </a:r>
            <a:r>
              <a:rPr sz="1200" spc="-10" dirty="0">
                <a:latin typeface="Times New Roman"/>
                <a:cs typeface="Times New Roman"/>
              </a:rPr>
              <a:t>confirmations,</a:t>
            </a:r>
            <a:r>
              <a:rPr sz="1200" spc="-5" dirty="0">
                <a:latin typeface="Times New Roman"/>
                <a:cs typeface="Times New Roman"/>
              </a:rPr>
              <a:t> </a:t>
            </a:r>
            <a:r>
              <a:rPr sz="1200" spc="-10" dirty="0">
                <a:latin typeface="Times New Roman"/>
                <a:cs typeface="Times New Roman"/>
              </a:rPr>
              <a:t>reminders,</a:t>
            </a:r>
            <a:r>
              <a:rPr sz="1200" spc="-5" dirty="0">
                <a:latin typeface="Times New Roman"/>
                <a:cs typeface="Times New Roman"/>
              </a:rPr>
              <a:t> </a:t>
            </a:r>
            <a:r>
              <a:rPr sz="1200" dirty="0">
                <a:latin typeface="Times New Roman"/>
                <a:cs typeface="Times New Roman"/>
              </a:rPr>
              <a:t>discounts,</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promotions.</a:t>
            </a:r>
            <a:r>
              <a:rPr sz="1200" spc="-35" dirty="0">
                <a:latin typeface="Times New Roman"/>
                <a:cs typeface="Times New Roman"/>
              </a:rPr>
              <a:t> </a:t>
            </a:r>
            <a:r>
              <a:rPr sz="1200" spc="-20" dirty="0">
                <a:latin typeface="Times New Roman"/>
                <a:cs typeface="Times New Roman"/>
              </a:rPr>
              <a:t>Offline</a:t>
            </a:r>
            <a:r>
              <a:rPr sz="1200" spc="-45" dirty="0">
                <a:latin typeface="Times New Roman"/>
                <a:cs typeface="Times New Roman"/>
              </a:rPr>
              <a:t> </a:t>
            </a:r>
            <a:r>
              <a:rPr sz="1200" spc="-10" dirty="0">
                <a:latin typeface="Times New Roman"/>
                <a:cs typeface="Times New Roman"/>
              </a:rPr>
              <a:t>access</a:t>
            </a:r>
            <a:r>
              <a:rPr sz="1200" spc="-30" dirty="0">
                <a:latin typeface="Times New Roman"/>
                <a:cs typeface="Times New Roman"/>
              </a:rPr>
              <a:t> </a:t>
            </a:r>
            <a:r>
              <a:rPr sz="1200" spc="-10" dirty="0">
                <a:latin typeface="Times New Roman"/>
                <a:cs typeface="Times New Roman"/>
              </a:rPr>
              <a:t>for</a:t>
            </a:r>
            <a:r>
              <a:rPr sz="1200" spc="-35" dirty="0">
                <a:latin typeface="Times New Roman"/>
                <a:cs typeface="Times New Roman"/>
              </a:rPr>
              <a:t> </a:t>
            </a:r>
            <a:r>
              <a:rPr sz="1200" spc="-10" dirty="0">
                <a:latin typeface="Times New Roman"/>
                <a:cs typeface="Times New Roman"/>
              </a:rPr>
              <a:t>vehicle</a:t>
            </a:r>
            <a:r>
              <a:rPr sz="1200" spc="-20" dirty="0">
                <a:latin typeface="Times New Roman"/>
                <a:cs typeface="Times New Roman"/>
              </a:rPr>
              <a:t> </a:t>
            </a:r>
            <a:r>
              <a:rPr sz="1200" spc="-10" dirty="0">
                <a:latin typeface="Times New Roman"/>
                <a:cs typeface="Times New Roman"/>
              </a:rPr>
              <a:t>information</a:t>
            </a:r>
            <a:r>
              <a:rPr sz="1200" spc="-65" dirty="0">
                <a:latin typeface="Times New Roman"/>
                <a:cs typeface="Times New Roman"/>
              </a:rPr>
              <a:t> </a:t>
            </a:r>
            <a:r>
              <a:rPr sz="1200" spc="-20" dirty="0">
                <a:latin typeface="Times New Roman"/>
                <a:cs typeface="Times New Roman"/>
              </a:rPr>
              <a:t>and</a:t>
            </a:r>
            <a:r>
              <a:rPr sz="1200" spc="-40" dirty="0">
                <a:latin typeface="Times New Roman"/>
                <a:cs typeface="Times New Roman"/>
              </a:rPr>
              <a:t> </a:t>
            </a:r>
            <a:r>
              <a:rPr sz="1200" spc="-10" dirty="0">
                <a:latin typeface="Times New Roman"/>
                <a:cs typeface="Times New Roman"/>
              </a:rPr>
              <a:t>quick</a:t>
            </a:r>
            <a:r>
              <a:rPr sz="1200" spc="-40" dirty="0">
                <a:latin typeface="Times New Roman"/>
                <a:cs typeface="Times New Roman"/>
              </a:rPr>
              <a:t> </a:t>
            </a:r>
            <a:r>
              <a:rPr sz="1200" spc="-10" dirty="0">
                <a:latin typeface="Times New Roman"/>
                <a:cs typeface="Times New Roman"/>
              </a:rPr>
              <a:t>booking</a:t>
            </a:r>
            <a:r>
              <a:rPr sz="1200" spc="-40" dirty="0">
                <a:latin typeface="Times New Roman"/>
                <a:cs typeface="Times New Roman"/>
              </a:rPr>
              <a:t> </a:t>
            </a:r>
            <a:r>
              <a:rPr sz="1200" spc="-10" dirty="0">
                <a:latin typeface="Times New Roman"/>
                <a:cs typeface="Times New Roman"/>
              </a:rPr>
              <a:t>options</a:t>
            </a:r>
            <a:r>
              <a:rPr sz="1200" spc="-55" dirty="0">
                <a:latin typeface="Times New Roman"/>
                <a:cs typeface="Times New Roman"/>
              </a:rPr>
              <a:t> </a:t>
            </a:r>
            <a:r>
              <a:rPr sz="1200" spc="-10" dirty="0">
                <a:latin typeface="Times New Roman"/>
                <a:cs typeface="Times New Roman"/>
              </a:rPr>
              <a:t>can</a:t>
            </a:r>
            <a:r>
              <a:rPr sz="1200" spc="-65" dirty="0">
                <a:latin typeface="Times New Roman"/>
                <a:cs typeface="Times New Roman"/>
              </a:rPr>
              <a:t> </a:t>
            </a:r>
            <a:r>
              <a:rPr sz="1200" spc="-10" dirty="0">
                <a:latin typeface="Times New Roman"/>
                <a:cs typeface="Times New Roman"/>
              </a:rPr>
              <a:t>also</a:t>
            </a:r>
            <a:r>
              <a:rPr sz="1200" spc="-20" dirty="0">
                <a:latin typeface="Times New Roman"/>
                <a:cs typeface="Times New Roman"/>
              </a:rPr>
              <a:t> </a:t>
            </a:r>
            <a:r>
              <a:rPr sz="1200" spc="-10" dirty="0">
                <a:latin typeface="Times New Roman"/>
                <a:cs typeface="Times New Roman"/>
              </a:rPr>
              <a:t>be</a:t>
            </a:r>
            <a:r>
              <a:rPr sz="1200" spc="-25" dirty="0">
                <a:latin typeface="Times New Roman"/>
                <a:cs typeface="Times New Roman"/>
              </a:rPr>
              <a:t> </a:t>
            </a:r>
            <a:r>
              <a:rPr sz="1200" spc="-10" dirty="0">
                <a:latin typeface="Times New Roman"/>
                <a:cs typeface="Times New Roman"/>
              </a:rPr>
              <a:t>included. </a:t>
            </a:r>
            <a:r>
              <a:rPr sz="1200" dirty="0">
                <a:latin typeface="Times New Roman"/>
                <a:cs typeface="Times New Roman"/>
              </a:rPr>
              <a:t>A</a:t>
            </a:r>
            <a:r>
              <a:rPr sz="1200" spc="-75" dirty="0">
                <a:latin typeface="Times New Roman"/>
                <a:cs typeface="Times New Roman"/>
              </a:rPr>
              <a:t> </a:t>
            </a:r>
            <a:r>
              <a:rPr sz="1200" spc="-10" dirty="0">
                <a:latin typeface="Times New Roman"/>
                <a:cs typeface="Times New Roman"/>
              </a:rPr>
              <a:t>mobile-</a:t>
            </a:r>
            <a:r>
              <a:rPr sz="1200" dirty="0">
                <a:latin typeface="Times New Roman"/>
                <a:cs typeface="Times New Roman"/>
              </a:rPr>
              <a:t>first</a:t>
            </a:r>
            <a:r>
              <a:rPr sz="1200" spc="-25" dirty="0">
                <a:latin typeface="Times New Roman"/>
                <a:cs typeface="Times New Roman"/>
              </a:rPr>
              <a:t> </a:t>
            </a:r>
            <a:r>
              <a:rPr sz="1200" dirty="0">
                <a:latin typeface="Times New Roman"/>
                <a:cs typeface="Times New Roman"/>
              </a:rPr>
              <a:t>approach</a:t>
            </a:r>
            <a:r>
              <a:rPr sz="1200" spc="-45" dirty="0">
                <a:latin typeface="Times New Roman"/>
                <a:cs typeface="Times New Roman"/>
              </a:rPr>
              <a:t> </a:t>
            </a:r>
            <a:r>
              <a:rPr sz="1200" dirty="0">
                <a:latin typeface="Times New Roman"/>
                <a:cs typeface="Times New Roman"/>
              </a:rPr>
              <a:t>ensures</a:t>
            </a:r>
            <a:r>
              <a:rPr sz="1200" spc="-40" dirty="0">
                <a:latin typeface="Times New Roman"/>
                <a:cs typeface="Times New Roman"/>
              </a:rPr>
              <a:t> </a:t>
            </a:r>
            <a:r>
              <a:rPr sz="1200" dirty="0">
                <a:latin typeface="Times New Roman"/>
                <a:cs typeface="Times New Roman"/>
              </a:rPr>
              <a:t>wider</a:t>
            </a:r>
            <a:r>
              <a:rPr sz="1200" spc="-25" dirty="0">
                <a:latin typeface="Times New Roman"/>
                <a:cs typeface="Times New Roman"/>
              </a:rPr>
              <a:t> </a:t>
            </a:r>
            <a:r>
              <a:rPr sz="1200" dirty="0">
                <a:latin typeface="Times New Roman"/>
                <a:cs typeface="Times New Roman"/>
              </a:rPr>
              <a:t>reach,</a:t>
            </a:r>
            <a:r>
              <a:rPr sz="1200" spc="5" dirty="0">
                <a:latin typeface="Times New Roman"/>
                <a:cs typeface="Times New Roman"/>
              </a:rPr>
              <a:t> </a:t>
            </a:r>
            <a:r>
              <a:rPr sz="1200" dirty="0">
                <a:latin typeface="Times New Roman"/>
                <a:cs typeface="Times New Roman"/>
              </a:rPr>
              <a:t>faster</a:t>
            </a:r>
            <a:r>
              <a:rPr sz="1200" spc="-20" dirty="0">
                <a:latin typeface="Times New Roman"/>
                <a:cs typeface="Times New Roman"/>
              </a:rPr>
              <a:t> </a:t>
            </a:r>
            <a:r>
              <a:rPr sz="1200" spc="-10" dirty="0">
                <a:latin typeface="Times New Roman"/>
                <a:cs typeface="Times New Roman"/>
              </a:rPr>
              <a:t>performance,</a:t>
            </a:r>
            <a:r>
              <a:rPr sz="1200" spc="-2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higher</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engagement.</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30"/>
              </a:spcBef>
            </a:pPr>
            <a:endParaRPr sz="1200" dirty="0">
              <a:latin typeface="Times New Roman"/>
              <a:cs typeface="Times New Roman"/>
            </a:endParaRPr>
          </a:p>
          <a:p>
            <a:pPr marL="188595" indent="-175895" algn="just">
              <a:lnSpc>
                <a:spcPct val="100000"/>
              </a:lnSpc>
              <a:buAutoNum type="arabicPeriod" startAt="4"/>
              <a:tabLst>
                <a:tab pos="188595" algn="l"/>
              </a:tabLst>
            </a:pPr>
            <a:r>
              <a:rPr sz="1400" b="1" spc="-10" dirty="0">
                <a:latin typeface="Times New Roman"/>
                <a:cs typeface="Times New Roman"/>
              </a:rPr>
              <a:t>Multi-</a:t>
            </a:r>
            <a:r>
              <a:rPr sz="1400" b="1" dirty="0">
                <a:latin typeface="Times New Roman"/>
                <a:cs typeface="Times New Roman"/>
              </a:rPr>
              <a:t>Language</a:t>
            </a:r>
            <a:r>
              <a:rPr sz="1400" b="1" spc="-10" dirty="0">
                <a:latin typeface="Times New Roman"/>
                <a:cs typeface="Times New Roman"/>
              </a:rPr>
              <a:t> </a:t>
            </a:r>
            <a:r>
              <a:rPr sz="1400" b="1" dirty="0">
                <a:latin typeface="Times New Roman"/>
                <a:cs typeface="Times New Roman"/>
              </a:rPr>
              <a:t>Support</a:t>
            </a:r>
            <a:r>
              <a:rPr sz="1400" b="1" spc="-20" dirty="0">
                <a:latin typeface="Times New Roman"/>
                <a:cs typeface="Times New Roman"/>
              </a:rPr>
              <a:t> </a:t>
            </a:r>
            <a:r>
              <a:rPr sz="1400" b="1" dirty="0">
                <a:latin typeface="Times New Roman"/>
                <a:cs typeface="Times New Roman"/>
              </a:rPr>
              <a:t>and</a:t>
            </a:r>
            <a:r>
              <a:rPr sz="1400" b="1" spc="-85" dirty="0">
                <a:latin typeface="Times New Roman"/>
                <a:cs typeface="Times New Roman"/>
              </a:rPr>
              <a:t> </a:t>
            </a:r>
            <a:r>
              <a:rPr sz="1400" b="1" spc="-10" dirty="0">
                <a:latin typeface="Times New Roman"/>
                <a:cs typeface="Times New Roman"/>
              </a:rPr>
              <a:t>Accessibility</a:t>
            </a:r>
            <a:r>
              <a:rPr sz="1400" b="1" spc="-15" dirty="0">
                <a:latin typeface="Times New Roman"/>
                <a:cs typeface="Times New Roman"/>
              </a:rPr>
              <a:t> </a:t>
            </a:r>
            <a:r>
              <a:rPr sz="1400" b="1" spc="-10" dirty="0">
                <a:latin typeface="Times New Roman"/>
                <a:cs typeface="Times New Roman"/>
              </a:rPr>
              <a:t>Features</a:t>
            </a:r>
            <a:endParaRPr sz="14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19</a:t>
            </a:r>
          </a:p>
        </p:txBody>
      </p:sp>
      <p:sp>
        <p:nvSpPr>
          <p:cNvPr id="2" name="object 2"/>
          <p:cNvSpPr txBox="1"/>
          <p:nvPr/>
        </p:nvSpPr>
        <p:spPr>
          <a:xfrm>
            <a:off x="902004" y="886714"/>
            <a:ext cx="5974080" cy="8028940"/>
          </a:xfrm>
          <a:prstGeom prst="rect">
            <a:avLst/>
          </a:prstGeom>
        </p:spPr>
        <p:txBody>
          <a:bodyPr vert="horz" wrap="square" lIns="0" tIns="6350" rIns="0" bIns="0" rtlCol="0">
            <a:spAutoFit/>
          </a:bodyPr>
          <a:lstStyle/>
          <a:p>
            <a:pPr marL="12700" marR="5080" algn="just">
              <a:lnSpc>
                <a:spcPct val="103400"/>
              </a:lnSpc>
              <a:spcBef>
                <a:spcPts val="50"/>
              </a:spcBef>
            </a:pPr>
            <a:r>
              <a:rPr sz="1200" spc="-35" dirty="0">
                <a:latin typeface="Times New Roman"/>
                <a:cs typeface="Times New Roman"/>
              </a:rPr>
              <a:t>To</a:t>
            </a:r>
            <a:r>
              <a:rPr sz="1200" spc="-20" dirty="0">
                <a:latin typeface="Times New Roman"/>
                <a:cs typeface="Times New Roman"/>
              </a:rPr>
              <a:t> </a:t>
            </a:r>
            <a:r>
              <a:rPr sz="1200" spc="-10" dirty="0">
                <a:latin typeface="Times New Roman"/>
                <a:cs typeface="Times New Roman"/>
              </a:rPr>
              <a:t>expand</a:t>
            </a:r>
            <a:r>
              <a:rPr sz="1200" spc="-30" dirty="0">
                <a:latin typeface="Times New Roman"/>
                <a:cs typeface="Times New Roman"/>
              </a:rPr>
              <a:t> </a:t>
            </a:r>
            <a:r>
              <a:rPr sz="1200" spc="-20" dirty="0">
                <a:latin typeface="Times New Roman"/>
                <a:cs typeface="Times New Roman"/>
              </a:rPr>
              <a:t>accessibility,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system</a:t>
            </a:r>
            <a:r>
              <a:rPr sz="1200" spc="-65"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enhanced</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b="1" spc="-20" dirty="0">
                <a:latin typeface="Times New Roman"/>
                <a:cs typeface="Times New Roman"/>
              </a:rPr>
              <a:t>multi-</a:t>
            </a:r>
            <a:r>
              <a:rPr sz="1200" b="1" spc="-10" dirty="0">
                <a:latin typeface="Times New Roman"/>
                <a:cs typeface="Times New Roman"/>
              </a:rPr>
              <a:t>language</a:t>
            </a:r>
            <a:r>
              <a:rPr sz="1200" b="1" spc="-35" dirty="0">
                <a:latin typeface="Times New Roman"/>
                <a:cs typeface="Times New Roman"/>
              </a:rPr>
              <a:t> </a:t>
            </a:r>
            <a:r>
              <a:rPr sz="1200" b="1" dirty="0">
                <a:latin typeface="Times New Roman"/>
                <a:cs typeface="Times New Roman"/>
              </a:rPr>
              <a:t>support</a:t>
            </a:r>
            <a:r>
              <a:rPr sz="1200" dirty="0">
                <a:latin typeface="Times New Roman"/>
                <a:cs typeface="Times New Roman"/>
              </a:rPr>
              <a:t>,</a:t>
            </a:r>
            <a:r>
              <a:rPr sz="1200" spc="-20" dirty="0">
                <a:latin typeface="Times New Roman"/>
                <a:cs typeface="Times New Roman"/>
              </a:rPr>
              <a:t> </a:t>
            </a:r>
            <a:r>
              <a:rPr sz="1200" spc="-10" dirty="0">
                <a:latin typeface="Times New Roman"/>
                <a:cs typeface="Times New Roman"/>
              </a:rPr>
              <a:t>enabling</a:t>
            </a:r>
            <a:r>
              <a:rPr sz="1200" spc="-30" dirty="0">
                <a:latin typeface="Times New Roman"/>
                <a:cs typeface="Times New Roman"/>
              </a:rPr>
              <a:t> </a:t>
            </a:r>
            <a:r>
              <a:rPr sz="1200" spc="-10" dirty="0">
                <a:latin typeface="Times New Roman"/>
                <a:cs typeface="Times New Roman"/>
              </a:rPr>
              <a:t>users </a:t>
            </a:r>
            <a:r>
              <a:rPr sz="1200" dirty="0">
                <a:latin typeface="Times New Roman"/>
                <a:cs typeface="Times New Roman"/>
              </a:rPr>
              <a:t>from different</a:t>
            </a:r>
            <a:r>
              <a:rPr sz="1200" spc="60" dirty="0">
                <a:latin typeface="Times New Roman"/>
                <a:cs typeface="Times New Roman"/>
              </a:rPr>
              <a:t> </a:t>
            </a:r>
            <a:r>
              <a:rPr sz="1200" dirty="0">
                <a:latin typeface="Times New Roman"/>
                <a:cs typeface="Times New Roman"/>
              </a:rPr>
              <a:t>regions</a:t>
            </a:r>
            <a:r>
              <a:rPr sz="1200" spc="3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platform</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dirty="0">
                <a:latin typeface="Times New Roman"/>
                <a:cs typeface="Times New Roman"/>
              </a:rPr>
              <a:t>preferred</a:t>
            </a:r>
            <a:r>
              <a:rPr sz="1200" spc="40" dirty="0">
                <a:latin typeface="Times New Roman"/>
                <a:cs typeface="Times New Roman"/>
              </a:rPr>
              <a:t> </a:t>
            </a:r>
            <a:r>
              <a:rPr sz="1200" spc="-10" dirty="0">
                <a:latin typeface="Times New Roman"/>
                <a:cs typeface="Times New Roman"/>
              </a:rPr>
              <a:t>language.</a:t>
            </a:r>
            <a:r>
              <a:rPr sz="1200" spc="-35" dirty="0">
                <a:latin typeface="Times New Roman"/>
                <a:cs typeface="Times New Roman"/>
              </a:rPr>
              <a:t> </a:t>
            </a:r>
            <a:r>
              <a:rPr sz="1200" spc="-10" dirty="0">
                <a:latin typeface="Times New Roman"/>
                <a:cs typeface="Times New Roman"/>
              </a:rPr>
              <a:t>Additionally,</a:t>
            </a:r>
            <a:r>
              <a:rPr sz="1200" spc="50" dirty="0">
                <a:latin typeface="Times New Roman"/>
                <a:cs typeface="Times New Roman"/>
              </a:rPr>
              <a:t> </a:t>
            </a:r>
            <a:r>
              <a:rPr sz="1200" spc="-10" dirty="0">
                <a:latin typeface="Times New Roman"/>
                <a:cs typeface="Times New Roman"/>
              </a:rPr>
              <a:t>accessibility features</a:t>
            </a:r>
            <a:r>
              <a:rPr sz="1200" spc="-65" dirty="0">
                <a:latin typeface="Times New Roman"/>
                <a:cs typeface="Times New Roman"/>
              </a:rPr>
              <a:t> </a:t>
            </a:r>
            <a:r>
              <a:rPr sz="1200" spc="-10" dirty="0">
                <a:latin typeface="Times New Roman"/>
                <a:cs typeface="Times New Roman"/>
              </a:rPr>
              <a:t>such</a:t>
            </a:r>
            <a:r>
              <a:rPr sz="1200" spc="-65" dirty="0">
                <a:latin typeface="Times New Roman"/>
                <a:cs typeface="Times New Roman"/>
              </a:rPr>
              <a:t> </a:t>
            </a:r>
            <a:r>
              <a:rPr sz="1200" spc="-10" dirty="0">
                <a:latin typeface="Times New Roman"/>
                <a:cs typeface="Times New Roman"/>
              </a:rPr>
              <a:t>as</a:t>
            </a:r>
            <a:r>
              <a:rPr sz="1200" spc="-65" dirty="0">
                <a:latin typeface="Times New Roman"/>
                <a:cs typeface="Times New Roman"/>
              </a:rPr>
              <a:t> </a:t>
            </a:r>
            <a:r>
              <a:rPr sz="1200" b="1" spc="-10" dirty="0">
                <a:latin typeface="Times New Roman"/>
                <a:cs typeface="Times New Roman"/>
              </a:rPr>
              <a:t>screen</a:t>
            </a:r>
            <a:r>
              <a:rPr sz="1200" b="1" spc="-40" dirty="0">
                <a:latin typeface="Times New Roman"/>
                <a:cs typeface="Times New Roman"/>
              </a:rPr>
              <a:t> </a:t>
            </a:r>
            <a:r>
              <a:rPr sz="1200" b="1" spc="-25" dirty="0">
                <a:latin typeface="Times New Roman"/>
                <a:cs typeface="Times New Roman"/>
              </a:rPr>
              <a:t>reader</a:t>
            </a:r>
            <a:r>
              <a:rPr sz="1200" b="1" spc="-50" dirty="0">
                <a:latin typeface="Times New Roman"/>
                <a:cs typeface="Times New Roman"/>
              </a:rPr>
              <a:t> </a:t>
            </a:r>
            <a:r>
              <a:rPr sz="1200" b="1" spc="-10" dirty="0">
                <a:latin typeface="Times New Roman"/>
                <a:cs typeface="Times New Roman"/>
              </a:rPr>
              <a:t>compatibility,</a:t>
            </a:r>
            <a:r>
              <a:rPr sz="1200" b="1" spc="-25" dirty="0">
                <a:latin typeface="Times New Roman"/>
                <a:cs typeface="Times New Roman"/>
              </a:rPr>
              <a:t> </a:t>
            </a:r>
            <a:r>
              <a:rPr sz="1200" b="1" spc="-10" dirty="0">
                <a:latin typeface="Times New Roman"/>
                <a:cs typeface="Times New Roman"/>
              </a:rPr>
              <a:t>voice</a:t>
            </a:r>
            <a:r>
              <a:rPr sz="1200" b="1" spc="-55" dirty="0">
                <a:latin typeface="Times New Roman"/>
                <a:cs typeface="Times New Roman"/>
              </a:rPr>
              <a:t> </a:t>
            </a:r>
            <a:r>
              <a:rPr sz="1200" b="1" spc="-10" dirty="0">
                <a:latin typeface="Times New Roman"/>
                <a:cs typeface="Times New Roman"/>
              </a:rPr>
              <a:t>navigation,</a:t>
            </a:r>
            <a:r>
              <a:rPr sz="1200" b="1" spc="-25" dirty="0">
                <a:latin typeface="Times New Roman"/>
                <a:cs typeface="Times New Roman"/>
              </a:rPr>
              <a:t> </a:t>
            </a:r>
            <a:r>
              <a:rPr sz="1200" b="1" dirty="0">
                <a:latin typeface="Times New Roman"/>
                <a:cs typeface="Times New Roman"/>
              </a:rPr>
              <a:t>high-</a:t>
            </a:r>
            <a:r>
              <a:rPr sz="1200" b="1" spc="-10" dirty="0">
                <a:latin typeface="Times New Roman"/>
                <a:cs typeface="Times New Roman"/>
              </a:rPr>
              <a:t>contrast</a:t>
            </a:r>
            <a:r>
              <a:rPr sz="1200" b="1" spc="-35" dirty="0">
                <a:latin typeface="Times New Roman"/>
                <a:cs typeface="Times New Roman"/>
              </a:rPr>
              <a:t> </a:t>
            </a:r>
            <a:r>
              <a:rPr sz="1200" b="1" dirty="0">
                <a:latin typeface="Times New Roman"/>
                <a:cs typeface="Times New Roman"/>
              </a:rPr>
              <a:t>UI,</a:t>
            </a:r>
            <a:r>
              <a:rPr sz="1200" b="1" spc="-30" dirty="0">
                <a:latin typeface="Times New Roman"/>
                <a:cs typeface="Times New Roman"/>
              </a:rPr>
              <a:t> </a:t>
            </a:r>
            <a:r>
              <a:rPr sz="1200" b="1" dirty="0">
                <a:latin typeface="Times New Roman"/>
                <a:cs typeface="Times New Roman"/>
              </a:rPr>
              <a:t>and</a:t>
            </a:r>
            <a:r>
              <a:rPr sz="1200" b="1" spc="-40" dirty="0">
                <a:latin typeface="Times New Roman"/>
                <a:cs typeface="Times New Roman"/>
              </a:rPr>
              <a:t> </a:t>
            </a:r>
            <a:r>
              <a:rPr sz="1200" b="1" spc="-10" dirty="0">
                <a:latin typeface="Times New Roman"/>
                <a:cs typeface="Times New Roman"/>
              </a:rPr>
              <a:t>keyboard </a:t>
            </a:r>
            <a:r>
              <a:rPr sz="1200" b="1" dirty="0">
                <a:latin typeface="Times New Roman"/>
                <a:cs typeface="Times New Roman"/>
              </a:rPr>
              <a:t>navigation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implemented</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spc="-10" dirty="0">
                <a:latin typeface="Times New Roman"/>
                <a:cs typeface="Times New Roman"/>
              </a:rPr>
              <a:t>differently-</a:t>
            </a:r>
            <a:r>
              <a:rPr sz="1200" dirty="0">
                <a:latin typeface="Times New Roman"/>
                <a:cs typeface="Times New Roman"/>
              </a:rPr>
              <a:t>abled</a:t>
            </a:r>
            <a:r>
              <a:rPr sz="1200" spc="-10" dirty="0">
                <a:latin typeface="Times New Roman"/>
                <a:cs typeface="Times New Roman"/>
              </a:rPr>
              <a:t> </a:t>
            </a:r>
            <a:r>
              <a:rPr sz="1200" dirty="0">
                <a:latin typeface="Times New Roman"/>
                <a:cs typeface="Times New Roman"/>
              </a:rPr>
              <a:t>users. Such</a:t>
            </a:r>
            <a:r>
              <a:rPr sz="1200" spc="-10" dirty="0">
                <a:latin typeface="Times New Roman"/>
                <a:cs typeface="Times New Roman"/>
              </a:rPr>
              <a:t> </a:t>
            </a:r>
            <a:r>
              <a:rPr sz="1200" dirty="0">
                <a:latin typeface="Times New Roman"/>
                <a:cs typeface="Times New Roman"/>
              </a:rPr>
              <a:t>inclusivity</a:t>
            </a:r>
            <a:r>
              <a:rPr sz="1200" spc="-10" dirty="0">
                <a:latin typeface="Times New Roman"/>
                <a:cs typeface="Times New Roman"/>
              </a:rPr>
              <a:t> </a:t>
            </a:r>
            <a:r>
              <a:rPr sz="1200" dirty="0">
                <a:latin typeface="Times New Roman"/>
                <a:cs typeface="Times New Roman"/>
              </a:rPr>
              <a:t>increases</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system’s</a:t>
            </a:r>
            <a:r>
              <a:rPr sz="1200" spc="-30" dirty="0">
                <a:latin typeface="Times New Roman"/>
                <a:cs typeface="Times New Roman"/>
              </a:rPr>
              <a:t> </a:t>
            </a:r>
            <a:r>
              <a:rPr sz="1200" spc="-10" dirty="0">
                <a:latin typeface="Times New Roman"/>
                <a:cs typeface="Times New Roman"/>
              </a:rPr>
              <a:t>usability</a:t>
            </a:r>
            <a:r>
              <a:rPr sz="1200" spc="-6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market</a:t>
            </a:r>
            <a:r>
              <a:rPr sz="1200" spc="10" dirty="0">
                <a:latin typeface="Times New Roman"/>
                <a:cs typeface="Times New Roman"/>
              </a:rPr>
              <a:t> </a:t>
            </a:r>
            <a:r>
              <a:rPr sz="1200" spc="-10" dirty="0">
                <a:latin typeface="Times New Roman"/>
                <a:cs typeface="Times New Roman"/>
              </a:rPr>
              <a:t>reach.</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25"/>
              </a:spcBef>
            </a:pPr>
            <a:endParaRPr sz="1200">
              <a:latin typeface="Times New Roman"/>
              <a:cs typeface="Times New Roman"/>
            </a:endParaRPr>
          </a:p>
          <a:p>
            <a:pPr marL="182245" indent="-169545">
              <a:lnSpc>
                <a:spcPct val="100000"/>
              </a:lnSpc>
              <a:buAutoNum type="arabicPeriod" startAt="5"/>
              <a:tabLst>
                <a:tab pos="182245" algn="l"/>
              </a:tabLst>
            </a:pPr>
            <a:r>
              <a:rPr sz="1400" b="1" spc="-20" dirty="0">
                <a:latin typeface="Times New Roman"/>
                <a:cs typeface="Times New Roman"/>
              </a:rPr>
              <a:t>Advanced</a:t>
            </a:r>
            <a:r>
              <a:rPr sz="1400" b="1" spc="-65" dirty="0">
                <a:latin typeface="Times New Roman"/>
                <a:cs typeface="Times New Roman"/>
              </a:rPr>
              <a:t> </a:t>
            </a:r>
            <a:r>
              <a:rPr sz="1400" b="1" spc="-10" dirty="0">
                <a:latin typeface="Times New Roman"/>
                <a:cs typeface="Times New Roman"/>
              </a:rPr>
              <a:t>Administrative</a:t>
            </a:r>
            <a:r>
              <a:rPr sz="1400" b="1" spc="-50" dirty="0">
                <a:latin typeface="Times New Roman"/>
                <a:cs typeface="Times New Roman"/>
              </a:rPr>
              <a:t> </a:t>
            </a:r>
            <a:r>
              <a:rPr sz="1400" b="1" dirty="0">
                <a:latin typeface="Times New Roman"/>
                <a:cs typeface="Times New Roman"/>
              </a:rPr>
              <a:t>Analytics</a:t>
            </a:r>
            <a:r>
              <a:rPr sz="1400" b="1" spc="30" dirty="0">
                <a:latin typeface="Times New Roman"/>
                <a:cs typeface="Times New Roman"/>
              </a:rPr>
              <a:t> </a:t>
            </a:r>
            <a:r>
              <a:rPr sz="1400" b="1" spc="-10" dirty="0">
                <a:latin typeface="Times New Roman"/>
                <a:cs typeface="Times New Roman"/>
              </a:rPr>
              <a:t>Dashboard</a:t>
            </a:r>
            <a:endParaRPr sz="1400">
              <a:latin typeface="Times New Roman"/>
              <a:cs typeface="Times New Roman"/>
            </a:endParaRPr>
          </a:p>
          <a:p>
            <a:pPr marL="12700" marR="14604" algn="just">
              <a:lnSpc>
                <a:spcPct val="103299"/>
              </a:lnSpc>
              <a:spcBef>
                <a:spcPts val="775"/>
              </a:spcBef>
            </a:pPr>
            <a:r>
              <a:rPr sz="1200" dirty="0">
                <a:latin typeface="Times New Roman"/>
                <a:cs typeface="Times New Roman"/>
              </a:rPr>
              <a:t>Currently,</a:t>
            </a:r>
            <a:r>
              <a:rPr sz="1200" spc="385" dirty="0">
                <a:latin typeface="Times New Roman"/>
                <a:cs typeface="Times New Roman"/>
              </a:rPr>
              <a:t> </a:t>
            </a:r>
            <a:r>
              <a:rPr sz="1200" dirty="0">
                <a:latin typeface="Times New Roman"/>
                <a:cs typeface="Times New Roman"/>
              </a:rPr>
              <a:t>the</a:t>
            </a:r>
            <a:r>
              <a:rPr sz="1200" spc="375" dirty="0">
                <a:latin typeface="Times New Roman"/>
                <a:cs typeface="Times New Roman"/>
              </a:rPr>
              <a:t> </a:t>
            </a:r>
            <a:r>
              <a:rPr sz="1200" dirty="0">
                <a:latin typeface="Times New Roman"/>
                <a:cs typeface="Times New Roman"/>
              </a:rPr>
              <a:t>admin</a:t>
            </a:r>
            <a:r>
              <a:rPr sz="1200" spc="355" dirty="0">
                <a:latin typeface="Times New Roman"/>
                <a:cs typeface="Times New Roman"/>
              </a:rPr>
              <a:t> </a:t>
            </a:r>
            <a:r>
              <a:rPr sz="1200" dirty="0">
                <a:latin typeface="Times New Roman"/>
                <a:cs typeface="Times New Roman"/>
              </a:rPr>
              <a:t>dashboard</a:t>
            </a:r>
            <a:r>
              <a:rPr sz="1200" spc="375" dirty="0">
                <a:latin typeface="Times New Roman"/>
                <a:cs typeface="Times New Roman"/>
              </a:rPr>
              <a:t> </a:t>
            </a:r>
            <a:r>
              <a:rPr sz="1200" dirty="0">
                <a:latin typeface="Times New Roman"/>
                <a:cs typeface="Times New Roman"/>
              </a:rPr>
              <a:t>provides</a:t>
            </a:r>
            <a:r>
              <a:rPr sz="1200" spc="370" dirty="0">
                <a:latin typeface="Times New Roman"/>
                <a:cs typeface="Times New Roman"/>
              </a:rPr>
              <a:t> </a:t>
            </a:r>
            <a:r>
              <a:rPr sz="1200" dirty="0">
                <a:latin typeface="Times New Roman"/>
                <a:cs typeface="Times New Roman"/>
              </a:rPr>
              <a:t>basic</a:t>
            </a:r>
            <a:r>
              <a:rPr sz="1200" spc="395" dirty="0">
                <a:latin typeface="Times New Roman"/>
                <a:cs typeface="Times New Roman"/>
              </a:rPr>
              <a:t> </a:t>
            </a:r>
            <a:r>
              <a:rPr sz="1200" dirty="0">
                <a:latin typeface="Times New Roman"/>
                <a:cs typeface="Times New Roman"/>
              </a:rPr>
              <a:t>vehicle</a:t>
            </a:r>
            <a:r>
              <a:rPr sz="1200" spc="375" dirty="0">
                <a:latin typeface="Times New Roman"/>
                <a:cs typeface="Times New Roman"/>
              </a:rPr>
              <a:t> </a:t>
            </a:r>
            <a:r>
              <a:rPr sz="1200" dirty="0">
                <a:latin typeface="Times New Roman"/>
                <a:cs typeface="Times New Roman"/>
              </a:rPr>
              <a:t>and</a:t>
            </a:r>
            <a:r>
              <a:rPr sz="1200" spc="400" dirty="0">
                <a:latin typeface="Times New Roman"/>
                <a:cs typeface="Times New Roman"/>
              </a:rPr>
              <a:t> </a:t>
            </a:r>
            <a:r>
              <a:rPr sz="1200" dirty="0">
                <a:latin typeface="Times New Roman"/>
                <a:cs typeface="Times New Roman"/>
              </a:rPr>
              <a:t>booking</a:t>
            </a:r>
            <a:r>
              <a:rPr sz="1200" spc="400" dirty="0">
                <a:latin typeface="Times New Roman"/>
                <a:cs typeface="Times New Roman"/>
              </a:rPr>
              <a:t> </a:t>
            </a:r>
            <a:r>
              <a:rPr sz="1200" dirty="0">
                <a:latin typeface="Times New Roman"/>
                <a:cs typeface="Times New Roman"/>
              </a:rPr>
              <a:t>management.</a:t>
            </a:r>
            <a:r>
              <a:rPr sz="1200" spc="390" dirty="0">
                <a:latin typeface="Times New Roman"/>
                <a:cs typeface="Times New Roman"/>
              </a:rPr>
              <a:t> </a:t>
            </a:r>
            <a:r>
              <a:rPr sz="1200" spc="-10" dirty="0">
                <a:latin typeface="Times New Roman"/>
                <a:cs typeface="Times New Roman"/>
              </a:rPr>
              <a:t>Future </a:t>
            </a:r>
            <a:r>
              <a:rPr sz="1200" dirty="0">
                <a:latin typeface="Times New Roman"/>
                <a:cs typeface="Times New Roman"/>
              </a:rPr>
              <a:t>improvements</a:t>
            </a:r>
            <a:r>
              <a:rPr sz="1200" spc="-5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spc="-20" dirty="0">
                <a:latin typeface="Times New Roman"/>
                <a:cs typeface="Times New Roman"/>
              </a:rPr>
              <a:t>Real-</a:t>
            </a:r>
            <a:r>
              <a:rPr sz="1200" b="1" dirty="0">
                <a:latin typeface="Times New Roman"/>
                <a:cs typeface="Times New Roman"/>
              </a:rPr>
              <a:t>time</a:t>
            </a:r>
            <a:r>
              <a:rPr sz="1200" b="1" spc="-25" dirty="0">
                <a:latin typeface="Times New Roman"/>
                <a:cs typeface="Times New Roman"/>
              </a:rPr>
              <a:t> </a:t>
            </a:r>
            <a:r>
              <a:rPr sz="1200" b="1" dirty="0">
                <a:latin typeface="Times New Roman"/>
                <a:cs typeface="Times New Roman"/>
              </a:rPr>
              <a:t>sales</a:t>
            </a:r>
            <a:r>
              <a:rPr sz="1200" b="1" spc="-35" dirty="0">
                <a:latin typeface="Times New Roman"/>
                <a:cs typeface="Times New Roman"/>
              </a:rPr>
              <a:t> </a:t>
            </a:r>
            <a:r>
              <a:rPr sz="1200" b="1" dirty="0">
                <a:latin typeface="Times New Roman"/>
                <a:cs typeface="Times New Roman"/>
              </a:rPr>
              <a:t>reports</a:t>
            </a:r>
            <a:r>
              <a:rPr sz="1200" b="1"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revenue</a:t>
            </a:r>
            <a:r>
              <a:rPr sz="1200" spc="-20" dirty="0">
                <a:latin typeface="Times New Roman"/>
                <a:cs typeface="Times New Roman"/>
              </a:rPr>
              <a:t> </a:t>
            </a:r>
            <a:r>
              <a:rPr sz="1200" spc="-10" dirty="0">
                <a:latin typeface="Times New Roman"/>
                <a:cs typeface="Times New Roman"/>
              </a:rPr>
              <a:t>analysis.</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spc="-10" dirty="0">
                <a:latin typeface="Times New Roman"/>
                <a:cs typeface="Times New Roman"/>
              </a:rPr>
              <a:t>Customer</a:t>
            </a:r>
            <a:r>
              <a:rPr sz="1200" b="1" spc="-60" dirty="0">
                <a:latin typeface="Times New Roman"/>
                <a:cs typeface="Times New Roman"/>
              </a:rPr>
              <a:t> </a:t>
            </a:r>
            <a:r>
              <a:rPr sz="1200" b="1" dirty="0">
                <a:latin typeface="Times New Roman"/>
                <a:cs typeface="Times New Roman"/>
              </a:rPr>
              <a:t>behaviour</a:t>
            </a:r>
            <a:r>
              <a:rPr sz="1200" b="1" spc="-60" dirty="0">
                <a:latin typeface="Times New Roman"/>
                <a:cs typeface="Times New Roman"/>
              </a:rPr>
              <a:t> </a:t>
            </a:r>
            <a:r>
              <a:rPr sz="1200" b="1" dirty="0">
                <a:latin typeface="Times New Roman"/>
                <a:cs typeface="Times New Roman"/>
              </a:rPr>
              <a:t>analytics</a:t>
            </a:r>
            <a:r>
              <a:rPr sz="1200" b="1"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understand</a:t>
            </a:r>
            <a:r>
              <a:rPr sz="1200" spc="-10" dirty="0">
                <a:latin typeface="Times New Roman"/>
                <a:cs typeface="Times New Roman"/>
              </a:rPr>
              <a:t> preferences</a:t>
            </a:r>
            <a:r>
              <a:rPr sz="1200" spc="-2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dirty="0">
                <a:latin typeface="Times New Roman"/>
                <a:cs typeface="Times New Roman"/>
              </a:rPr>
              <a:t>rental</a:t>
            </a:r>
            <a:r>
              <a:rPr sz="1200" spc="-50" dirty="0">
                <a:latin typeface="Times New Roman"/>
                <a:cs typeface="Times New Roman"/>
              </a:rPr>
              <a:t> </a:t>
            </a:r>
            <a:r>
              <a:rPr sz="1200" spc="-10" dirty="0">
                <a:latin typeface="Times New Roman"/>
                <a:cs typeface="Times New Roman"/>
              </a:rPr>
              <a:t>patterns.</a:t>
            </a:r>
            <a:endParaRPr sz="1200">
              <a:latin typeface="Times New Roman"/>
              <a:cs typeface="Times New Roman"/>
            </a:endParaRPr>
          </a:p>
          <a:p>
            <a:pPr marL="469900" lvl="1" indent="-228600">
              <a:lnSpc>
                <a:spcPct val="100000"/>
              </a:lnSpc>
              <a:spcBef>
                <a:spcPts val="869"/>
              </a:spcBef>
              <a:buSzPct val="83333"/>
              <a:buFont typeface="Symbol"/>
              <a:buChar char=""/>
              <a:tabLst>
                <a:tab pos="469900" algn="l"/>
              </a:tabLst>
            </a:pPr>
            <a:r>
              <a:rPr sz="1200" b="1" dirty="0">
                <a:latin typeface="Times New Roman"/>
                <a:cs typeface="Times New Roman"/>
              </a:rPr>
              <a:t>Fleet</a:t>
            </a:r>
            <a:r>
              <a:rPr sz="1200" b="1" spc="-15" dirty="0">
                <a:latin typeface="Times New Roman"/>
                <a:cs typeface="Times New Roman"/>
              </a:rPr>
              <a:t> </a:t>
            </a:r>
            <a:r>
              <a:rPr sz="1200" b="1" spc="-10" dirty="0">
                <a:latin typeface="Times New Roman"/>
                <a:cs typeface="Times New Roman"/>
              </a:rPr>
              <a:t>utilization</a:t>
            </a:r>
            <a:r>
              <a:rPr sz="1200" b="1" spc="-15" dirty="0">
                <a:latin typeface="Times New Roman"/>
                <a:cs typeface="Times New Roman"/>
              </a:rPr>
              <a:t> </a:t>
            </a:r>
            <a:r>
              <a:rPr sz="1200" b="1" dirty="0">
                <a:latin typeface="Times New Roman"/>
                <a:cs typeface="Times New Roman"/>
              </a:rPr>
              <a:t>insights</a:t>
            </a:r>
            <a:r>
              <a:rPr sz="1200" b="1" spc="-3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monitor</a:t>
            </a:r>
            <a:r>
              <a:rPr sz="1200" spc="-15" dirty="0">
                <a:latin typeface="Times New Roman"/>
                <a:cs typeface="Times New Roman"/>
              </a:rPr>
              <a:t> </a:t>
            </a:r>
            <a:r>
              <a:rPr sz="1200" spc="-10" dirty="0">
                <a:latin typeface="Times New Roman"/>
                <a:cs typeface="Times New Roman"/>
              </a:rPr>
              <a:t>vehicle</a:t>
            </a:r>
            <a:r>
              <a:rPr sz="1200" spc="-20" dirty="0">
                <a:latin typeface="Times New Roman"/>
                <a:cs typeface="Times New Roman"/>
              </a:rPr>
              <a:t> </a:t>
            </a:r>
            <a:r>
              <a:rPr sz="1200" dirty="0">
                <a:latin typeface="Times New Roman"/>
                <a:cs typeface="Times New Roman"/>
              </a:rPr>
              <a:t>usage</a:t>
            </a:r>
            <a:r>
              <a:rPr sz="1200" spc="-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availability.</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spc="-10" dirty="0">
                <a:latin typeface="Times New Roman"/>
                <a:cs typeface="Times New Roman"/>
              </a:rPr>
              <a:t>Predictive</a:t>
            </a:r>
            <a:r>
              <a:rPr sz="1200" b="1" spc="-40" dirty="0">
                <a:latin typeface="Times New Roman"/>
                <a:cs typeface="Times New Roman"/>
              </a:rPr>
              <a:t> </a:t>
            </a:r>
            <a:r>
              <a:rPr sz="1200" b="1" dirty="0">
                <a:latin typeface="Times New Roman"/>
                <a:cs typeface="Times New Roman"/>
              </a:rPr>
              <a:t>analytics</a:t>
            </a:r>
            <a:r>
              <a:rPr sz="1200" b="1" spc="-3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forecast</a:t>
            </a:r>
            <a:r>
              <a:rPr sz="1200" spc="-10" dirty="0">
                <a:latin typeface="Times New Roman"/>
                <a:cs typeface="Times New Roman"/>
              </a:rPr>
              <a:t> </a:t>
            </a:r>
            <a:r>
              <a:rPr sz="1200" dirty="0">
                <a:latin typeface="Times New Roman"/>
                <a:cs typeface="Times New Roman"/>
              </a:rPr>
              <a:t>peak</a:t>
            </a:r>
            <a:r>
              <a:rPr sz="1200" spc="-55" dirty="0">
                <a:latin typeface="Times New Roman"/>
                <a:cs typeface="Times New Roman"/>
              </a:rPr>
              <a:t> </a:t>
            </a:r>
            <a:r>
              <a:rPr sz="1200" dirty="0">
                <a:latin typeface="Times New Roman"/>
                <a:cs typeface="Times New Roman"/>
              </a:rPr>
              <a:t>demand</a:t>
            </a:r>
            <a:r>
              <a:rPr sz="1200" spc="-30" dirty="0">
                <a:latin typeface="Times New Roman"/>
                <a:cs typeface="Times New Roman"/>
              </a:rPr>
              <a:t> </a:t>
            </a:r>
            <a:r>
              <a:rPr sz="1200" spc="-10" dirty="0">
                <a:latin typeface="Times New Roman"/>
                <a:cs typeface="Times New Roman"/>
              </a:rPr>
              <a:t>periods.</a:t>
            </a:r>
            <a:endParaRPr sz="1200">
              <a:latin typeface="Times New Roman"/>
              <a:cs typeface="Times New Roman"/>
            </a:endParaRPr>
          </a:p>
          <a:p>
            <a:pPr marL="12700" marR="10795" algn="just">
              <a:lnSpc>
                <a:spcPct val="103299"/>
              </a:lnSpc>
              <a:spcBef>
                <a:spcPts val="815"/>
              </a:spcBef>
            </a:pPr>
            <a:r>
              <a:rPr sz="1200" spc="-10" dirty="0">
                <a:latin typeface="Times New Roman"/>
                <a:cs typeface="Times New Roman"/>
              </a:rPr>
              <a:t>These</a:t>
            </a:r>
            <a:r>
              <a:rPr sz="1200" spc="-40" dirty="0">
                <a:latin typeface="Times New Roman"/>
                <a:cs typeface="Times New Roman"/>
              </a:rPr>
              <a:t> </a:t>
            </a:r>
            <a:r>
              <a:rPr sz="1200" dirty="0">
                <a:latin typeface="Times New Roman"/>
                <a:cs typeface="Times New Roman"/>
              </a:rPr>
              <a:t>advanced</a:t>
            </a:r>
            <a:r>
              <a:rPr sz="1200" spc="-35" dirty="0">
                <a:latin typeface="Times New Roman"/>
                <a:cs typeface="Times New Roman"/>
              </a:rPr>
              <a:t> </a:t>
            </a:r>
            <a:r>
              <a:rPr sz="1200" spc="-10" dirty="0">
                <a:latin typeface="Times New Roman"/>
                <a:cs typeface="Times New Roman"/>
              </a:rPr>
              <a:t>analytics</a:t>
            </a:r>
            <a:r>
              <a:rPr sz="1200" spc="-40" dirty="0">
                <a:latin typeface="Times New Roman"/>
                <a:cs typeface="Times New Roman"/>
              </a:rPr>
              <a:t> </a:t>
            </a:r>
            <a:r>
              <a:rPr sz="1200" dirty="0">
                <a:latin typeface="Times New Roman"/>
                <a:cs typeface="Times New Roman"/>
              </a:rPr>
              <a:t>tools</a:t>
            </a:r>
            <a:r>
              <a:rPr sz="1200" spc="-45" dirty="0">
                <a:latin typeface="Times New Roman"/>
                <a:cs typeface="Times New Roman"/>
              </a:rPr>
              <a:t> </a:t>
            </a:r>
            <a:r>
              <a:rPr sz="1200" spc="-10" dirty="0">
                <a:latin typeface="Times New Roman"/>
                <a:cs typeface="Times New Roman"/>
              </a:rPr>
              <a:t>will</a:t>
            </a:r>
            <a:r>
              <a:rPr sz="1200" spc="-45" dirty="0">
                <a:latin typeface="Times New Roman"/>
                <a:cs typeface="Times New Roman"/>
              </a:rPr>
              <a:t> </a:t>
            </a:r>
            <a:r>
              <a:rPr sz="1200" spc="-10" dirty="0">
                <a:latin typeface="Times New Roman"/>
                <a:cs typeface="Times New Roman"/>
              </a:rPr>
              <a:t>allow</a:t>
            </a:r>
            <a:r>
              <a:rPr sz="1200" spc="-30" dirty="0">
                <a:latin typeface="Times New Roman"/>
                <a:cs typeface="Times New Roman"/>
              </a:rPr>
              <a:t> </a:t>
            </a:r>
            <a:r>
              <a:rPr sz="1200" spc="-10" dirty="0">
                <a:latin typeface="Times New Roman"/>
                <a:cs typeface="Times New Roman"/>
              </a:rPr>
              <a:t>administrators</a:t>
            </a:r>
            <a:r>
              <a:rPr sz="1200" spc="-65" dirty="0">
                <a:latin typeface="Times New Roman"/>
                <a:cs typeface="Times New Roman"/>
              </a:rPr>
              <a:t> </a:t>
            </a:r>
            <a:r>
              <a:rPr sz="1200" dirty="0">
                <a:latin typeface="Times New Roman"/>
                <a:cs typeface="Times New Roman"/>
              </a:rPr>
              <a:t>to</a:t>
            </a:r>
            <a:r>
              <a:rPr sz="1200" spc="-10" dirty="0">
                <a:latin typeface="Times New Roman"/>
                <a:cs typeface="Times New Roman"/>
              </a:rPr>
              <a:t> make</a:t>
            </a:r>
            <a:r>
              <a:rPr sz="1200" dirty="0">
                <a:latin typeface="Times New Roman"/>
                <a:cs typeface="Times New Roman"/>
              </a:rPr>
              <a:t> </a:t>
            </a:r>
            <a:r>
              <a:rPr sz="1200" b="1" spc="-10" dirty="0">
                <a:latin typeface="Times New Roman"/>
                <a:cs typeface="Times New Roman"/>
              </a:rPr>
              <a:t>data-driven</a:t>
            </a:r>
            <a:r>
              <a:rPr sz="1200" b="1" spc="-25" dirty="0">
                <a:latin typeface="Times New Roman"/>
                <a:cs typeface="Times New Roman"/>
              </a:rPr>
              <a:t> </a:t>
            </a:r>
            <a:r>
              <a:rPr sz="1200" b="1" spc="-10" dirty="0">
                <a:latin typeface="Times New Roman"/>
                <a:cs typeface="Times New Roman"/>
              </a:rPr>
              <a:t>decisions</a:t>
            </a:r>
            <a:r>
              <a:rPr sz="1200" spc="-10" dirty="0">
                <a:latin typeface="Times New Roman"/>
                <a:cs typeface="Times New Roman"/>
              </a:rPr>
              <a:t>,</a:t>
            </a:r>
            <a:r>
              <a:rPr sz="1200" spc="-20" dirty="0">
                <a:latin typeface="Times New Roman"/>
                <a:cs typeface="Times New Roman"/>
              </a:rPr>
              <a:t> </a:t>
            </a:r>
            <a:r>
              <a:rPr sz="1200" spc="-10" dirty="0">
                <a:latin typeface="Times New Roman"/>
                <a:cs typeface="Times New Roman"/>
              </a:rPr>
              <a:t>optimize </a:t>
            </a:r>
            <a:r>
              <a:rPr sz="1200" dirty="0">
                <a:latin typeface="Times New Roman"/>
                <a:cs typeface="Times New Roman"/>
              </a:rPr>
              <a:t>operations,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improve</a:t>
            </a:r>
            <a:r>
              <a:rPr sz="1200" spc="-50" dirty="0">
                <a:latin typeface="Times New Roman"/>
                <a:cs typeface="Times New Roman"/>
              </a:rPr>
              <a:t> </a:t>
            </a:r>
            <a:r>
              <a:rPr sz="1200" dirty="0">
                <a:latin typeface="Times New Roman"/>
                <a:cs typeface="Times New Roman"/>
              </a:rPr>
              <a:t>overall</a:t>
            </a:r>
            <a:r>
              <a:rPr sz="1200" spc="-40" dirty="0">
                <a:latin typeface="Times New Roman"/>
                <a:cs typeface="Times New Roman"/>
              </a:rPr>
              <a:t> </a:t>
            </a:r>
            <a:r>
              <a:rPr sz="1200" dirty="0">
                <a:latin typeface="Times New Roman"/>
                <a:cs typeface="Times New Roman"/>
              </a:rPr>
              <a:t>service</a:t>
            </a:r>
            <a:r>
              <a:rPr sz="1200" spc="-50" dirty="0">
                <a:latin typeface="Times New Roman"/>
                <a:cs typeface="Times New Roman"/>
              </a:rPr>
              <a:t> </a:t>
            </a:r>
            <a:r>
              <a:rPr sz="1200" spc="-10" dirty="0">
                <a:latin typeface="Times New Roman"/>
                <a:cs typeface="Times New Roman"/>
              </a:rPr>
              <a:t>quality.</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65"/>
              </a:spcBef>
            </a:pPr>
            <a:endParaRPr sz="1200">
              <a:latin typeface="Times New Roman"/>
              <a:cs typeface="Times New Roman"/>
            </a:endParaRPr>
          </a:p>
          <a:p>
            <a:pPr marL="191770" indent="-179070">
              <a:lnSpc>
                <a:spcPct val="100000"/>
              </a:lnSpc>
              <a:buAutoNum type="arabicPeriod" startAt="6"/>
              <a:tabLst>
                <a:tab pos="191770" algn="l"/>
              </a:tabLst>
            </a:pPr>
            <a:r>
              <a:rPr sz="1400" b="1" spc="-10" dirty="0">
                <a:latin typeface="Times New Roman"/>
                <a:cs typeface="Times New Roman"/>
              </a:rPr>
              <a:t>Customer</a:t>
            </a:r>
            <a:r>
              <a:rPr sz="1400" b="1" spc="-60" dirty="0">
                <a:latin typeface="Times New Roman"/>
                <a:cs typeface="Times New Roman"/>
              </a:rPr>
              <a:t> </a:t>
            </a:r>
            <a:r>
              <a:rPr sz="1400" b="1" dirty="0">
                <a:latin typeface="Times New Roman"/>
                <a:cs typeface="Times New Roman"/>
              </a:rPr>
              <a:t>Reviews,</a:t>
            </a:r>
            <a:r>
              <a:rPr sz="1400" b="1" spc="-25" dirty="0">
                <a:latin typeface="Times New Roman"/>
                <a:cs typeface="Times New Roman"/>
              </a:rPr>
              <a:t> </a:t>
            </a:r>
            <a:r>
              <a:rPr sz="1400" b="1" dirty="0">
                <a:latin typeface="Times New Roman"/>
                <a:cs typeface="Times New Roman"/>
              </a:rPr>
              <a:t>Ratings,</a:t>
            </a:r>
            <a:r>
              <a:rPr sz="1400" b="1" spc="-30" dirty="0">
                <a:latin typeface="Times New Roman"/>
                <a:cs typeface="Times New Roman"/>
              </a:rPr>
              <a:t> </a:t>
            </a:r>
            <a:r>
              <a:rPr sz="1400" b="1" dirty="0">
                <a:latin typeface="Times New Roman"/>
                <a:cs typeface="Times New Roman"/>
              </a:rPr>
              <a:t>and</a:t>
            </a:r>
            <a:r>
              <a:rPr sz="1400" b="1" spc="-50" dirty="0">
                <a:latin typeface="Times New Roman"/>
                <a:cs typeface="Times New Roman"/>
              </a:rPr>
              <a:t> </a:t>
            </a:r>
            <a:r>
              <a:rPr sz="1400" b="1" dirty="0">
                <a:latin typeface="Times New Roman"/>
                <a:cs typeface="Times New Roman"/>
              </a:rPr>
              <a:t>Feedback</a:t>
            </a:r>
            <a:r>
              <a:rPr sz="1400" b="1" spc="-65" dirty="0">
                <a:latin typeface="Times New Roman"/>
                <a:cs typeface="Times New Roman"/>
              </a:rPr>
              <a:t> </a:t>
            </a:r>
            <a:r>
              <a:rPr sz="1400" b="1" spc="-10" dirty="0">
                <a:latin typeface="Times New Roman"/>
                <a:cs typeface="Times New Roman"/>
              </a:rPr>
              <a:t>System</a:t>
            </a:r>
            <a:endParaRPr sz="1400">
              <a:latin typeface="Times New Roman"/>
              <a:cs typeface="Times New Roman"/>
            </a:endParaRPr>
          </a:p>
          <a:p>
            <a:pPr marL="12700" marR="17780" algn="just">
              <a:lnSpc>
                <a:spcPct val="105000"/>
              </a:lnSpc>
              <a:spcBef>
                <a:spcPts val="730"/>
              </a:spcBef>
            </a:pPr>
            <a:r>
              <a:rPr sz="1200" dirty="0">
                <a:latin typeface="Times New Roman"/>
                <a:cs typeface="Times New Roman"/>
              </a:rPr>
              <a:t>Adding</a:t>
            </a:r>
            <a:r>
              <a:rPr sz="1200" spc="170" dirty="0">
                <a:latin typeface="Times New Roman"/>
                <a:cs typeface="Times New Roman"/>
              </a:rPr>
              <a:t> </a:t>
            </a:r>
            <a:r>
              <a:rPr sz="1200" dirty="0">
                <a:latin typeface="Times New Roman"/>
                <a:cs typeface="Times New Roman"/>
              </a:rPr>
              <a:t>a</a:t>
            </a:r>
            <a:r>
              <a:rPr sz="1200" spc="175" dirty="0">
                <a:latin typeface="Times New Roman"/>
                <a:cs typeface="Times New Roman"/>
              </a:rPr>
              <a:t> </a:t>
            </a:r>
            <a:r>
              <a:rPr sz="1200" b="1" dirty="0">
                <a:latin typeface="Times New Roman"/>
                <a:cs typeface="Times New Roman"/>
              </a:rPr>
              <a:t>feedback</a:t>
            </a:r>
            <a:r>
              <a:rPr sz="1200" b="1" spc="155" dirty="0">
                <a:latin typeface="Times New Roman"/>
                <a:cs typeface="Times New Roman"/>
              </a:rPr>
              <a:t> </a:t>
            </a:r>
            <a:r>
              <a:rPr sz="1200" b="1" dirty="0">
                <a:latin typeface="Times New Roman"/>
                <a:cs typeface="Times New Roman"/>
              </a:rPr>
              <a:t>module</a:t>
            </a:r>
            <a:r>
              <a:rPr sz="1200" b="1" spc="175" dirty="0">
                <a:latin typeface="Times New Roman"/>
                <a:cs typeface="Times New Roman"/>
              </a:rPr>
              <a:t> </a:t>
            </a:r>
            <a:r>
              <a:rPr sz="1200" dirty="0">
                <a:latin typeface="Times New Roman"/>
                <a:cs typeface="Times New Roman"/>
              </a:rPr>
              <a:t>will</a:t>
            </a:r>
            <a:r>
              <a:rPr sz="1200" spc="135" dirty="0">
                <a:latin typeface="Times New Roman"/>
                <a:cs typeface="Times New Roman"/>
              </a:rPr>
              <a:t> </a:t>
            </a:r>
            <a:r>
              <a:rPr sz="1200" dirty="0">
                <a:latin typeface="Times New Roman"/>
                <a:cs typeface="Times New Roman"/>
              </a:rPr>
              <a:t>allow</a:t>
            </a:r>
            <a:r>
              <a:rPr sz="1200" spc="170" dirty="0">
                <a:latin typeface="Times New Roman"/>
                <a:cs typeface="Times New Roman"/>
              </a:rPr>
              <a:t> </a:t>
            </a:r>
            <a:r>
              <a:rPr sz="1200" dirty="0">
                <a:latin typeface="Times New Roman"/>
                <a:cs typeface="Times New Roman"/>
              </a:rPr>
              <a:t>users</a:t>
            </a:r>
            <a:r>
              <a:rPr sz="1200" spc="165" dirty="0">
                <a:latin typeface="Times New Roman"/>
                <a:cs typeface="Times New Roman"/>
              </a:rPr>
              <a:t> </a:t>
            </a:r>
            <a:r>
              <a:rPr sz="1200" dirty="0">
                <a:latin typeface="Times New Roman"/>
                <a:cs typeface="Times New Roman"/>
              </a:rPr>
              <a:t>to</a:t>
            </a:r>
            <a:r>
              <a:rPr sz="1200" spc="150" dirty="0">
                <a:latin typeface="Times New Roman"/>
                <a:cs typeface="Times New Roman"/>
              </a:rPr>
              <a:t> </a:t>
            </a:r>
            <a:r>
              <a:rPr sz="1200" dirty="0">
                <a:latin typeface="Times New Roman"/>
                <a:cs typeface="Times New Roman"/>
              </a:rPr>
              <a:t>rate</a:t>
            </a:r>
            <a:r>
              <a:rPr sz="1200" spc="145" dirty="0">
                <a:latin typeface="Times New Roman"/>
                <a:cs typeface="Times New Roman"/>
              </a:rPr>
              <a:t> </a:t>
            </a:r>
            <a:r>
              <a:rPr sz="1200" dirty="0">
                <a:latin typeface="Times New Roman"/>
                <a:cs typeface="Times New Roman"/>
              </a:rPr>
              <a:t>vehicles</a:t>
            </a:r>
            <a:r>
              <a:rPr sz="1200" spc="165" dirty="0">
                <a:latin typeface="Times New Roman"/>
                <a:cs typeface="Times New Roman"/>
              </a:rPr>
              <a:t> </a:t>
            </a:r>
            <a:r>
              <a:rPr sz="1200" dirty="0">
                <a:latin typeface="Times New Roman"/>
                <a:cs typeface="Times New Roman"/>
              </a:rPr>
              <a:t>and</a:t>
            </a:r>
            <a:r>
              <a:rPr sz="1200" spc="170" dirty="0">
                <a:latin typeface="Times New Roman"/>
                <a:cs typeface="Times New Roman"/>
              </a:rPr>
              <a:t> </a:t>
            </a:r>
            <a:r>
              <a:rPr sz="1200" dirty="0">
                <a:latin typeface="Times New Roman"/>
                <a:cs typeface="Times New Roman"/>
              </a:rPr>
              <a:t>provide</a:t>
            </a:r>
            <a:r>
              <a:rPr sz="1200" spc="170" dirty="0">
                <a:latin typeface="Times New Roman"/>
                <a:cs typeface="Times New Roman"/>
              </a:rPr>
              <a:t> </a:t>
            </a:r>
            <a:r>
              <a:rPr sz="1200" dirty="0">
                <a:latin typeface="Times New Roman"/>
                <a:cs typeface="Times New Roman"/>
              </a:rPr>
              <a:t>comments</a:t>
            </a:r>
            <a:r>
              <a:rPr sz="1200" spc="140" dirty="0">
                <a:latin typeface="Times New Roman"/>
                <a:cs typeface="Times New Roman"/>
              </a:rPr>
              <a:t> </a:t>
            </a:r>
            <a:r>
              <a:rPr sz="1200" dirty="0">
                <a:latin typeface="Times New Roman"/>
                <a:cs typeface="Times New Roman"/>
              </a:rPr>
              <a:t>on</a:t>
            </a:r>
            <a:r>
              <a:rPr sz="1200" spc="150" dirty="0">
                <a:latin typeface="Times New Roman"/>
                <a:cs typeface="Times New Roman"/>
              </a:rPr>
              <a:t> </a:t>
            </a:r>
            <a:r>
              <a:rPr sz="1200" spc="-10" dirty="0">
                <a:latin typeface="Times New Roman"/>
                <a:cs typeface="Times New Roman"/>
              </a:rPr>
              <a:t>their experience.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dirty="0">
                <a:latin typeface="Times New Roman"/>
                <a:cs typeface="Times New Roman"/>
              </a:rPr>
              <a:t>Star</a:t>
            </a:r>
            <a:r>
              <a:rPr sz="1200" spc="-30" dirty="0">
                <a:latin typeface="Times New Roman"/>
                <a:cs typeface="Times New Roman"/>
              </a:rPr>
              <a:t> </a:t>
            </a:r>
            <a:r>
              <a:rPr sz="1200" dirty="0">
                <a:latin typeface="Times New Roman"/>
                <a:cs typeface="Times New Roman"/>
              </a:rPr>
              <a:t>ratings</a:t>
            </a:r>
            <a:r>
              <a:rPr sz="1200" spc="-5" dirty="0">
                <a:latin typeface="Times New Roman"/>
                <a:cs typeface="Times New Roman"/>
              </a:rPr>
              <a:t> </a:t>
            </a:r>
            <a:r>
              <a:rPr sz="1200" dirty="0">
                <a:latin typeface="Times New Roman"/>
                <a:cs typeface="Times New Roman"/>
              </a:rPr>
              <a:t>for</a:t>
            </a:r>
            <a:r>
              <a:rPr sz="1200" spc="-10" dirty="0">
                <a:latin typeface="Times New Roman"/>
                <a:cs typeface="Times New Roman"/>
              </a:rPr>
              <a:t> vehicles</a:t>
            </a:r>
            <a:r>
              <a:rPr sz="1200" spc="-30" dirty="0">
                <a:latin typeface="Times New Roman"/>
                <a:cs typeface="Times New Roman"/>
              </a:rPr>
              <a:t> </a:t>
            </a:r>
            <a:r>
              <a:rPr sz="1200" dirty="0">
                <a:latin typeface="Times New Roman"/>
                <a:cs typeface="Times New Roman"/>
              </a:rPr>
              <a:t>and</a:t>
            </a:r>
            <a:r>
              <a:rPr sz="1200" spc="-10" dirty="0">
                <a:latin typeface="Times New Roman"/>
                <a:cs typeface="Times New Roman"/>
              </a:rPr>
              <a:t> services.</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dirty="0">
                <a:latin typeface="Times New Roman"/>
                <a:cs typeface="Times New Roman"/>
              </a:rPr>
              <a:t>Reviews</a:t>
            </a:r>
            <a:r>
              <a:rPr sz="1200" spc="-4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vehicle</a:t>
            </a:r>
            <a:r>
              <a:rPr sz="1200" spc="-20" dirty="0">
                <a:latin typeface="Times New Roman"/>
                <a:cs typeface="Times New Roman"/>
              </a:rPr>
              <a:t> </a:t>
            </a:r>
            <a:r>
              <a:rPr sz="1200" dirty="0">
                <a:latin typeface="Times New Roman"/>
                <a:cs typeface="Times New Roman"/>
              </a:rPr>
              <a:t>condition,</a:t>
            </a:r>
            <a:r>
              <a:rPr sz="1200" spc="-10" dirty="0">
                <a:latin typeface="Times New Roman"/>
                <a:cs typeface="Times New Roman"/>
              </a:rPr>
              <a:t> cleanliness,</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service</a:t>
            </a:r>
            <a:r>
              <a:rPr sz="1200" spc="-25" dirty="0">
                <a:latin typeface="Times New Roman"/>
                <a:cs typeface="Times New Roman"/>
              </a:rPr>
              <a:t> </a:t>
            </a:r>
            <a:r>
              <a:rPr sz="1200" spc="-10" dirty="0">
                <a:latin typeface="Times New Roman"/>
                <a:cs typeface="Times New Roman"/>
              </a:rPr>
              <a:t>quality.</a:t>
            </a:r>
            <a:endParaRPr sz="1200">
              <a:latin typeface="Times New Roman"/>
              <a:cs typeface="Times New Roman"/>
            </a:endParaRPr>
          </a:p>
          <a:p>
            <a:pPr marL="469900" lvl="1" indent="-228600">
              <a:lnSpc>
                <a:spcPct val="100000"/>
              </a:lnSpc>
              <a:spcBef>
                <a:spcPts val="865"/>
              </a:spcBef>
              <a:buSzPct val="83333"/>
              <a:buFont typeface="Symbol"/>
              <a:buChar char=""/>
              <a:tabLst>
                <a:tab pos="469900" algn="l"/>
              </a:tabLst>
            </a:pPr>
            <a:r>
              <a:rPr sz="1200" dirty="0">
                <a:latin typeface="Times New Roman"/>
                <a:cs typeface="Times New Roman"/>
              </a:rPr>
              <a:t>Suggestions</a:t>
            </a:r>
            <a:r>
              <a:rPr sz="1200" spc="-4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complaints</a:t>
            </a:r>
            <a:r>
              <a:rPr sz="1200" spc="-40" dirty="0">
                <a:latin typeface="Times New Roman"/>
                <a:cs typeface="Times New Roman"/>
              </a:rPr>
              <a:t> </a:t>
            </a:r>
            <a:r>
              <a:rPr sz="1200" dirty="0">
                <a:latin typeface="Times New Roman"/>
                <a:cs typeface="Times New Roman"/>
              </a:rPr>
              <a:t>directly</a:t>
            </a:r>
            <a:r>
              <a:rPr sz="1200" spc="-55" dirty="0">
                <a:latin typeface="Times New Roman"/>
                <a:cs typeface="Times New Roman"/>
              </a:rPr>
              <a:t> </a:t>
            </a:r>
            <a:r>
              <a:rPr sz="1200" dirty="0">
                <a:latin typeface="Times New Roman"/>
                <a:cs typeface="Times New Roman"/>
              </a:rPr>
              <a:t>sent</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administrators.</a:t>
            </a:r>
            <a:endParaRPr sz="1200">
              <a:latin typeface="Times New Roman"/>
              <a:cs typeface="Times New Roman"/>
            </a:endParaRPr>
          </a:p>
          <a:p>
            <a:pPr marL="12700" marR="17780" algn="just">
              <a:lnSpc>
                <a:spcPct val="103499"/>
              </a:lnSpc>
              <a:spcBef>
                <a:spcPts val="790"/>
              </a:spcBef>
            </a:pPr>
            <a:r>
              <a:rPr sz="1200" dirty="0">
                <a:latin typeface="Times New Roman"/>
                <a:cs typeface="Times New Roman"/>
              </a:rPr>
              <a:t>Feedback</a:t>
            </a:r>
            <a:r>
              <a:rPr sz="1200" spc="-5" dirty="0">
                <a:latin typeface="Times New Roman"/>
                <a:cs typeface="Times New Roman"/>
              </a:rPr>
              <a:t> </a:t>
            </a:r>
            <a:r>
              <a:rPr sz="1200" dirty="0">
                <a:latin typeface="Times New Roman"/>
                <a:cs typeface="Times New Roman"/>
              </a:rPr>
              <a:t>mechanisms</a:t>
            </a:r>
            <a:r>
              <a:rPr sz="1200" spc="-15" dirty="0">
                <a:latin typeface="Times New Roman"/>
                <a:cs typeface="Times New Roman"/>
              </a:rPr>
              <a:t> </a:t>
            </a:r>
            <a:r>
              <a:rPr sz="1200" dirty="0">
                <a:latin typeface="Times New Roman"/>
                <a:cs typeface="Times New Roman"/>
              </a:rPr>
              <a:t>help improve</a:t>
            </a:r>
            <a:r>
              <a:rPr sz="1200" spc="-25" dirty="0">
                <a:latin typeface="Times New Roman"/>
                <a:cs typeface="Times New Roman"/>
              </a:rPr>
              <a:t> </a:t>
            </a:r>
            <a:r>
              <a:rPr sz="1200" dirty="0">
                <a:latin typeface="Times New Roman"/>
                <a:cs typeface="Times New Roman"/>
              </a:rPr>
              <a:t>service</a:t>
            </a:r>
            <a:r>
              <a:rPr sz="1200" spc="-25" dirty="0">
                <a:latin typeface="Times New Roman"/>
                <a:cs typeface="Times New Roman"/>
              </a:rPr>
              <a:t> </a:t>
            </a:r>
            <a:r>
              <a:rPr sz="1200" spc="-10" dirty="0">
                <a:latin typeface="Times New Roman"/>
                <a:cs typeface="Times New Roman"/>
              </a:rPr>
              <a:t>quality,</a:t>
            </a:r>
            <a:r>
              <a:rPr sz="1200" spc="5" dirty="0">
                <a:latin typeface="Times New Roman"/>
                <a:cs typeface="Times New Roman"/>
              </a:rPr>
              <a:t> </a:t>
            </a:r>
            <a:r>
              <a:rPr sz="1200" dirty="0">
                <a:latin typeface="Times New Roman"/>
                <a:cs typeface="Times New Roman"/>
              </a:rPr>
              <a:t>build</a:t>
            </a:r>
            <a:r>
              <a:rPr sz="1200" spc="-25" dirty="0">
                <a:latin typeface="Times New Roman"/>
                <a:cs typeface="Times New Roman"/>
              </a:rPr>
              <a:t> </a:t>
            </a:r>
            <a:r>
              <a:rPr sz="1200" dirty="0">
                <a:latin typeface="Times New Roman"/>
                <a:cs typeface="Times New Roman"/>
              </a:rPr>
              <a:t>customer</a:t>
            </a:r>
            <a:r>
              <a:rPr sz="1200" spc="-15" dirty="0">
                <a:latin typeface="Times New Roman"/>
                <a:cs typeface="Times New Roman"/>
              </a:rPr>
              <a:t> </a:t>
            </a:r>
            <a:r>
              <a:rPr sz="1200" dirty="0">
                <a:latin typeface="Times New Roman"/>
                <a:cs typeface="Times New Roman"/>
              </a:rPr>
              <a:t>trust,</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provide</a:t>
            </a:r>
            <a:r>
              <a:rPr sz="1200" spc="-25" dirty="0">
                <a:latin typeface="Times New Roman"/>
                <a:cs typeface="Times New Roman"/>
              </a:rPr>
              <a:t> </a:t>
            </a:r>
            <a:r>
              <a:rPr sz="1200" spc="-10" dirty="0">
                <a:latin typeface="Times New Roman"/>
                <a:cs typeface="Times New Roman"/>
              </a:rPr>
              <a:t>actionable </a:t>
            </a:r>
            <a:r>
              <a:rPr sz="1200" dirty="0">
                <a:latin typeface="Times New Roman"/>
                <a:cs typeface="Times New Roman"/>
              </a:rPr>
              <a:t>insights</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continuous</a:t>
            </a:r>
            <a:r>
              <a:rPr sz="1200" spc="-25" dirty="0">
                <a:latin typeface="Times New Roman"/>
                <a:cs typeface="Times New Roman"/>
              </a:rPr>
              <a:t> </a:t>
            </a:r>
            <a:r>
              <a:rPr sz="1200" spc="-10" dirty="0">
                <a:latin typeface="Times New Roman"/>
                <a:cs typeface="Times New Roman"/>
              </a:rPr>
              <a:t>improvement.</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30"/>
              </a:spcBef>
            </a:pPr>
            <a:endParaRPr sz="1200">
              <a:latin typeface="Times New Roman"/>
              <a:cs typeface="Times New Roman"/>
            </a:endParaRPr>
          </a:p>
          <a:p>
            <a:pPr marL="191770" indent="-179070">
              <a:lnSpc>
                <a:spcPct val="100000"/>
              </a:lnSpc>
              <a:buAutoNum type="arabicPeriod" startAt="7"/>
              <a:tabLst>
                <a:tab pos="191770" algn="l"/>
              </a:tabLst>
            </a:pPr>
            <a:r>
              <a:rPr sz="1400" b="1" dirty="0">
                <a:latin typeface="Times New Roman"/>
                <a:cs typeface="Times New Roman"/>
              </a:rPr>
              <a:t>Cloud</a:t>
            </a:r>
            <a:r>
              <a:rPr sz="1400" b="1" spc="-65" dirty="0">
                <a:latin typeface="Times New Roman"/>
                <a:cs typeface="Times New Roman"/>
              </a:rPr>
              <a:t> </a:t>
            </a:r>
            <a:r>
              <a:rPr sz="1400" b="1" dirty="0">
                <a:latin typeface="Times New Roman"/>
                <a:cs typeface="Times New Roman"/>
              </a:rPr>
              <a:t>Scalability</a:t>
            </a:r>
            <a:r>
              <a:rPr sz="1400" b="1" spc="-60"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dirty="0">
                <a:latin typeface="Times New Roman"/>
                <a:cs typeface="Times New Roman"/>
              </a:rPr>
              <a:t>Performance</a:t>
            </a:r>
            <a:r>
              <a:rPr sz="1400" b="1" spc="-55" dirty="0">
                <a:latin typeface="Times New Roman"/>
                <a:cs typeface="Times New Roman"/>
              </a:rPr>
              <a:t> </a:t>
            </a:r>
            <a:r>
              <a:rPr sz="1400" b="1" spc="-10" dirty="0">
                <a:latin typeface="Times New Roman"/>
                <a:cs typeface="Times New Roman"/>
              </a:rPr>
              <a:t>Optimization</a:t>
            </a:r>
            <a:endParaRPr sz="1400">
              <a:latin typeface="Times New Roman"/>
              <a:cs typeface="Times New Roman"/>
            </a:endParaRPr>
          </a:p>
          <a:p>
            <a:pPr marL="12700" marR="10795" algn="just">
              <a:lnSpc>
                <a:spcPct val="103499"/>
              </a:lnSpc>
              <a:spcBef>
                <a:spcPts val="770"/>
              </a:spcBef>
            </a:pPr>
            <a:r>
              <a:rPr sz="1200" dirty="0">
                <a:latin typeface="Times New Roman"/>
                <a:cs typeface="Times New Roman"/>
              </a:rPr>
              <a:t>While</a:t>
            </a:r>
            <a:r>
              <a:rPr sz="1200" spc="155" dirty="0">
                <a:latin typeface="Times New Roman"/>
                <a:cs typeface="Times New Roman"/>
              </a:rPr>
              <a:t> </a:t>
            </a:r>
            <a:r>
              <a:rPr sz="1200" dirty="0">
                <a:latin typeface="Times New Roman"/>
                <a:cs typeface="Times New Roman"/>
              </a:rPr>
              <a:t>the</a:t>
            </a:r>
            <a:r>
              <a:rPr sz="1200" spc="155" dirty="0">
                <a:latin typeface="Times New Roman"/>
                <a:cs typeface="Times New Roman"/>
              </a:rPr>
              <a:t> </a:t>
            </a:r>
            <a:r>
              <a:rPr sz="1200" dirty="0">
                <a:latin typeface="Times New Roman"/>
                <a:cs typeface="Times New Roman"/>
              </a:rPr>
              <a:t>current</a:t>
            </a:r>
            <a:r>
              <a:rPr sz="1200" spc="165" dirty="0">
                <a:latin typeface="Times New Roman"/>
                <a:cs typeface="Times New Roman"/>
              </a:rPr>
              <a:t> </a:t>
            </a:r>
            <a:r>
              <a:rPr sz="1200" dirty="0">
                <a:latin typeface="Times New Roman"/>
                <a:cs typeface="Times New Roman"/>
              </a:rPr>
              <a:t>system</a:t>
            </a:r>
            <a:r>
              <a:rPr sz="1200" spc="120" dirty="0">
                <a:latin typeface="Times New Roman"/>
                <a:cs typeface="Times New Roman"/>
              </a:rPr>
              <a:t> </a:t>
            </a:r>
            <a:r>
              <a:rPr sz="1200" dirty="0">
                <a:latin typeface="Times New Roman"/>
                <a:cs typeface="Times New Roman"/>
              </a:rPr>
              <a:t>relies</a:t>
            </a:r>
            <a:r>
              <a:rPr sz="1200" spc="150" dirty="0">
                <a:latin typeface="Times New Roman"/>
                <a:cs typeface="Times New Roman"/>
              </a:rPr>
              <a:t> </a:t>
            </a:r>
            <a:r>
              <a:rPr sz="1200" dirty="0">
                <a:latin typeface="Times New Roman"/>
                <a:cs typeface="Times New Roman"/>
              </a:rPr>
              <a:t>on</a:t>
            </a:r>
            <a:r>
              <a:rPr sz="1200" spc="135" dirty="0">
                <a:latin typeface="Times New Roman"/>
                <a:cs typeface="Times New Roman"/>
              </a:rPr>
              <a:t> </a:t>
            </a:r>
            <a:r>
              <a:rPr sz="1200" dirty="0">
                <a:latin typeface="Times New Roman"/>
                <a:cs typeface="Times New Roman"/>
              </a:rPr>
              <a:t>Firebase</a:t>
            </a:r>
            <a:r>
              <a:rPr sz="1200" spc="160" dirty="0">
                <a:latin typeface="Times New Roman"/>
                <a:cs typeface="Times New Roman"/>
              </a:rPr>
              <a:t> </a:t>
            </a:r>
            <a:r>
              <a:rPr sz="1200" dirty="0">
                <a:latin typeface="Times New Roman"/>
                <a:cs typeface="Times New Roman"/>
              </a:rPr>
              <a:t>for</a:t>
            </a:r>
            <a:r>
              <a:rPr sz="1200" spc="145" dirty="0">
                <a:latin typeface="Times New Roman"/>
                <a:cs typeface="Times New Roman"/>
              </a:rPr>
              <a:t> </a:t>
            </a:r>
            <a:r>
              <a:rPr sz="1200" dirty="0">
                <a:latin typeface="Times New Roman"/>
                <a:cs typeface="Times New Roman"/>
              </a:rPr>
              <a:t>backend</a:t>
            </a:r>
            <a:r>
              <a:rPr sz="1200" spc="160" dirty="0">
                <a:latin typeface="Times New Roman"/>
                <a:cs typeface="Times New Roman"/>
              </a:rPr>
              <a:t> </a:t>
            </a:r>
            <a:r>
              <a:rPr sz="1200" dirty="0">
                <a:latin typeface="Times New Roman"/>
                <a:cs typeface="Times New Roman"/>
              </a:rPr>
              <a:t>and</a:t>
            </a:r>
            <a:r>
              <a:rPr sz="1200" spc="160" dirty="0">
                <a:latin typeface="Times New Roman"/>
                <a:cs typeface="Times New Roman"/>
              </a:rPr>
              <a:t> </a:t>
            </a:r>
            <a:r>
              <a:rPr sz="1200" spc="-10" dirty="0">
                <a:latin typeface="Times New Roman"/>
                <a:cs typeface="Times New Roman"/>
              </a:rPr>
              <a:t>real-</a:t>
            </a:r>
            <a:r>
              <a:rPr sz="1200" dirty="0">
                <a:latin typeface="Times New Roman"/>
                <a:cs typeface="Times New Roman"/>
              </a:rPr>
              <a:t>time</a:t>
            </a:r>
            <a:r>
              <a:rPr sz="1200" spc="155" dirty="0">
                <a:latin typeface="Times New Roman"/>
                <a:cs typeface="Times New Roman"/>
              </a:rPr>
              <a:t> </a:t>
            </a:r>
            <a:r>
              <a:rPr sz="1200" dirty="0">
                <a:latin typeface="Times New Roman"/>
                <a:cs typeface="Times New Roman"/>
              </a:rPr>
              <a:t>database</a:t>
            </a:r>
            <a:r>
              <a:rPr sz="1200" spc="180" dirty="0">
                <a:latin typeface="Times New Roman"/>
                <a:cs typeface="Times New Roman"/>
              </a:rPr>
              <a:t> </a:t>
            </a:r>
            <a:r>
              <a:rPr sz="1200" spc="-10" dirty="0">
                <a:latin typeface="Times New Roman"/>
                <a:cs typeface="Times New Roman"/>
              </a:rPr>
              <a:t>management, </a:t>
            </a:r>
            <a:r>
              <a:rPr sz="1200" dirty="0">
                <a:latin typeface="Times New Roman"/>
                <a:cs typeface="Times New Roman"/>
              </a:rPr>
              <a:t>future </a:t>
            </a:r>
            <a:r>
              <a:rPr sz="1200" spc="-10" dirty="0">
                <a:latin typeface="Times New Roman"/>
                <a:cs typeface="Times New Roman"/>
              </a:rPr>
              <a:t>enhancements</a:t>
            </a:r>
            <a:r>
              <a:rPr sz="1200" spc="-5"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spc="-10" dirty="0">
                <a:latin typeface="Times New Roman"/>
                <a:cs typeface="Times New Roman"/>
              </a:rPr>
              <a:t>involve:</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dirty="0">
                <a:latin typeface="Times New Roman"/>
                <a:cs typeface="Times New Roman"/>
              </a:rPr>
              <a:t>Cloud</a:t>
            </a:r>
            <a:r>
              <a:rPr sz="1200" b="1" spc="-25" dirty="0">
                <a:latin typeface="Times New Roman"/>
                <a:cs typeface="Times New Roman"/>
              </a:rPr>
              <a:t> </a:t>
            </a:r>
            <a:r>
              <a:rPr sz="1200" b="1" dirty="0">
                <a:latin typeface="Times New Roman"/>
                <a:cs typeface="Times New Roman"/>
              </a:rPr>
              <a:t>load</a:t>
            </a:r>
            <a:r>
              <a:rPr sz="1200" b="1" spc="-20" dirty="0">
                <a:latin typeface="Times New Roman"/>
                <a:cs typeface="Times New Roman"/>
              </a:rPr>
              <a:t> </a:t>
            </a:r>
            <a:r>
              <a:rPr sz="1200" b="1" dirty="0">
                <a:latin typeface="Times New Roman"/>
                <a:cs typeface="Times New Roman"/>
              </a:rPr>
              <a:t>balancing</a:t>
            </a:r>
            <a:r>
              <a:rPr sz="1200" b="1" spc="-1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handle</a:t>
            </a:r>
            <a:r>
              <a:rPr sz="1200" spc="-5" dirty="0">
                <a:latin typeface="Times New Roman"/>
                <a:cs typeface="Times New Roman"/>
              </a:rPr>
              <a:t> </a:t>
            </a:r>
            <a:r>
              <a:rPr sz="1200" spc="-25" dirty="0">
                <a:latin typeface="Times New Roman"/>
                <a:cs typeface="Times New Roman"/>
              </a:rPr>
              <a:t>large-</a:t>
            </a:r>
            <a:r>
              <a:rPr sz="1200" dirty="0">
                <a:latin typeface="Times New Roman"/>
                <a:cs typeface="Times New Roman"/>
              </a:rPr>
              <a:t>scale</a:t>
            </a:r>
            <a:r>
              <a:rPr sz="1200" spc="-2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a:p>
            <a:pPr marL="469900" marR="15240" lvl="1" indent="-229235">
              <a:lnSpc>
                <a:spcPct val="103299"/>
              </a:lnSpc>
              <a:spcBef>
                <a:spcPts val="795"/>
              </a:spcBef>
              <a:buSzPct val="83333"/>
              <a:buFont typeface="Symbol"/>
              <a:buChar char=""/>
              <a:tabLst>
                <a:tab pos="469900" algn="l"/>
              </a:tabLst>
            </a:pPr>
            <a:r>
              <a:rPr sz="1200" dirty="0">
                <a:latin typeface="Times New Roman"/>
                <a:cs typeface="Times New Roman"/>
              </a:rPr>
              <a:t>Optimizing</a:t>
            </a:r>
            <a:r>
              <a:rPr sz="1200" spc="114" dirty="0">
                <a:latin typeface="Times New Roman"/>
                <a:cs typeface="Times New Roman"/>
              </a:rPr>
              <a:t> </a:t>
            </a:r>
            <a:r>
              <a:rPr sz="1200" dirty="0">
                <a:latin typeface="Times New Roman"/>
                <a:cs typeface="Times New Roman"/>
              </a:rPr>
              <a:t>database</a:t>
            </a:r>
            <a:r>
              <a:rPr sz="1200" spc="114" dirty="0">
                <a:latin typeface="Times New Roman"/>
                <a:cs typeface="Times New Roman"/>
              </a:rPr>
              <a:t> </a:t>
            </a:r>
            <a:r>
              <a:rPr sz="1200" dirty="0">
                <a:latin typeface="Times New Roman"/>
                <a:cs typeface="Times New Roman"/>
              </a:rPr>
              <a:t>queries</a:t>
            </a:r>
            <a:r>
              <a:rPr sz="1200" spc="130" dirty="0">
                <a:latin typeface="Times New Roman"/>
                <a:cs typeface="Times New Roman"/>
              </a:rPr>
              <a:t> </a:t>
            </a:r>
            <a:r>
              <a:rPr sz="1200" dirty="0">
                <a:latin typeface="Times New Roman"/>
                <a:cs typeface="Times New Roman"/>
              </a:rPr>
              <a:t>for</a:t>
            </a:r>
            <a:r>
              <a:rPr sz="1200" spc="125" dirty="0">
                <a:latin typeface="Times New Roman"/>
                <a:cs typeface="Times New Roman"/>
              </a:rPr>
              <a:t> </a:t>
            </a:r>
            <a:r>
              <a:rPr sz="1200" dirty="0">
                <a:latin typeface="Times New Roman"/>
                <a:cs typeface="Times New Roman"/>
              </a:rPr>
              <a:t>faster</a:t>
            </a:r>
            <a:r>
              <a:rPr sz="1200" spc="125" dirty="0">
                <a:latin typeface="Times New Roman"/>
                <a:cs typeface="Times New Roman"/>
              </a:rPr>
              <a:t> </a:t>
            </a:r>
            <a:r>
              <a:rPr sz="1200" dirty="0">
                <a:latin typeface="Times New Roman"/>
                <a:cs typeface="Times New Roman"/>
              </a:rPr>
              <a:t>performance</a:t>
            </a:r>
            <a:r>
              <a:rPr sz="1200" spc="114" dirty="0">
                <a:latin typeface="Times New Roman"/>
                <a:cs typeface="Times New Roman"/>
              </a:rPr>
              <a:t> </a:t>
            </a:r>
            <a:r>
              <a:rPr sz="1200" dirty="0">
                <a:latin typeface="Times New Roman"/>
                <a:cs typeface="Times New Roman"/>
              </a:rPr>
              <a:t>with</a:t>
            </a:r>
            <a:r>
              <a:rPr sz="1200" spc="95" dirty="0">
                <a:latin typeface="Times New Roman"/>
                <a:cs typeface="Times New Roman"/>
              </a:rPr>
              <a:t> </a:t>
            </a:r>
            <a:r>
              <a:rPr sz="1200" dirty="0">
                <a:latin typeface="Times New Roman"/>
                <a:cs typeface="Times New Roman"/>
              </a:rPr>
              <a:t>a</a:t>
            </a:r>
            <a:r>
              <a:rPr sz="1200" spc="135" dirty="0">
                <a:latin typeface="Times New Roman"/>
                <a:cs typeface="Times New Roman"/>
              </a:rPr>
              <a:t> </a:t>
            </a:r>
            <a:r>
              <a:rPr sz="1200" dirty="0">
                <a:latin typeface="Times New Roman"/>
                <a:cs typeface="Times New Roman"/>
              </a:rPr>
              <a:t>higher</a:t>
            </a:r>
            <a:r>
              <a:rPr sz="1200" spc="125" dirty="0">
                <a:latin typeface="Times New Roman"/>
                <a:cs typeface="Times New Roman"/>
              </a:rPr>
              <a:t> </a:t>
            </a:r>
            <a:r>
              <a:rPr sz="1200" dirty="0">
                <a:latin typeface="Times New Roman"/>
                <a:cs typeface="Times New Roman"/>
              </a:rPr>
              <a:t>number</a:t>
            </a:r>
            <a:r>
              <a:rPr sz="1200" spc="125" dirty="0">
                <a:latin typeface="Times New Roman"/>
                <a:cs typeface="Times New Roman"/>
              </a:rPr>
              <a:t> </a:t>
            </a:r>
            <a:r>
              <a:rPr sz="1200" dirty="0">
                <a:latin typeface="Times New Roman"/>
                <a:cs typeface="Times New Roman"/>
              </a:rPr>
              <a:t>of</a:t>
            </a:r>
            <a:r>
              <a:rPr sz="1200" spc="85" dirty="0">
                <a:latin typeface="Times New Roman"/>
                <a:cs typeface="Times New Roman"/>
              </a:rPr>
              <a:t> </a:t>
            </a:r>
            <a:r>
              <a:rPr sz="1200" dirty="0">
                <a:latin typeface="Times New Roman"/>
                <a:cs typeface="Times New Roman"/>
              </a:rPr>
              <a:t>users</a:t>
            </a:r>
            <a:r>
              <a:rPr sz="1200" spc="10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bookings.</a:t>
            </a:r>
            <a:endParaRPr sz="12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20</a:t>
            </a:r>
          </a:p>
        </p:txBody>
      </p:sp>
      <p:sp>
        <p:nvSpPr>
          <p:cNvPr id="2" name="object 2"/>
          <p:cNvSpPr txBox="1"/>
          <p:nvPr/>
        </p:nvSpPr>
        <p:spPr>
          <a:xfrm>
            <a:off x="902004" y="886714"/>
            <a:ext cx="5969635" cy="5946140"/>
          </a:xfrm>
          <a:prstGeom prst="rect">
            <a:avLst/>
          </a:prstGeom>
        </p:spPr>
        <p:txBody>
          <a:bodyPr vert="horz" wrap="square" lIns="0" tIns="6350" rIns="0" bIns="0" rtlCol="0">
            <a:spAutoFit/>
          </a:bodyPr>
          <a:lstStyle/>
          <a:p>
            <a:pPr marL="469900" marR="6350" indent="-229235">
              <a:lnSpc>
                <a:spcPct val="103299"/>
              </a:lnSpc>
              <a:spcBef>
                <a:spcPts val="50"/>
              </a:spcBef>
              <a:buSzPct val="83333"/>
              <a:buFont typeface="Symbol"/>
              <a:buChar char=""/>
              <a:tabLst>
                <a:tab pos="469900" algn="l"/>
              </a:tabLst>
            </a:pPr>
            <a:r>
              <a:rPr sz="1200" b="1" spc="-10" dirty="0">
                <a:latin typeface="Times New Roman"/>
                <a:cs typeface="Times New Roman"/>
              </a:rPr>
              <a:t>Integration</a:t>
            </a:r>
            <a:r>
              <a:rPr sz="1200" b="1" spc="-40" dirty="0">
                <a:latin typeface="Times New Roman"/>
                <a:cs typeface="Times New Roman"/>
              </a:rPr>
              <a:t> </a:t>
            </a:r>
            <a:r>
              <a:rPr sz="1200" b="1" dirty="0">
                <a:latin typeface="Times New Roman"/>
                <a:cs typeface="Times New Roman"/>
              </a:rPr>
              <a:t>with</a:t>
            </a:r>
            <a:r>
              <a:rPr sz="1200" b="1" spc="-40" dirty="0">
                <a:latin typeface="Times New Roman"/>
                <a:cs typeface="Times New Roman"/>
              </a:rPr>
              <a:t> </a:t>
            </a:r>
            <a:r>
              <a:rPr sz="1200" b="1" spc="-10" dirty="0">
                <a:latin typeface="Times New Roman"/>
                <a:cs typeface="Times New Roman"/>
              </a:rPr>
              <a:t>scalable</a:t>
            </a:r>
            <a:r>
              <a:rPr sz="1200" b="1" spc="-45" dirty="0">
                <a:latin typeface="Times New Roman"/>
                <a:cs typeface="Times New Roman"/>
              </a:rPr>
              <a:t> </a:t>
            </a:r>
            <a:r>
              <a:rPr sz="1200" b="1" spc="-10" dirty="0">
                <a:latin typeface="Times New Roman"/>
                <a:cs typeface="Times New Roman"/>
              </a:rPr>
              <a:t>cloud</a:t>
            </a:r>
            <a:r>
              <a:rPr sz="1200" b="1" spc="-40" dirty="0">
                <a:latin typeface="Times New Roman"/>
                <a:cs typeface="Times New Roman"/>
              </a:rPr>
              <a:t> </a:t>
            </a:r>
            <a:r>
              <a:rPr sz="1200" b="1" spc="-10" dirty="0">
                <a:latin typeface="Times New Roman"/>
                <a:cs typeface="Times New Roman"/>
              </a:rPr>
              <a:t>services</a:t>
            </a:r>
            <a:r>
              <a:rPr sz="1200" b="1" spc="-30" dirty="0">
                <a:latin typeface="Times New Roman"/>
                <a:cs typeface="Times New Roman"/>
              </a:rPr>
              <a:t> </a:t>
            </a:r>
            <a:r>
              <a:rPr sz="1200" dirty="0">
                <a:latin typeface="Times New Roman"/>
                <a:cs typeface="Times New Roman"/>
              </a:rPr>
              <a:t>such</a:t>
            </a:r>
            <a:r>
              <a:rPr sz="1200" spc="-65" dirty="0">
                <a:latin typeface="Times New Roman"/>
                <a:cs typeface="Times New Roman"/>
              </a:rPr>
              <a:t> </a:t>
            </a:r>
            <a:r>
              <a:rPr sz="1200" spc="-10" dirty="0">
                <a:latin typeface="Times New Roman"/>
                <a:cs typeface="Times New Roman"/>
              </a:rPr>
              <a:t>as</a:t>
            </a:r>
            <a:r>
              <a:rPr sz="1200" spc="-80" dirty="0">
                <a:latin typeface="Times New Roman"/>
                <a:cs typeface="Times New Roman"/>
              </a:rPr>
              <a:t> </a:t>
            </a:r>
            <a:r>
              <a:rPr sz="1200" spc="-45" dirty="0">
                <a:latin typeface="Times New Roman"/>
                <a:cs typeface="Times New Roman"/>
              </a:rPr>
              <a:t>AWS,</a:t>
            </a:r>
            <a:r>
              <a:rPr sz="1200" spc="-85" dirty="0">
                <a:latin typeface="Times New Roman"/>
                <a:cs typeface="Times New Roman"/>
              </a:rPr>
              <a:t> </a:t>
            </a:r>
            <a:r>
              <a:rPr sz="1200" spc="-10" dirty="0">
                <a:latin typeface="Times New Roman"/>
                <a:cs typeface="Times New Roman"/>
              </a:rPr>
              <a:t>Azure,</a:t>
            </a:r>
            <a:r>
              <a:rPr sz="1200" spc="-3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spc="-20" dirty="0">
                <a:latin typeface="Times New Roman"/>
                <a:cs typeface="Times New Roman"/>
              </a:rPr>
              <a:t>Google</a:t>
            </a:r>
            <a:r>
              <a:rPr sz="1200" spc="-45" dirty="0">
                <a:latin typeface="Times New Roman"/>
                <a:cs typeface="Times New Roman"/>
              </a:rPr>
              <a:t> </a:t>
            </a:r>
            <a:r>
              <a:rPr sz="1200" spc="-10" dirty="0">
                <a:latin typeface="Times New Roman"/>
                <a:cs typeface="Times New Roman"/>
              </a:rPr>
              <a:t>Cloud</a:t>
            </a:r>
            <a:r>
              <a:rPr sz="1200" spc="-4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support enterprise-level</a:t>
            </a:r>
            <a:r>
              <a:rPr sz="1200" spc="15" dirty="0">
                <a:latin typeface="Times New Roman"/>
                <a:cs typeface="Times New Roman"/>
              </a:rPr>
              <a:t> </a:t>
            </a:r>
            <a:r>
              <a:rPr sz="1200" spc="-10" dirty="0">
                <a:latin typeface="Times New Roman"/>
                <a:cs typeface="Times New Roman"/>
              </a:rPr>
              <a:t>deployment.</a:t>
            </a:r>
            <a:endParaRPr sz="1200">
              <a:latin typeface="Times New Roman"/>
              <a:cs typeface="Times New Roman"/>
            </a:endParaRPr>
          </a:p>
          <a:p>
            <a:pPr marL="12700">
              <a:lnSpc>
                <a:spcPct val="100000"/>
              </a:lnSpc>
              <a:spcBef>
                <a:spcPts val="84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ensures</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65"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accommodate</a:t>
            </a:r>
            <a:r>
              <a:rPr sz="1200" spc="-30" dirty="0">
                <a:latin typeface="Times New Roman"/>
                <a:cs typeface="Times New Roman"/>
              </a:rPr>
              <a:t> </a:t>
            </a:r>
            <a:r>
              <a:rPr sz="1200" dirty="0">
                <a:latin typeface="Times New Roman"/>
                <a:cs typeface="Times New Roman"/>
              </a:rPr>
              <a:t>growing</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bases</a:t>
            </a:r>
            <a:r>
              <a:rPr sz="1200" spc="-35" dirty="0">
                <a:latin typeface="Times New Roman"/>
                <a:cs typeface="Times New Roman"/>
              </a:rPr>
              <a:t> </a:t>
            </a:r>
            <a:r>
              <a:rPr sz="1200" dirty="0">
                <a:latin typeface="Times New Roman"/>
                <a:cs typeface="Times New Roman"/>
              </a:rPr>
              <a:t>without</a:t>
            </a:r>
            <a:r>
              <a:rPr sz="1200" spc="-25" dirty="0">
                <a:latin typeface="Times New Roman"/>
                <a:cs typeface="Times New Roman"/>
              </a:rPr>
              <a:t> </a:t>
            </a:r>
            <a:r>
              <a:rPr sz="1200" dirty="0">
                <a:latin typeface="Times New Roman"/>
                <a:cs typeface="Times New Roman"/>
              </a:rPr>
              <a:t>performance</a:t>
            </a:r>
            <a:r>
              <a:rPr sz="1200" spc="-30" dirty="0">
                <a:latin typeface="Times New Roman"/>
                <a:cs typeface="Times New Roman"/>
              </a:rPr>
              <a:t> </a:t>
            </a:r>
            <a:r>
              <a:rPr sz="1200" spc="-10" dirty="0">
                <a:latin typeface="Times New Roman"/>
                <a:cs typeface="Times New Roman"/>
              </a:rPr>
              <a:t>degradation.</a:t>
            </a:r>
            <a:endParaRPr sz="1200">
              <a:latin typeface="Times New Roman"/>
              <a:cs typeface="Times New Roman"/>
            </a:endParaRPr>
          </a:p>
          <a:p>
            <a:pPr marL="191770" indent="-179070">
              <a:lnSpc>
                <a:spcPct val="100000"/>
              </a:lnSpc>
              <a:spcBef>
                <a:spcPts val="910"/>
              </a:spcBef>
              <a:buAutoNum type="arabicPeriod" startAt="8"/>
              <a:tabLst>
                <a:tab pos="191770" algn="l"/>
              </a:tabLst>
            </a:pPr>
            <a:r>
              <a:rPr sz="1400" b="1" spc="-10" dirty="0">
                <a:latin typeface="Times New Roman"/>
                <a:cs typeface="Times New Roman"/>
              </a:rPr>
              <a:t>Integration</a:t>
            </a:r>
            <a:r>
              <a:rPr sz="1400" b="1" spc="-25" dirty="0">
                <a:latin typeface="Times New Roman"/>
                <a:cs typeface="Times New Roman"/>
              </a:rPr>
              <a:t> </a:t>
            </a:r>
            <a:r>
              <a:rPr sz="1400" b="1" dirty="0">
                <a:latin typeface="Times New Roman"/>
                <a:cs typeface="Times New Roman"/>
              </a:rPr>
              <a:t>of</a:t>
            </a:r>
            <a:r>
              <a:rPr sz="1400" b="1" spc="-65" dirty="0">
                <a:latin typeface="Times New Roman"/>
                <a:cs typeface="Times New Roman"/>
              </a:rPr>
              <a:t> </a:t>
            </a:r>
            <a:r>
              <a:rPr sz="1400" b="1" dirty="0">
                <a:latin typeface="Times New Roman"/>
                <a:cs typeface="Times New Roman"/>
              </a:rPr>
              <a:t>Artificial</a:t>
            </a:r>
            <a:r>
              <a:rPr sz="1400" b="1" spc="-20" dirty="0">
                <a:latin typeface="Times New Roman"/>
                <a:cs typeface="Times New Roman"/>
              </a:rPr>
              <a:t> </a:t>
            </a:r>
            <a:r>
              <a:rPr sz="1400" b="1" spc="-10" dirty="0">
                <a:latin typeface="Times New Roman"/>
                <a:cs typeface="Times New Roman"/>
              </a:rPr>
              <a:t>Intelligence </a:t>
            </a:r>
            <a:r>
              <a:rPr sz="1400" b="1" dirty="0">
                <a:latin typeface="Times New Roman"/>
                <a:cs typeface="Times New Roman"/>
              </a:rPr>
              <a:t>and</a:t>
            </a:r>
            <a:r>
              <a:rPr sz="1400" b="1" spc="-25" dirty="0">
                <a:latin typeface="Times New Roman"/>
                <a:cs typeface="Times New Roman"/>
              </a:rPr>
              <a:t> </a:t>
            </a:r>
            <a:r>
              <a:rPr sz="1400" b="1" dirty="0">
                <a:latin typeface="Times New Roman"/>
                <a:cs typeface="Times New Roman"/>
              </a:rPr>
              <a:t>Machine</a:t>
            </a:r>
            <a:r>
              <a:rPr sz="1400" b="1" spc="-10" dirty="0">
                <a:latin typeface="Times New Roman"/>
                <a:cs typeface="Times New Roman"/>
              </a:rPr>
              <a:t> Learning</a:t>
            </a:r>
            <a:endParaRPr sz="1400">
              <a:latin typeface="Times New Roman"/>
              <a:cs typeface="Times New Roman"/>
            </a:endParaRPr>
          </a:p>
          <a:p>
            <a:pPr marL="12700" marR="5080">
              <a:lnSpc>
                <a:spcPct val="103299"/>
              </a:lnSpc>
              <a:spcBef>
                <a:spcPts val="775"/>
              </a:spcBef>
            </a:pPr>
            <a:r>
              <a:rPr sz="1200" dirty="0">
                <a:latin typeface="Times New Roman"/>
                <a:cs typeface="Times New Roman"/>
              </a:rPr>
              <a:t>Artificial</a:t>
            </a:r>
            <a:r>
              <a:rPr sz="1200" spc="120" dirty="0">
                <a:latin typeface="Times New Roman"/>
                <a:cs typeface="Times New Roman"/>
              </a:rPr>
              <a:t> </a:t>
            </a:r>
            <a:r>
              <a:rPr sz="1200" dirty="0">
                <a:latin typeface="Times New Roman"/>
                <a:cs typeface="Times New Roman"/>
              </a:rPr>
              <a:t>intelligence</a:t>
            </a:r>
            <a:r>
              <a:rPr sz="1200" spc="110" dirty="0">
                <a:latin typeface="Times New Roman"/>
                <a:cs typeface="Times New Roman"/>
              </a:rPr>
              <a:t> </a:t>
            </a:r>
            <a:r>
              <a:rPr sz="1200" dirty="0">
                <a:latin typeface="Times New Roman"/>
                <a:cs typeface="Times New Roman"/>
              </a:rPr>
              <a:t>(AI)</a:t>
            </a:r>
            <a:r>
              <a:rPr sz="1200" spc="12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machine</a:t>
            </a:r>
            <a:r>
              <a:rPr sz="1200" spc="135" dirty="0">
                <a:latin typeface="Times New Roman"/>
                <a:cs typeface="Times New Roman"/>
              </a:rPr>
              <a:t> </a:t>
            </a:r>
            <a:r>
              <a:rPr sz="1200" dirty="0">
                <a:latin typeface="Times New Roman"/>
                <a:cs typeface="Times New Roman"/>
              </a:rPr>
              <a:t>learning</a:t>
            </a:r>
            <a:r>
              <a:rPr sz="1200" spc="140" dirty="0">
                <a:latin typeface="Times New Roman"/>
                <a:cs typeface="Times New Roman"/>
              </a:rPr>
              <a:t> </a:t>
            </a:r>
            <a:r>
              <a:rPr sz="1200" dirty="0">
                <a:latin typeface="Times New Roman"/>
                <a:cs typeface="Times New Roman"/>
              </a:rPr>
              <a:t>(ML)</a:t>
            </a:r>
            <a:r>
              <a:rPr sz="1200" spc="125" dirty="0">
                <a:latin typeface="Times New Roman"/>
                <a:cs typeface="Times New Roman"/>
              </a:rPr>
              <a:t> </a:t>
            </a:r>
            <a:r>
              <a:rPr sz="1200" dirty="0">
                <a:latin typeface="Times New Roman"/>
                <a:cs typeface="Times New Roman"/>
              </a:rPr>
              <a:t>can</a:t>
            </a:r>
            <a:r>
              <a:rPr sz="1200" spc="95" dirty="0">
                <a:latin typeface="Times New Roman"/>
                <a:cs typeface="Times New Roman"/>
              </a:rPr>
              <a:t> </a:t>
            </a:r>
            <a:r>
              <a:rPr sz="1200" dirty="0">
                <a:latin typeface="Times New Roman"/>
                <a:cs typeface="Times New Roman"/>
              </a:rPr>
              <a:t>significantly</a:t>
            </a:r>
            <a:r>
              <a:rPr sz="1200" spc="95" dirty="0">
                <a:latin typeface="Times New Roman"/>
                <a:cs typeface="Times New Roman"/>
              </a:rPr>
              <a:t> </a:t>
            </a:r>
            <a:r>
              <a:rPr sz="1200" dirty="0">
                <a:latin typeface="Times New Roman"/>
                <a:cs typeface="Times New Roman"/>
              </a:rPr>
              <a:t>enhance</a:t>
            </a:r>
            <a:r>
              <a:rPr sz="1200" spc="110" dirty="0">
                <a:latin typeface="Times New Roman"/>
                <a:cs typeface="Times New Roman"/>
              </a:rPr>
              <a:t> </a:t>
            </a:r>
            <a:r>
              <a:rPr sz="1200" dirty="0">
                <a:latin typeface="Times New Roman"/>
                <a:cs typeface="Times New Roman"/>
              </a:rPr>
              <a:t>the</a:t>
            </a:r>
            <a:r>
              <a:rPr sz="1200" spc="114" dirty="0">
                <a:latin typeface="Times New Roman"/>
                <a:cs typeface="Times New Roman"/>
              </a:rPr>
              <a:t> </a:t>
            </a:r>
            <a:r>
              <a:rPr sz="1200" spc="-10" dirty="0">
                <a:latin typeface="Times New Roman"/>
                <a:cs typeface="Times New Roman"/>
              </a:rPr>
              <a:t>system’s intelligence</a:t>
            </a:r>
            <a:r>
              <a:rPr sz="1200" dirty="0">
                <a:latin typeface="Times New Roman"/>
                <a:cs typeface="Times New Roman"/>
              </a:rPr>
              <a:t> and</a:t>
            </a:r>
            <a:r>
              <a:rPr sz="1200" spc="5" dirty="0">
                <a:latin typeface="Times New Roman"/>
                <a:cs typeface="Times New Roman"/>
              </a:rPr>
              <a:t> </a:t>
            </a:r>
            <a:r>
              <a:rPr sz="1200" spc="-10" dirty="0">
                <a:latin typeface="Times New Roman"/>
                <a:cs typeface="Times New Roman"/>
              </a:rPr>
              <a:t>personalization:</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spc="-10" dirty="0">
                <a:latin typeface="Times New Roman"/>
                <a:cs typeface="Times New Roman"/>
              </a:rPr>
              <a:t>Personalized</a:t>
            </a:r>
            <a:r>
              <a:rPr sz="1200" b="1" dirty="0">
                <a:latin typeface="Times New Roman"/>
                <a:cs typeface="Times New Roman"/>
              </a:rPr>
              <a:t> vehicle</a:t>
            </a:r>
            <a:r>
              <a:rPr sz="1200" b="1" spc="20" dirty="0">
                <a:latin typeface="Times New Roman"/>
                <a:cs typeface="Times New Roman"/>
              </a:rPr>
              <a:t> </a:t>
            </a:r>
            <a:r>
              <a:rPr sz="1200" b="1" spc="-10" dirty="0">
                <a:latin typeface="Times New Roman"/>
                <a:cs typeface="Times New Roman"/>
              </a:rPr>
              <a:t>recommendations</a:t>
            </a:r>
            <a:r>
              <a:rPr sz="1200" b="1" spc="15" dirty="0">
                <a:latin typeface="Times New Roman"/>
                <a:cs typeface="Times New Roman"/>
              </a:rPr>
              <a:t> </a:t>
            </a:r>
            <a:r>
              <a:rPr sz="1200" dirty="0">
                <a:latin typeface="Times New Roman"/>
                <a:cs typeface="Times New Roman"/>
              </a:rPr>
              <a:t>based</a:t>
            </a:r>
            <a:r>
              <a:rPr sz="1200" spc="5" dirty="0">
                <a:latin typeface="Times New Roman"/>
                <a:cs typeface="Times New Roman"/>
              </a:rPr>
              <a:t> </a:t>
            </a:r>
            <a:r>
              <a:rPr sz="1200" dirty="0">
                <a:latin typeface="Times New Roman"/>
                <a:cs typeface="Times New Roman"/>
              </a:rPr>
              <a:t>on user</a:t>
            </a:r>
            <a:r>
              <a:rPr sz="1200" spc="15" dirty="0">
                <a:latin typeface="Times New Roman"/>
                <a:cs typeface="Times New Roman"/>
              </a:rPr>
              <a:t> </a:t>
            </a:r>
            <a:r>
              <a:rPr sz="1200" spc="-10" dirty="0">
                <a:latin typeface="Times New Roman"/>
                <a:cs typeface="Times New Roman"/>
              </a:rPr>
              <a:t>history</a:t>
            </a:r>
            <a:r>
              <a:rPr sz="1200" spc="-45" dirty="0">
                <a:latin typeface="Times New Roman"/>
                <a:cs typeface="Times New Roman"/>
              </a:rPr>
              <a:t> </a:t>
            </a:r>
            <a:r>
              <a:rPr sz="1200" dirty="0">
                <a:latin typeface="Times New Roman"/>
                <a:cs typeface="Times New Roman"/>
              </a:rPr>
              <a:t>and </a:t>
            </a:r>
            <a:r>
              <a:rPr sz="1200" spc="-10" dirty="0">
                <a:latin typeface="Times New Roman"/>
                <a:cs typeface="Times New Roman"/>
              </a:rPr>
              <a:t>preferences.</a:t>
            </a:r>
            <a:endParaRPr sz="1200">
              <a:latin typeface="Times New Roman"/>
              <a:cs typeface="Times New Roman"/>
            </a:endParaRPr>
          </a:p>
          <a:p>
            <a:pPr marL="469900" marR="5080" lvl="1" indent="-229235">
              <a:lnSpc>
                <a:spcPct val="103299"/>
              </a:lnSpc>
              <a:spcBef>
                <a:spcPts val="795"/>
              </a:spcBef>
              <a:buSzPct val="83333"/>
              <a:buFont typeface="Symbol"/>
              <a:buChar char=""/>
              <a:tabLst>
                <a:tab pos="469900" algn="l"/>
              </a:tabLst>
            </a:pPr>
            <a:r>
              <a:rPr sz="1200" b="1" dirty="0">
                <a:latin typeface="Times New Roman"/>
                <a:cs typeface="Times New Roman"/>
              </a:rPr>
              <a:t>Dynamic</a:t>
            </a:r>
            <a:r>
              <a:rPr sz="1200" b="1" spc="-15" dirty="0">
                <a:latin typeface="Times New Roman"/>
                <a:cs typeface="Times New Roman"/>
              </a:rPr>
              <a:t> </a:t>
            </a:r>
            <a:r>
              <a:rPr sz="1200" b="1" dirty="0">
                <a:latin typeface="Times New Roman"/>
                <a:cs typeface="Times New Roman"/>
              </a:rPr>
              <a:t>pricing</a:t>
            </a:r>
            <a:r>
              <a:rPr sz="1200" b="1" spc="-15" dirty="0">
                <a:latin typeface="Times New Roman"/>
                <a:cs typeface="Times New Roman"/>
              </a:rPr>
              <a:t> </a:t>
            </a:r>
            <a:r>
              <a:rPr sz="1200" b="1" dirty="0">
                <a:latin typeface="Times New Roman"/>
                <a:cs typeface="Times New Roman"/>
              </a:rPr>
              <a:t>models</a:t>
            </a:r>
            <a:r>
              <a:rPr sz="1200" b="1"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adjust</a:t>
            </a:r>
            <a:r>
              <a:rPr sz="1200" spc="10" dirty="0">
                <a:latin typeface="Times New Roman"/>
                <a:cs typeface="Times New Roman"/>
              </a:rPr>
              <a:t> </a:t>
            </a:r>
            <a:r>
              <a:rPr sz="1200" dirty="0">
                <a:latin typeface="Times New Roman"/>
                <a:cs typeface="Times New Roman"/>
              </a:rPr>
              <a:t>rental</a:t>
            </a:r>
            <a:r>
              <a:rPr sz="1200" spc="-50" dirty="0">
                <a:latin typeface="Times New Roman"/>
                <a:cs typeface="Times New Roman"/>
              </a:rPr>
              <a:t> </a:t>
            </a:r>
            <a:r>
              <a:rPr sz="1200" dirty="0">
                <a:latin typeface="Times New Roman"/>
                <a:cs typeface="Times New Roman"/>
              </a:rPr>
              <a:t>rates</a:t>
            </a:r>
            <a:r>
              <a:rPr sz="1200" spc="-25" dirty="0">
                <a:latin typeface="Times New Roman"/>
                <a:cs typeface="Times New Roman"/>
              </a:rPr>
              <a:t> </a:t>
            </a:r>
            <a:r>
              <a:rPr sz="1200" dirty="0">
                <a:latin typeface="Times New Roman"/>
                <a:cs typeface="Times New Roman"/>
              </a:rPr>
              <a:t>based</a:t>
            </a:r>
            <a:r>
              <a:rPr sz="1200" spc="-15"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demand, </a:t>
            </a:r>
            <a:r>
              <a:rPr sz="1200" spc="-10" dirty="0">
                <a:latin typeface="Times New Roman"/>
                <a:cs typeface="Times New Roman"/>
              </a:rPr>
              <a:t>seasonality,</a:t>
            </a:r>
            <a:r>
              <a:rPr sz="1200" dirty="0">
                <a:latin typeface="Times New Roman"/>
                <a:cs typeface="Times New Roman"/>
              </a:rPr>
              <a:t> or</a:t>
            </a:r>
            <a:r>
              <a:rPr sz="1200" spc="-25" dirty="0">
                <a:latin typeface="Times New Roman"/>
                <a:cs typeface="Times New Roman"/>
              </a:rPr>
              <a:t> </a:t>
            </a:r>
            <a:r>
              <a:rPr sz="1200" spc="-10" dirty="0">
                <a:latin typeface="Times New Roman"/>
                <a:cs typeface="Times New Roman"/>
              </a:rPr>
              <a:t>special events.</a:t>
            </a:r>
            <a:endParaRPr sz="1200">
              <a:latin typeface="Times New Roman"/>
              <a:cs typeface="Times New Roman"/>
            </a:endParaRPr>
          </a:p>
          <a:p>
            <a:pPr marL="469900" marR="10795" lvl="1" indent="-229235">
              <a:lnSpc>
                <a:spcPct val="103299"/>
              </a:lnSpc>
              <a:spcBef>
                <a:spcPts val="815"/>
              </a:spcBef>
              <a:buSzPct val="83333"/>
              <a:buFont typeface="Symbol"/>
              <a:buChar char=""/>
              <a:tabLst>
                <a:tab pos="469900" algn="l"/>
              </a:tabLst>
            </a:pPr>
            <a:r>
              <a:rPr sz="1200" b="1" dirty="0">
                <a:latin typeface="Times New Roman"/>
                <a:cs typeface="Times New Roman"/>
              </a:rPr>
              <a:t>Predictive</a:t>
            </a:r>
            <a:r>
              <a:rPr sz="1200" b="1" spc="130" dirty="0">
                <a:latin typeface="Times New Roman"/>
                <a:cs typeface="Times New Roman"/>
              </a:rPr>
              <a:t> </a:t>
            </a:r>
            <a:r>
              <a:rPr sz="1200" b="1" dirty="0">
                <a:latin typeface="Times New Roman"/>
                <a:cs typeface="Times New Roman"/>
              </a:rPr>
              <a:t>maintenance</a:t>
            </a:r>
            <a:r>
              <a:rPr sz="1200" b="1" spc="130" dirty="0">
                <a:latin typeface="Times New Roman"/>
                <a:cs typeface="Times New Roman"/>
              </a:rPr>
              <a:t> </a:t>
            </a:r>
            <a:r>
              <a:rPr sz="1200" b="1" dirty="0">
                <a:latin typeface="Times New Roman"/>
                <a:cs typeface="Times New Roman"/>
              </a:rPr>
              <a:t>alerts</a:t>
            </a:r>
            <a:r>
              <a:rPr sz="1200" b="1" spc="160" dirty="0">
                <a:latin typeface="Times New Roman"/>
                <a:cs typeface="Times New Roman"/>
              </a:rPr>
              <a:t> </a:t>
            </a:r>
            <a:r>
              <a:rPr sz="1200" dirty="0">
                <a:latin typeface="Times New Roman"/>
                <a:cs typeface="Times New Roman"/>
              </a:rPr>
              <a:t>for</a:t>
            </a:r>
            <a:r>
              <a:rPr sz="1200" spc="145" dirty="0">
                <a:latin typeface="Times New Roman"/>
                <a:cs typeface="Times New Roman"/>
              </a:rPr>
              <a:t> </a:t>
            </a:r>
            <a:r>
              <a:rPr sz="1200" dirty="0">
                <a:latin typeface="Times New Roman"/>
                <a:cs typeface="Times New Roman"/>
              </a:rPr>
              <a:t>vehicles,</a:t>
            </a:r>
            <a:r>
              <a:rPr sz="1200" spc="140" dirty="0">
                <a:latin typeface="Times New Roman"/>
                <a:cs typeface="Times New Roman"/>
              </a:rPr>
              <a:t> </a:t>
            </a:r>
            <a:r>
              <a:rPr sz="1200" dirty="0">
                <a:latin typeface="Times New Roman"/>
                <a:cs typeface="Times New Roman"/>
              </a:rPr>
              <a:t>helping</a:t>
            </a:r>
            <a:r>
              <a:rPr sz="1200" spc="135" dirty="0">
                <a:latin typeface="Times New Roman"/>
                <a:cs typeface="Times New Roman"/>
              </a:rPr>
              <a:t> </a:t>
            </a:r>
            <a:r>
              <a:rPr sz="1200" dirty="0">
                <a:latin typeface="Times New Roman"/>
                <a:cs typeface="Times New Roman"/>
              </a:rPr>
              <a:t>administrators</a:t>
            </a:r>
            <a:r>
              <a:rPr sz="1200" spc="120" dirty="0">
                <a:latin typeface="Times New Roman"/>
                <a:cs typeface="Times New Roman"/>
              </a:rPr>
              <a:t> </a:t>
            </a:r>
            <a:r>
              <a:rPr sz="1200" dirty="0">
                <a:latin typeface="Times New Roman"/>
                <a:cs typeface="Times New Roman"/>
              </a:rPr>
              <a:t>schedule</a:t>
            </a:r>
            <a:r>
              <a:rPr sz="1200" spc="130" dirty="0">
                <a:latin typeface="Times New Roman"/>
                <a:cs typeface="Times New Roman"/>
              </a:rPr>
              <a:t> </a:t>
            </a:r>
            <a:r>
              <a:rPr sz="1200" spc="-10" dirty="0">
                <a:latin typeface="Times New Roman"/>
                <a:cs typeface="Times New Roman"/>
              </a:rPr>
              <a:t>servicing </a:t>
            </a:r>
            <a:r>
              <a:rPr sz="1200" dirty="0">
                <a:latin typeface="Times New Roman"/>
                <a:cs typeface="Times New Roman"/>
              </a:rPr>
              <a:t>before</a:t>
            </a:r>
            <a:r>
              <a:rPr sz="1200" spc="-35" dirty="0">
                <a:latin typeface="Times New Roman"/>
                <a:cs typeface="Times New Roman"/>
              </a:rPr>
              <a:t> </a:t>
            </a:r>
            <a:r>
              <a:rPr sz="1200" dirty="0">
                <a:latin typeface="Times New Roman"/>
                <a:cs typeface="Times New Roman"/>
              </a:rPr>
              <a:t>breakdowns</a:t>
            </a:r>
            <a:r>
              <a:rPr sz="1200" spc="-45" dirty="0">
                <a:latin typeface="Times New Roman"/>
                <a:cs typeface="Times New Roman"/>
              </a:rPr>
              <a:t> </a:t>
            </a:r>
            <a:r>
              <a:rPr sz="1200" spc="-10" dirty="0">
                <a:latin typeface="Times New Roman"/>
                <a:cs typeface="Times New Roman"/>
              </a:rPr>
              <a:t>occur.</a:t>
            </a:r>
            <a:endParaRPr sz="1200">
              <a:latin typeface="Times New Roman"/>
              <a:cs typeface="Times New Roman"/>
            </a:endParaRPr>
          </a:p>
          <a:p>
            <a:pPr marL="469900" marR="11430" lvl="1" indent="-229235">
              <a:lnSpc>
                <a:spcPct val="103299"/>
              </a:lnSpc>
              <a:spcBef>
                <a:spcPts val="795"/>
              </a:spcBef>
              <a:buSzPct val="83333"/>
              <a:buFont typeface="Symbol"/>
              <a:buChar char=""/>
              <a:tabLst>
                <a:tab pos="469900" algn="l"/>
              </a:tabLst>
            </a:pPr>
            <a:r>
              <a:rPr sz="1200" b="1" dirty="0">
                <a:latin typeface="Times New Roman"/>
                <a:cs typeface="Times New Roman"/>
              </a:rPr>
              <a:t>Automated chatbots</a:t>
            </a:r>
            <a:r>
              <a:rPr sz="1200" b="1" spc="-3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handle</a:t>
            </a:r>
            <a:r>
              <a:rPr sz="1200" spc="-5" dirty="0">
                <a:latin typeface="Times New Roman"/>
                <a:cs typeface="Times New Roman"/>
              </a:rPr>
              <a:t> </a:t>
            </a:r>
            <a:r>
              <a:rPr sz="1200" dirty="0">
                <a:latin typeface="Times New Roman"/>
                <a:cs typeface="Times New Roman"/>
              </a:rPr>
              <a:t>customer</a:t>
            </a:r>
            <a:r>
              <a:rPr sz="1200" spc="10" dirty="0">
                <a:latin typeface="Times New Roman"/>
                <a:cs typeface="Times New Roman"/>
              </a:rPr>
              <a:t> </a:t>
            </a:r>
            <a:r>
              <a:rPr sz="1200" dirty="0">
                <a:latin typeface="Times New Roman"/>
                <a:cs typeface="Times New Roman"/>
              </a:rPr>
              <a:t>queries,</a:t>
            </a:r>
            <a:r>
              <a:rPr sz="1200" spc="10" dirty="0">
                <a:latin typeface="Times New Roman"/>
                <a:cs typeface="Times New Roman"/>
              </a:rPr>
              <a:t> </a:t>
            </a:r>
            <a:r>
              <a:rPr sz="1200" dirty="0">
                <a:latin typeface="Times New Roman"/>
                <a:cs typeface="Times New Roman"/>
              </a:rPr>
              <a:t>improving response</a:t>
            </a:r>
            <a:r>
              <a:rPr sz="1200" spc="-5" dirty="0">
                <a:latin typeface="Times New Roman"/>
                <a:cs typeface="Times New Roman"/>
              </a:rPr>
              <a:t> </a:t>
            </a:r>
            <a:r>
              <a:rPr sz="1200" dirty="0">
                <a:latin typeface="Times New Roman"/>
                <a:cs typeface="Times New Roman"/>
              </a:rPr>
              <a:t>time</a:t>
            </a:r>
            <a:r>
              <a:rPr sz="1200" spc="-5" dirty="0">
                <a:latin typeface="Times New Roman"/>
                <a:cs typeface="Times New Roman"/>
              </a:rPr>
              <a:t> </a:t>
            </a:r>
            <a:r>
              <a:rPr sz="1200" dirty="0">
                <a:latin typeface="Times New Roman"/>
                <a:cs typeface="Times New Roman"/>
              </a:rPr>
              <a:t>and </a:t>
            </a:r>
            <a:r>
              <a:rPr sz="1200" spc="-10" dirty="0">
                <a:latin typeface="Times New Roman"/>
                <a:cs typeface="Times New Roman"/>
              </a:rPr>
              <a:t>customer satisfaction.</a:t>
            </a:r>
            <a:endParaRPr sz="1200">
              <a:latin typeface="Times New Roman"/>
              <a:cs typeface="Times New Roman"/>
            </a:endParaRPr>
          </a:p>
          <a:p>
            <a:pPr marL="12700" marR="7620">
              <a:lnSpc>
                <a:spcPct val="103299"/>
              </a:lnSpc>
              <a:spcBef>
                <a:spcPts val="815"/>
              </a:spcBef>
            </a:pPr>
            <a:r>
              <a:rPr sz="1200" dirty="0">
                <a:latin typeface="Times New Roman"/>
                <a:cs typeface="Times New Roman"/>
              </a:rPr>
              <a:t>AI</a:t>
            </a:r>
            <a:r>
              <a:rPr sz="1200" spc="60"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dirty="0">
                <a:latin typeface="Times New Roman"/>
                <a:cs typeface="Times New Roman"/>
              </a:rPr>
              <a:t>ML</a:t>
            </a:r>
            <a:r>
              <a:rPr sz="1200" spc="-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transform</a:t>
            </a:r>
            <a:r>
              <a:rPr sz="1200" spc="10" dirty="0">
                <a:latin typeface="Times New Roman"/>
                <a:cs typeface="Times New Roman"/>
              </a:rPr>
              <a:t> </a:t>
            </a:r>
            <a:r>
              <a:rPr sz="1200" dirty="0">
                <a:latin typeface="Times New Roman"/>
                <a:cs typeface="Times New Roman"/>
              </a:rPr>
              <a:t>the</a:t>
            </a:r>
            <a:r>
              <a:rPr sz="1200" spc="70"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into</a:t>
            </a:r>
            <a:r>
              <a:rPr sz="1200" spc="75" dirty="0">
                <a:latin typeface="Times New Roman"/>
                <a:cs typeface="Times New Roman"/>
              </a:rPr>
              <a:t> </a:t>
            </a:r>
            <a:r>
              <a:rPr sz="1200" dirty="0">
                <a:latin typeface="Times New Roman"/>
                <a:cs typeface="Times New Roman"/>
              </a:rPr>
              <a:t>a</a:t>
            </a:r>
            <a:r>
              <a:rPr sz="1200" spc="85" dirty="0">
                <a:latin typeface="Times New Roman"/>
                <a:cs typeface="Times New Roman"/>
              </a:rPr>
              <a:t> </a:t>
            </a:r>
            <a:r>
              <a:rPr sz="1200" b="1" dirty="0">
                <a:latin typeface="Times New Roman"/>
                <a:cs typeface="Times New Roman"/>
              </a:rPr>
              <a:t>smart,</a:t>
            </a:r>
            <a:r>
              <a:rPr sz="1200" b="1" spc="60" dirty="0">
                <a:latin typeface="Times New Roman"/>
                <a:cs typeface="Times New Roman"/>
              </a:rPr>
              <a:t> </a:t>
            </a:r>
            <a:r>
              <a:rPr sz="1200" b="1" dirty="0">
                <a:latin typeface="Times New Roman"/>
                <a:cs typeface="Times New Roman"/>
              </a:rPr>
              <a:t>automated,</a:t>
            </a:r>
            <a:r>
              <a:rPr sz="1200" b="1" spc="65" dirty="0">
                <a:latin typeface="Times New Roman"/>
                <a:cs typeface="Times New Roman"/>
              </a:rPr>
              <a:t> </a:t>
            </a:r>
            <a:r>
              <a:rPr sz="1200" b="1" dirty="0">
                <a:latin typeface="Times New Roman"/>
                <a:cs typeface="Times New Roman"/>
              </a:rPr>
              <a:t>and</a:t>
            </a:r>
            <a:r>
              <a:rPr sz="1200" b="1" spc="55" dirty="0">
                <a:latin typeface="Times New Roman"/>
                <a:cs typeface="Times New Roman"/>
              </a:rPr>
              <a:t> </a:t>
            </a:r>
            <a:r>
              <a:rPr sz="1200" b="1" dirty="0">
                <a:latin typeface="Times New Roman"/>
                <a:cs typeface="Times New Roman"/>
              </a:rPr>
              <a:t>highly</a:t>
            </a:r>
            <a:r>
              <a:rPr sz="1200" b="1" spc="55" dirty="0">
                <a:latin typeface="Times New Roman"/>
                <a:cs typeface="Times New Roman"/>
              </a:rPr>
              <a:t> </a:t>
            </a:r>
            <a:r>
              <a:rPr sz="1200" b="1" dirty="0">
                <a:latin typeface="Times New Roman"/>
                <a:cs typeface="Times New Roman"/>
              </a:rPr>
              <a:t>efficient</a:t>
            </a:r>
            <a:r>
              <a:rPr sz="1200" b="1" spc="60" dirty="0">
                <a:latin typeface="Times New Roman"/>
                <a:cs typeface="Times New Roman"/>
              </a:rPr>
              <a:t> </a:t>
            </a:r>
            <a:r>
              <a:rPr sz="1200" b="1" spc="-10" dirty="0">
                <a:latin typeface="Times New Roman"/>
                <a:cs typeface="Times New Roman"/>
              </a:rPr>
              <a:t>platform</a:t>
            </a:r>
            <a:r>
              <a:rPr sz="1200" spc="-10" dirty="0">
                <a:latin typeface="Times New Roman"/>
                <a:cs typeface="Times New Roman"/>
              </a:rPr>
              <a:t>, </a:t>
            </a:r>
            <a:r>
              <a:rPr sz="1200" dirty="0">
                <a:latin typeface="Times New Roman"/>
                <a:cs typeface="Times New Roman"/>
              </a:rPr>
              <a:t>providing</a:t>
            </a:r>
            <a:r>
              <a:rPr sz="1200" spc="-20" dirty="0">
                <a:latin typeface="Times New Roman"/>
                <a:cs typeface="Times New Roman"/>
              </a:rPr>
              <a:t> </a:t>
            </a:r>
            <a:r>
              <a:rPr sz="1200" spc="-10" dirty="0">
                <a:latin typeface="Times New Roman"/>
                <a:cs typeface="Times New Roman"/>
              </a:rPr>
              <a:t>competitive</a:t>
            </a:r>
            <a:r>
              <a:rPr sz="1200" spc="-25" dirty="0">
                <a:latin typeface="Times New Roman"/>
                <a:cs typeface="Times New Roman"/>
              </a:rPr>
              <a:t> </a:t>
            </a:r>
            <a:r>
              <a:rPr sz="1200" dirty="0">
                <a:latin typeface="Times New Roman"/>
                <a:cs typeface="Times New Roman"/>
              </a:rPr>
              <a:t>advantages</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car</a:t>
            </a:r>
            <a:r>
              <a:rPr sz="1200" spc="-10" dirty="0">
                <a:latin typeface="Times New Roman"/>
                <a:cs typeface="Times New Roman"/>
              </a:rPr>
              <a:t> </a:t>
            </a:r>
            <a:r>
              <a:rPr sz="1200" dirty="0">
                <a:latin typeface="Times New Roman"/>
                <a:cs typeface="Times New Roman"/>
              </a:rPr>
              <a:t>rental</a:t>
            </a:r>
            <a:r>
              <a:rPr sz="1200" spc="-45" dirty="0">
                <a:latin typeface="Times New Roman"/>
                <a:cs typeface="Times New Roman"/>
              </a:rPr>
              <a:t> </a:t>
            </a:r>
            <a:r>
              <a:rPr sz="1200" spc="-10" dirty="0">
                <a:latin typeface="Times New Roman"/>
                <a:cs typeface="Times New Roman"/>
              </a:rPr>
              <a:t>industry.</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10"/>
              </a:spcBef>
            </a:pPr>
            <a:endParaRPr sz="1200">
              <a:latin typeface="Times New Roman"/>
              <a:cs typeface="Times New Roman"/>
            </a:endParaRPr>
          </a:p>
          <a:p>
            <a:pPr marL="191770" indent="-179070">
              <a:lnSpc>
                <a:spcPct val="100000"/>
              </a:lnSpc>
              <a:buAutoNum type="arabicPeriod" startAt="9"/>
              <a:tabLst>
                <a:tab pos="191770" algn="l"/>
              </a:tabLst>
            </a:pPr>
            <a:r>
              <a:rPr sz="1400" b="1" spc="-10" dirty="0">
                <a:latin typeface="Times New Roman"/>
                <a:cs typeface="Times New Roman"/>
              </a:rPr>
              <a:t>Integration</a:t>
            </a:r>
            <a:r>
              <a:rPr sz="1400" b="1" spc="5" dirty="0">
                <a:latin typeface="Times New Roman"/>
                <a:cs typeface="Times New Roman"/>
              </a:rPr>
              <a:t> </a:t>
            </a:r>
            <a:r>
              <a:rPr sz="1400" b="1" dirty="0">
                <a:latin typeface="Times New Roman"/>
                <a:cs typeface="Times New Roman"/>
              </a:rPr>
              <a:t>with</a:t>
            </a:r>
            <a:r>
              <a:rPr sz="1400" b="1" spc="-40" dirty="0">
                <a:latin typeface="Times New Roman"/>
                <a:cs typeface="Times New Roman"/>
              </a:rPr>
              <a:t> </a:t>
            </a:r>
            <a:r>
              <a:rPr sz="1400" b="1" spc="-10" dirty="0">
                <a:latin typeface="Times New Roman"/>
                <a:cs typeface="Times New Roman"/>
              </a:rPr>
              <a:t>Third-</a:t>
            </a:r>
            <a:r>
              <a:rPr sz="1400" b="1" dirty="0">
                <a:latin typeface="Times New Roman"/>
                <a:cs typeface="Times New Roman"/>
              </a:rPr>
              <a:t>Party</a:t>
            </a:r>
            <a:r>
              <a:rPr sz="1400" b="1" spc="15" dirty="0">
                <a:latin typeface="Times New Roman"/>
                <a:cs typeface="Times New Roman"/>
              </a:rPr>
              <a:t> </a:t>
            </a:r>
            <a:r>
              <a:rPr sz="1400" b="1" spc="-10" dirty="0">
                <a:latin typeface="Times New Roman"/>
                <a:cs typeface="Times New Roman"/>
              </a:rPr>
              <a:t>Services</a:t>
            </a:r>
            <a:endParaRPr sz="1400">
              <a:latin typeface="Times New Roman"/>
              <a:cs typeface="Times New Roman"/>
            </a:endParaRPr>
          </a:p>
          <a:p>
            <a:pPr marL="12700">
              <a:lnSpc>
                <a:spcPct val="100000"/>
              </a:lnSpc>
              <a:spcBef>
                <a:spcPts val="825"/>
              </a:spcBef>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extended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integrate</a:t>
            </a:r>
            <a:r>
              <a:rPr sz="1200" spc="-2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third-party</a:t>
            </a:r>
            <a:r>
              <a:rPr sz="1200" spc="-65" dirty="0">
                <a:latin typeface="Times New Roman"/>
                <a:cs typeface="Times New Roman"/>
              </a:rPr>
              <a:t> </a:t>
            </a:r>
            <a:r>
              <a:rPr sz="1200" dirty="0">
                <a:latin typeface="Times New Roman"/>
                <a:cs typeface="Times New Roman"/>
              </a:rPr>
              <a:t>services</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enhanced </a:t>
            </a:r>
            <a:r>
              <a:rPr sz="1200" spc="-10" dirty="0">
                <a:latin typeface="Times New Roman"/>
                <a:cs typeface="Times New Roman"/>
              </a:rPr>
              <a:t>functionality:</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dirty="0">
                <a:latin typeface="Times New Roman"/>
                <a:cs typeface="Times New Roman"/>
              </a:rPr>
              <a:t>Navigation</a:t>
            </a:r>
            <a:r>
              <a:rPr sz="1200" b="1" spc="-15" dirty="0">
                <a:latin typeface="Times New Roman"/>
                <a:cs typeface="Times New Roman"/>
              </a:rPr>
              <a:t> </a:t>
            </a:r>
            <a:r>
              <a:rPr sz="1200" b="1" dirty="0">
                <a:latin typeface="Times New Roman"/>
                <a:cs typeface="Times New Roman"/>
              </a:rPr>
              <a:t>and</a:t>
            </a:r>
            <a:r>
              <a:rPr sz="1200" b="1" spc="-10" dirty="0">
                <a:latin typeface="Times New Roman"/>
                <a:cs typeface="Times New Roman"/>
              </a:rPr>
              <a:t> mapping</a:t>
            </a:r>
            <a:r>
              <a:rPr sz="1200" b="1" spc="-65" dirty="0">
                <a:latin typeface="Times New Roman"/>
                <a:cs typeface="Times New Roman"/>
              </a:rPr>
              <a:t> </a:t>
            </a:r>
            <a:r>
              <a:rPr sz="1200" b="1" dirty="0">
                <a:latin typeface="Times New Roman"/>
                <a:cs typeface="Times New Roman"/>
              </a:rPr>
              <a:t>APIs</a:t>
            </a:r>
            <a:r>
              <a:rPr sz="1200" b="1"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better</a:t>
            </a:r>
            <a:r>
              <a:rPr sz="1200" spc="-20" dirty="0">
                <a:latin typeface="Times New Roman"/>
                <a:cs typeface="Times New Roman"/>
              </a:rPr>
              <a:t> </a:t>
            </a:r>
            <a:r>
              <a:rPr sz="1200" dirty="0">
                <a:latin typeface="Times New Roman"/>
                <a:cs typeface="Times New Roman"/>
              </a:rPr>
              <a:t>route</a:t>
            </a:r>
            <a:r>
              <a:rPr sz="1200" spc="-15" dirty="0">
                <a:latin typeface="Times New Roman"/>
                <a:cs typeface="Times New Roman"/>
              </a:rPr>
              <a:t> </a:t>
            </a:r>
            <a:r>
              <a:rPr sz="1200" spc="-10" dirty="0">
                <a:latin typeface="Times New Roman"/>
                <a:cs typeface="Times New Roman"/>
              </a:rPr>
              <a:t>planning.</a:t>
            </a:r>
            <a:endParaRPr sz="1200">
              <a:latin typeface="Times New Roman"/>
              <a:cs typeface="Times New Roman"/>
            </a:endParaRPr>
          </a:p>
          <a:p>
            <a:pPr marL="469900" lvl="1" indent="-228600">
              <a:lnSpc>
                <a:spcPct val="100000"/>
              </a:lnSpc>
              <a:spcBef>
                <a:spcPts val="865"/>
              </a:spcBef>
              <a:buSzPct val="83333"/>
              <a:buFont typeface="Symbol"/>
              <a:buChar char=""/>
              <a:tabLst>
                <a:tab pos="469900" algn="l"/>
              </a:tabLst>
            </a:pPr>
            <a:r>
              <a:rPr sz="1200" b="1" dirty="0">
                <a:latin typeface="Times New Roman"/>
                <a:cs typeface="Times New Roman"/>
              </a:rPr>
              <a:t>Insurance</a:t>
            </a:r>
            <a:r>
              <a:rPr sz="1200" b="1" spc="-30" dirty="0">
                <a:latin typeface="Times New Roman"/>
                <a:cs typeface="Times New Roman"/>
              </a:rPr>
              <a:t> </a:t>
            </a:r>
            <a:r>
              <a:rPr sz="1200" b="1" dirty="0">
                <a:latin typeface="Times New Roman"/>
                <a:cs typeface="Times New Roman"/>
              </a:rPr>
              <a:t>services</a:t>
            </a:r>
            <a:r>
              <a:rPr sz="1200" b="1" spc="-20" dirty="0">
                <a:latin typeface="Times New Roman"/>
                <a:cs typeface="Times New Roman"/>
              </a:rPr>
              <a:t> </a:t>
            </a:r>
            <a:r>
              <a:rPr sz="1200" dirty="0">
                <a:latin typeface="Times New Roman"/>
                <a:cs typeface="Times New Roman"/>
              </a:rPr>
              <a:t>to automate</a:t>
            </a:r>
            <a:r>
              <a:rPr sz="1200" spc="-25" dirty="0">
                <a:latin typeface="Times New Roman"/>
                <a:cs typeface="Times New Roman"/>
              </a:rPr>
              <a:t> </a:t>
            </a:r>
            <a:r>
              <a:rPr sz="1200" dirty="0">
                <a:latin typeface="Times New Roman"/>
                <a:cs typeface="Times New Roman"/>
              </a:rPr>
              <a:t>vehicle</a:t>
            </a:r>
            <a:r>
              <a:rPr sz="1200" spc="-5" dirty="0">
                <a:latin typeface="Times New Roman"/>
                <a:cs typeface="Times New Roman"/>
              </a:rPr>
              <a:t> </a:t>
            </a:r>
            <a:r>
              <a:rPr sz="1200" spc="-10" dirty="0">
                <a:latin typeface="Times New Roman"/>
                <a:cs typeface="Times New Roman"/>
              </a:rPr>
              <a:t>insurance</a:t>
            </a:r>
            <a:r>
              <a:rPr sz="1200" spc="-25" dirty="0">
                <a:latin typeface="Times New Roman"/>
                <a:cs typeface="Times New Roman"/>
              </a:rPr>
              <a:t> </a:t>
            </a:r>
            <a:r>
              <a:rPr sz="1200" spc="-1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claims.</a:t>
            </a:r>
            <a:endParaRPr sz="1200">
              <a:latin typeface="Times New Roman"/>
              <a:cs typeface="Times New Roman"/>
            </a:endParaRPr>
          </a:p>
          <a:p>
            <a:pPr marL="469900" lvl="1" indent="-228600">
              <a:lnSpc>
                <a:spcPct val="100000"/>
              </a:lnSpc>
              <a:spcBef>
                <a:spcPts val="840"/>
              </a:spcBef>
              <a:buSzPct val="83333"/>
              <a:buFont typeface="Symbol"/>
              <a:buChar char=""/>
              <a:tabLst>
                <a:tab pos="469900" algn="l"/>
              </a:tabLst>
            </a:pPr>
            <a:r>
              <a:rPr sz="1200" b="1" spc="-20" dirty="0">
                <a:latin typeface="Times New Roman"/>
                <a:cs typeface="Times New Roman"/>
              </a:rPr>
              <a:t>Travel</a:t>
            </a:r>
            <a:r>
              <a:rPr sz="1200" b="1" spc="-45"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tourism</a:t>
            </a:r>
            <a:r>
              <a:rPr sz="1200" b="1" spc="-25" dirty="0">
                <a:latin typeface="Times New Roman"/>
                <a:cs typeface="Times New Roman"/>
              </a:rPr>
              <a:t> </a:t>
            </a:r>
            <a:r>
              <a:rPr sz="1200" b="1" dirty="0">
                <a:latin typeface="Times New Roman"/>
                <a:cs typeface="Times New Roman"/>
              </a:rPr>
              <a:t>services</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allowing</a:t>
            </a:r>
            <a:r>
              <a:rPr sz="1200" spc="-5" dirty="0">
                <a:latin typeface="Times New Roman"/>
                <a:cs typeface="Times New Roman"/>
              </a:rPr>
              <a:t> </a:t>
            </a:r>
            <a:r>
              <a:rPr sz="1200" dirty="0">
                <a:latin typeface="Times New Roman"/>
                <a:cs typeface="Times New Roman"/>
              </a:rPr>
              <a:t>bundled</a:t>
            </a:r>
            <a:r>
              <a:rPr sz="1200" spc="-20" dirty="0">
                <a:latin typeface="Times New Roman"/>
                <a:cs typeface="Times New Roman"/>
              </a:rPr>
              <a:t> </a:t>
            </a:r>
            <a:r>
              <a:rPr sz="1200" dirty="0">
                <a:latin typeface="Times New Roman"/>
                <a:cs typeface="Times New Roman"/>
              </a:rPr>
              <a:t>offerings</a:t>
            </a:r>
            <a:r>
              <a:rPr sz="1200" spc="-35" dirty="0">
                <a:latin typeface="Times New Roman"/>
                <a:cs typeface="Times New Roman"/>
              </a:rPr>
              <a:t> </a:t>
            </a:r>
            <a:r>
              <a:rPr sz="1200" dirty="0">
                <a:latin typeface="Times New Roman"/>
                <a:cs typeface="Times New Roman"/>
              </a:rPr>
              <a:t>such</a:t>
            </a:r>
            <a:r>
              <a:rPr sz="1200" spc="-4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car</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hotel</a:t>
            </a:r>
            <a:r>
              <a:rPr sz="1200" spc="-65" dirty="0">
                <a:latin typeface="Times New Roman"/>
                <a:cs typeface="Times New Roman"/>
              </a:rPr>
              <a:t> </a:t>
            </a:r>
            <a:r>
              <a:rPr sz="1200" spc="-10" dirty="0">
                <a:latin typeface="Times New Roman"/>
                <a:cs typeface="Times New Roman"/>
              </a:rPr>
              <a:t>bookings.</a:t>
            </a:r>
            <a:endParaRPr sz="1200">
              <a:latin typeface="Times New Roman"/>
              <a:cs typeface="Times New Roman"/>
            </a:endParaRPr>
          </a:p>
          <a:p>
            <a:pPr marL="12700" marR="8890">
              <a:lnSpc>
                <a:spcPct val="103299"/>
              </a:lnSpc>
              <a:spcBef>
                <a:spcPts val="815"/>
              </a:spcBef>
            </a:pPr>
            <a:r>
              <a:rPr sz="1200" dirty="0">
                <a:latin typeface="Times New Roman"/>
                <a:cs typeface="Times New Roman"/>
              </a:rPr>
              <a:t>Such</a:t>
            </a:r>
            <a:r>
              <a:rPr sz="1200" spc="335" dirty="0">
                <a:latin typeface="Times New Roman"/>
                <a:cs typeface="Times New Roman"/>
              </a:rPr>
              <a:t> </a:t>
            </a:r>
            <a:r>
              <a:rPr sz="1200" dirty="0">
                <a:latin typeface="Times New Roman"/>
                <a:cs typeface="Times New Roman"/>
              </a:rPr>
              <a:t>integrations</a:t>
            </a:r>
            <a:r>
              <a:rPr sz="1200" spc="350" dirty="0">
                <a:latin typeface="Times New Roman"/>
                <a:cs typeface="Times New Roman"/>
              </a:rPr>
              <a:t> </a:t>
            </a:r>
            <a:r>
              <a:rPr sz="1200" dirty="0">
                <a:latin typeface="Times New Roman"/>
                <a:cs typeface="Times New Roman"/>
              </a:rPr>
              <a:t>increase</a:t>
            </a:r>
            <a:r>
              <a:rPr sz="1200" spc="335" dirty="0">
                <a:latin typeface="Times New Roman"/>
                <a:cs typeface="Times New Roman"/>
              </a:rPr>
              <a:t> </a:t>
            </a:r>
            <a:r>
              <a:rPr sz="1200" dirty="0">
                <a:latin typeface="Times New Roman"/>
                <a:cs typeface="Times New Roman"/>
              </a:rPr>
              <a:t>the</a:t>
            </a:r>
            <a:r>
              <a:rPr sz="1200" spc="335" dirty="0">
                <a:latin typeface="Times New Roman"/>
                <a:cs typeface="Times New Roman"/>
              </a:rPr>
              <a:t> </a:t>
            </a:r>
            <a:r>
              <a:rPr sz="1200" dirty="0">
                <a:latin typeface="Times New Roman"/>
                <a:cs typeface="Times New Roman"/>
              </a:rPr>
              <a:t>platform’s</a:t>
            </a:r>
            <a:r>
              <a:rPr sz="1200" spc="330" dirty="0">
                <a:latin typeface="Times New Roman"/>
                <a:cs typeface="Times New Roman"/>
              </a:rPr>
              <a:t> </a:t>
            </a:r>
            <a:r>
              <a:rPr sz="1200" dirty="0">
                <a:latin typeface="Times New Roman"/>
                <a:cs typeface="Times New Roman"/>
              </a:rPr>
              <a:t>value</a:t>
            </a:r>
            <a:r>
              <a:rPr sz="1200" spc="355" dirty="0">
                <a:latin typeface="Times New Roman"/>
                <a:cs typeface="Times New Roman"/>
              </a:rPr>
              <a:t> </a:t>
            </a:r>
            <a:r>
              <a:rPr sz="1200" dirty="0">
                <a:latin typeface="Times New Roman"/>
                <a:cs typeface="Times New Roman"/>
              </a:rPr>
              <a:t>proposition</a:t>
            </a:r>
            <a:r>
              <a:rPr sz="1200" spc="315" dirty="0">
                <a:latin typeface="Times New Roman"/>
                <a:cs typeface="Times New Roman"/>
              </a:rPr>
              <a:t> </a:t>
            </a:r>
            <a:r>
              <a:rPr sz="1200" dirty="0">
                <a:latin typeface="Times New Roman"/>
                <a:cs typeface="Times New Roman"/>
              </a:rPr>
              <a:t>and</a:t>
            </a:r>
            <a:r>
              <a:rPr sz="1200" spc="340" dirty="0">
                <a:latin typeface="Times New Roman"/>
                <a:cs typeface="Times New Roman"/>
              </a:rPr>
              <a:t> </a:t>
            </a:r>
            <a:r>
              <a:rPr sz="1200" dirty="0">
                <a:latin typeface="Times New Roman"/>
                <a:cs typeface="Times New Roman"/>
              </a:rPr>
              <a:t>create</a:t>
            </a:r>
            <a:r>
              <a:rPr sz="1200" spc="335" dirty="0">
                <a:latin typeface="Times New Roman"/>
                <a:cs typeface="Times New Roman"/>
              </a:rPr>
              <a:t> </a:t>
            </a:r>
            <a:r>
              <a:rPr sz="1200" dirty="0">
                <a:latin typeface="Times New Roman"/>
                <a:cs typeface="Times New Roman"/>
              </a:rPr>
              <a:t>additional</a:t>
            </a:r>
            <a:r>
              <a:rPr sz="1200" spc="315" dirty="0">
                <a:latin typeface="Times New Roman"/>
                <a:cs typeface="Times New Roman"/>
              </a:rPr>
              <a:t> </a:t>
            </a:r>
            <a:r>
              <a:rPr sz="1200" spc="-10" dirty="0">
                <a:latin typeface="Times New Roman"/>
                <a:cs typeface="Times New Roman"/>
              </a:rPr>
              <a:t>business opportunities.</a:t>
            </a:r>
            <a:endParaRPr sz="1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21</a:t>
            </a:r>
          </a:p>
        </p:txBody>
      </p:sp>
      <p:sp>
        <p:nvSpPr>
          <p:cNvPr id="2" name="object 2"/>
          <p:cNvSpPr txBox="1"/>
          <p:nvPr/>
        </p:nvSpPr>
        <p:spPr>
          <a:xfrm>
            <a:off x="902004" y="886713"/>
            <a:ext cx="5970905" cy="7450758"/>
          </a:xfrm>
          <a:prstGeom prst="rect">
            <a:avLst/>
          </a:prstGeom>
        </p:spPr>
        <p:txBody>
          <a:bodyPr vert="horz" wrap="square" lIns="0" tIns="11430" rIns="0" bIns="0" rtlCol="0">
            <a:spAutoFit/>
          </a:bodyPr>
          <a:lstStyle/>
          <a:p>
            <a:pPr algn="ctr">
              <a:lnSpc>
                <a:spcPct val="100000"/>
              </a:lnSpc>
              <a:spcBef>
                <a:spcPts val="90"/>
              </a:spcBef>
            </a:pPr>
            <a:r>
              <a:rPr sz="1400" b="1" dirty="0">
                <a:latin typeface="Times New Roman"/>
                <a:cs typeface="Times New Roman"/>
              </a:rPr>
              <a:t>Chapter</a:t>
            </a:r>
            <a:r>
              <a:rPr sz="1400" b="1" spc="-80" dirty="0">
                <a:latin typeface="Times New Roman"/>
                <a:cs typeface="Times New Roman"/>
              </a:rPr>
              <a:t> </a:t>
            </a:r>
            <a:r>
              <a:rPr sz="1400" b="1" spc="-50" dirty="0">
                <a:latin typeface="Times New Roman"/>
                <a:cs typeface="Times New Roman"/>
              </a:rPr>
              <a:t>7</a:t>
            </a:r>
            <a:endParaRPr sz="1400" dirty="0">
              <a:latin typeface="Times New Roman"/>
              <a:cs typeface="Times New Roman"/>
            </a:endParaRPr>
          </a:p>
          <a:p>
            <a:pPr algn="ctr">
              <a:lnSpc>
                <a:spcPct val="100000"/>
              </a:lnSpc>
              <a:spcBef>
                <a:spcPts val="1130"/>
              </a:spcBef>
            </a:pPr>
            <a:r>
              <a:rPr sz="1400" b="1" spc="-10" dirty="0">
                <a:latin typeface="Times New Roman"/>
                <a:cs typeface="Times New Roman"/>
              </a:rPr>
              <a:t>Conclusion</a:t>
            </a:r>
            <a:endParaRPr sz="1400" dirty="0">
              <a:latin typeface="Times New Roman"/>
              <a:cs typeface="Times New Roman"/>
            </a:endParaRPr>
          </a:p>
          <a:p>
            <a:pPr>
              <a:lnSpc>
                <a:spcPct val="100000"/>
              </a:lnSpc>
            </a:pPr>
            <a:endParaRPr sz="1400" dirty="0">
              <a:latin typeface="Times New Roman"/>
              <a:cs typeface="Times New Roman"/>
            </a:endParaRPr>
          </a:p>
          <a:p>
            <a:pPr>
              <a:lnSpc>
                <a:spcPct val="100000"/>
              </a:lnSpc>
              <a:spcBef>
                <a:spcPts val="75"/>
              </a:spcBef>
            </a:pPr>
            <a:endParaRPr sz="1400" dirty="0">
              <a:latin typeface="Times New Roman"/>
              <a:cs typeface="Times New Roman"/>
            </a:endParaRPr>
          </a:p>
          <a:p>
            <a:r>
              <a:rPr lang="en-US" sz="1200" dirty="0"/>
              <a:t>The </a:t>
            </a:r>
            <a:r>
              <a:rPr lang="en-US" sz="1200" b="1" dirty="0"/>
              <a:t>NIDHI-SETU</a:t>
            </a:r>
            <a:r>
              <a:rPr lang="en-US" sz="1200" dirty="0"/>
              <a:t> project, developed during the </a:t>
            </a:r>
            <a:r>
              <a:rPr lang="en-US" sz="1200" b="1" dirty="0"/>
              <a:t>In-Person Corporate Internship at Seldom India Technologies, Jaipur</a:t>
            </a:r>
            <a:r>
              <a:rPr lang="en-US" sz="1200" dirty="0"/>
              <a:t>, represents the practical implementation of the knowledge and skills acquired during the </a:t>
            </a:r>
            <a:r>
              <a:rPr lang="en-US" sz="1200" b="1" dirty="0"/>
              <a:t>Full Stack Web Development Training Program</a:t>
            </a:r>
            <a:r>
              <a:rPr lang="en-US" sz="1200" dirty="0"/>
              <a:t>. The project aims to create a </a:t>
            </a:r>
            <a:r>
              <a:rPr lang="en-US" sz="1200" b="1" dirty="0"/>
              <a:t>secure, transparent, and efficient digital platform</a:t>
            </a:r>
            <a:r>
              <a:rPr lang="en-US" sz="1200" dirty="0"/>
              <a:t> for automating the verification and disbursement process of government welfare funds.</a:t>
            </a:r>
          </a:p>
          <a:p>
            <a:r>
              <a:rPr lang="en-US" sz="1200" dirty="0"/>
              <a:t>The system integrates modern technologies such as </a:t>
            </a:r>
            <a:r>
              <a:rPr lang="en-US" sz="1200" b="1" dirty="0"/>
              <a:t>React.js, Tailwind CSS, Node.js, Express.js, Firebase, </a:t>
            </a:r>
            <a:r>
              <a:rPr lang="en-US" sz="1200" b="1" dirty="0" err="1"/>
              <a:t>Supabase</a:t>
            </a:r>
            <a:r>
              <a:rPr lang="en-US" sz="1200" b="1" dirty="0"/>
              <a:t>, and Twilio AI</a:t>
            </a:r>
            <a:r>
              <a:rPr lang="en-US" sz="1200" dirty="0"/>
              <a:t> to deliver a </a:t>
            </a:r>
            <a:r>
              <a:rPr lang="en-US" sz="1200" b="1" dirty="0"/>
              <a:t>responsive, AI-powered, and cloud-enabled web application</a:t>
            </a:r>
            <a:r>
              <a:rPr lang="en-US" sz="1200" dirty="0"/>
              <a:t>. Through this project, participants not only implemented full-stack development concepts but also gained hands-on experience in </a:t>
            </a:r>
            <a:r>
              <a:rPr lang="en-US" sz="1200" b="1" dirty="0"/>
              <a:t>cloud integration, real-time database management, and AI-based authentication</a:t>
            </a:r>
            <a:r>
              <a:rPr lang="en-US" sz="1200" dirty="0"/>
              <a:t>.</a:t>
            </a:r>
          </a:p>
          <a:p>
            <a:r>
              <a:rPr lang="en-US" sz="1200" dirty="0"/>
              <a:t>This chapter summarizes the key </a:t>
            </a:r>
            <a:r>
              <a:rPr lang="en-US" sz="1200" b="1" dirty="0"/>
              <a:t>project outcomes, lessons learned, skills developed, limitations identified</a:t>
            </a:r>
            <a:r>
              <a:rPr lang="en-US" sz="1200" dirty="0"/>
              <a:t>, and </a:t>
            </a:r>
            <a:r>
              <a:rPr lang="en-US" sz="1200" b="1" dirty="0"/>
              <a:t>recommendations for future enhancements</a:t>
            </a:r>
            <a:r>
              <a:rPr lang="en-US" sz="1200" dirty="0"/>
              <a:t>. It reflects on the overall training experience and the </a:t>
            </a:r>
            <a:r>
              <a:rPr lang="en-US" sz="1200" b="1" dirty="0"/>
              <a:t>practical exposure</a:t>
            </a:r>
            <a:r>
              <a:rPr lang="en-US" sz="1200" dirty="0"/>
              <a:t> gained during the development and deployment of the </a:t>
            </a:r>
            <a:r>
              <a:rPr lang="en-US" sz="1200" b="1" dirty="0"/>
              <a:t>NIDHI-SETU system</a:t>
            </a:r>
            <a:r>
              <a:rPr lang="en-US" sz="1200" dirty="0"/>
              <a:t>.</a:t>
            </a:r>
          </a:p>
          <a:p>
            <a:pPr>
              <a:lnSpc>
                <a:spcPct val="100000"/>
              </a:lnSpc>
              <a:spcBef>
                <a:spcPts val="855"/>
              </a:spcBef>
            </a:pPr>
            <a:endParaRPr sz="1200" dirty="0">
              <a:latin typeface="Times New Roman"/>
              <a:cs typeface="Times New Roman"/>
            </a:endParaRPr>
          </a:p>
          <a:p>
            <a:pPr marL="12700" marR="3235960" lvl="1" indent="231140">
              <a:lnSpc>
                <a:spcPct val="158300"/>
              </a:lnSpc>
              <a:buAutoNum type="arabicPeriod"/>
              <a:tabLst>
                <a:tab pos="243840" algn="l"/>
              </a:tabLst>
            </a:pPr>
            <a:r>
              <a:rPr sz="1200" b="1" dirty="0">
                <a:latin typeface="Times New Roman"/>
                <a:cs typeface="Times New Roman"/>
              </a:rPr>
              <a:t>Lessons</a:t>
            </a:r>
            <a:r>
              <a:rPr sz="1200" b="1" spc="-50" dirty="0">
                <a:latin typeface="Times New Roman"/>
                <a:cs typeface="Times New Roman"/>
              </a:rPr>
              <a:t> </a:t>
            </a:r>
            <a:r>
              <a:rPr sz="1200" b="1" dirty="0">
                <a:latin typeface="Times New Roman"/>
                <a:cs typeface="Times New Roman"/>
              </a:rPr>
              <a:t>Learned</a:t>
            </a:r>
            <a:r>
              <a:rPr sz="1200" b="1" spc="-30"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Skills</a:t>
            </a:r>
            <a:r>
              <a:rPr sz="1200" b="1" spc="-45" dirty="0">
                <a:latin typeface="Times New Roman"/>
                <a:cs typeface="Times New Roman"/>
              </a:rPr>
              <a:t> </a:t>
            </a:r>
            <a:r>
              <a:rPr sz="1200" b="1" spc="-10" dirty="0">
                <a:latin typeface="Times New Roman"/>
                <a:cs typeface="Times New Roman"/>
              </a:rPr>
              <a:t>Developed </a:t>
            </a:r>
            <a:r>
              <a:rPr sz="1200" b="1" spc="-20" dirty="0">
                <a:latin typeface="Times New Roman"/>
                <a:cs typeface="Times New Roman"/>
              </a:rPr>
              <a:t>Technical</a:t>
            </a:r>
            <a:r>
              <a:rPr sz="1200" b="1" spc="10" dirty="0">
                <a:latin typeface="Times New Roman"/>
                <a:cs typeface="Times New Roman"/>
              </a:rPr>
              <a:t> </a:t>
            </a:r>
            <a:r>
              <a:rPr sz="1200" b="1" spc="-10" dirty="0">
                <a:latin typeface="Times New Roman"/>
                <a:cs typeface="Times New Roman"/>
              </a:rPr>
              <a:t>Skills</a:t>
            </a:r>
            <a:endParaRPr sz="1200" dirty="0">
              <a:latin typeface="Times New Roman"/>
              <a:cs typeface="Times New Roman"/>
            </a:endParaRPr>
          </a:p>
          <a:p>
            <a:r>
              <a:rPr lang="en-US" sz="1200" dirty="0"/>
              <a:t>The </a:t>
            </a:r>
            <a:r>
              <a:rPr lang="en-US" sz="1200" b="1" dirty="0"/>
              <a:t>NIDHI-SETU</a:t>
            </a:r>
            <a:r>
              <a:rPr lang="en-US" sz="1200" dirty="0"/>
              <a:t> project offered an excellent platform to strengthen full-stack web development skills. Key technical competencies gained include:</a:t>
            </a:r>
          </a:p>
          <a:p>
            <a:r>
              <a:rPr lang="en-US" sz="1200" b="1" dirty="0"/>
              <a:t>Front-End Development:</a:t>
            </a:r>
            <a:r>
              <a:rPr lang="en-US" sz="1200" dirty="0"/>
              <a:t> Designed responsive and interactive interfaces using </a:t>
            </a:r>
            <a:r>
              <a:rPr lang="en-US" sz="1200" b="1" dirty="0"/>
              <a:t>React.js</a:t>
            </a:r>
            <a:r>
              <a:rPr lang="en-US" sz="1200" dirty="0"/>
              <a:t> and </a:t>
            </a:r>
            <a:r>
              <a:rPr lang="en-US" sz="1200" b="1" dirty="0"/>
              <a:t>Tailwind CSS</a:t>
            </a:r>
            <a:r>
              <a:rPr lang="en-US" sz="1200" dirty="0"/>
              <a:t>, emphasizing reusable components and optimized performance.</a:t>
            </a:r>
          </a:p>
          <a:p>
            <a:r>
              <a:rPr lang="en-US" sz="1200" b="1" dirty="0"/>
              <a:t>Back-End Development:</a:t>
            </a:r>
            <a:r>
              <a:rPr lang="en-US" sz="1200" dirty="0"/>
              <a:t> Developed RESTful APIs and server-side logic using </a:t>
            </a:r>
            <a:r>
              <a:rPr lang="en-US" sz="1200" b="1" dirty="0"/>
              <a:t>Node.js</a:t>
            </a:r>
            <a:r>
              <a:rPr lang="en-US" sz="1200" dirty="0"/>
              <a:t> and </a:t>
            </a:r>
            <a:r>
              <a:rPr lang="en-US" sz="1200" b="1" dirty="0"/>
              <a:t>Express.js</a:t>
            </a:r>
            <a:r>
              <a:rPr lang="en-US" sz="1200" dirty="0"/>
              <a:t>, ensuring efficient client-server communication.</a:t>
            </a:r>
          </a:p>
          <a:p>
            <a:r>
              <a:rPr lang="en-US" sz="1200" b="1" dirty="0"/>
              <a:t>Database Management:</a:t>
            </a:r>
            <a:r>
              <a:rPr lang="en-US" sz="1200" dirty="0"/>
              <a:t> Implemented </a:t>
            </a:r>
            <a:r>
              <a:rPr lang="en-US" sz="1200" b="1" dirty="0"/>
              <a:t>Firebase </a:t>
            </a:r>
            <a:r>
              <a:rPr lang="en-US" sz="1200" b="1" dirty="0" err="1"/>
              <a:t>Firestore</a:t>
            </a:r>
            <a:r>
              <a:rPr lang="en-US" sz="1200" dirty="0"/>
              <a:t> and </a:t>
            </a:r>
            <a:r>
              <a:rPr lang="en-US" sz="1200" b="1" dirty="0" err="1"/>
              <a:t>Supabase</a:t>
            </a:r>
            <a:r>
              <a:rPr lang="en-US" sz="1200" dirty="0"/>
              <a:t> for secure, real-time data storage, retrieval, and updates.</a:t>
            </a:r>
          </a:p>
          <a:p>
            <a:r>
              <a:rPr lang="en-US" sz="1200" b="1" dirty="0"/>
              <a:t>Authentication and Security:</a:t>
            </a:r>
            <a:r>
              <a:rPr lang="en-US" sz="1200" dirty="0"/>
              <a:t> Integrated </a:t>
            </a:r>
            <a:r>
              <a:rPr lang="en-US" sz="1200" b="1" dirty="0"/>
              <a:t>Firebase Authentication</a:t>
            </a:r>
            <a:r>
              <a:rPr lang="en-US" sz="1200" dirty="0"/>
              <a:t> and </a:t>
            </a:r>
            <a:r>
              <a:rPr lang="en-US" sz="1200" b="1" dirty="0"/>
              <a:t>AI-based identity verification</a:t>
            </a:r>
            <a:r>
              <a:rPr lang="en-US" sz="1200" dirty="0"/>
              <a:t> for secure, role-based access control.</a:t>
            </a:r>
          </a:p>
          <a:p>
            <a:r>
              <a:rPr lang="en-US" sz="1200" b="1" dirty="0"/>
              <a:t>Cloud Integration and Deployment:</a:t>
            </a:r>
            <a:r>
              <a:rPr lang="en-US" sz="1200" dirty="0"/>
              <a:t> Acquired experience in </a:t>
            </a:r>
            <a:r>
              <a:rPr lang="en-US" sz="1200" b="1" dirty="0"/>
              <a:t>cloud hosting</a:t>
            </a:r>
            <a:r>
              <a:rPr lang="en-US" sz="1200" dirty="0"/>
              <a:t>, </a:t>
            </a:r>
            <a:r>
              <a:rPr lang="en-US" sz="1200" b="1" dirty="0"/>
              <a:t>database synchronization</a:t>
            </a:r>
            <a:r>
              <a:rPr lang="en-US" sz="1200" dirty="0"/>
              <a:t>, and </a:t>
            </a:r>
            <a:r>
              <a:rPr lang="en-US" sz="1200" b="1" dirty="0"/>
              <a:t>scalable architecture</a:t>
            </a:r>
            <a:r>
              <a:rPr lang="en-US" sz="1200" dirty="0"/>
              <a:t> design.</a:t>
            </a:r>
          </a:p>
          <a:p>
            <a:r>
              <a:rPr lang="en-US" sz="1200" b="1" dirty="0"/>
              <a:t>Debugging and Optimization:</a:t>
            </a:r>
            <a:r>
              <a:rPr lang="en-US" sz="1200" dirty="0"/>
              <a:t> Enhanced problem-solving skills by debugging code, optimizing workflows, and ensuring seamless integration across the full stack.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22</a:t>
            </a:r>
          </a:p>
        </p:txBody>
      </p:sp>
      <p:sp>
        <p:nvSpPr>
          <p:cNvPr id="2" name="object 2"/>
          <p:cNvSpPr txBox="1"/>
          <p:nvPr/>
        </p:nvSpPr>
        <p:spPr>
          <a:xfrm>
            <a:off x="902004" y="886714"/>
            <a:ext cx="5971540" cy="9148274"/>
          </a:xfrm>
          <a:prstGeom prst="rect">
            <a:avLst/>
          </a:prstGeom>
        </p:spPr>
        <p:txBody>
          <a:bodyPr vert="horz" wrap="square" lIns="0" tIns="6350" rIns="0" bIns="0" rtlCol="0">
            <a:spAutoFit/>
          </a:bodyPr>
          <a:lstStyle/>
          <a:p>
            <a:pPr marL="12700" marR="6350">
              <a:lnSpc>
                <a:spcPct val="103299"/>
              </a:lnSpc>
              <a:spcBef>
                <a:spcPts val="50"/>
              </a:spcBef>
            </a:pPr>
            <a:r>
              <a:rPr lang="en-US" sz="1200" dirty="0"/>
              <a:t>The development of the </a:t>
            </a:r>
            <a:r>
              <a:rPr lang="en-US" sz="1200" b="1" dirty="0"/>
              <a:t>NIDHI-SETU</a:t>
            </a:r>
            <a:r>
              <a:rPr lang="en-US" sz="1200" dirty="0"/>
              <a:t> project helped participants gain essential technical and professional competencies required for real-world software development.</a:t>
            </a:r>
          </a:p>
          <a:p>
            <a:pPr marL="12700" marR="6350">
              <a:lnSpc>
                <a:spcPct val="103299"/>
              </a:lnSpc>
              <a:spcBef>
                <a:spcPts val="50"/>
              </a:spcBef>
            </a:pPr>
            <a:r>
              <a:rPr sz="1200" b="1" dirty="0">
                <a:latin typeface="Times New Roman"/>
                <a:cs typeface="Times New Roman"/>
              </a:rPr>
              <a:t>Communication</a:t>
            </a:r>
            <a:r>
              <a:rPr sz="1200" b="1" spc="-65" dirty="0">
                <a:latin typeface="Times New Roman"/>
                <a:cs typeface="Times New Roman"/>
              </a:rPr>
              <a:t> </a:t>
            </a:r>
            <a:r>
              <a:rPr sz="1200" b="1" spc="-10" dirty="0">
                <a:latin typeface="Times New Roman"/>
                <a:cs typeface="Times New Roman"/>
              </a:rPr>
              <a:t>Skills</a:t>
            </a:r>
            <a:endParaRPr sz="1200" dirty="0">
              <a:latin typeface="Times New Roman"/>
              <a:cs typeface="Times New Roman"/>
            </a:endParaRPr>
          </a:p>
          <a:p>
            <a:pPr marL="12700">
              <a:lnSpc>
                <a:spcPct val="100000"/>
              </a:lnSpc>
              <a:spcBef>
                <a:spcPts val="845"/>
              </a:spcBef>
            </a:pPr>
            <a:r>
              <a:rPr sz="1200" dirty="0">
                <a:latin typeface="Times New Roman"/>
                <a:cs typeface="Times New Roman"/>
              </a:rPr>
              <a:t>Apart</a:t>
            </a:r>
            <a:r>
              <a:rPr sz="1200" spc="5" dirty="0">
                <a:latin typeface="Times New Roman"/>
                <a:cs typeface="Times New Roman"/>
              </a:rPr>
              <a:t> </a:t>
            </a:r>
            <a:r>
              <a:rPr sz="1200" dirty="0">
                <a:latin typeface="Times New Roman"/>
                <a:cs typeface="Times New Roman"/>
              </a:rPr>
              <a:t>from</a:t>
            </a:r>
            <a:r>
              <a:rPr sz="1200" spc="-60" dirty="0">
                <a:latin typeface="Times New Roman"/>
                <a:cs typeface="Times New Roman"/>
              </a:rPr>
              <a:t> </a:t>
            </a:r>
            <a:r>
              <a:rPr sz="1200" spc="-10" dirty="0">
                <a:latin typeface="Times New Roman"/>
                <a:cs typeface="Times New Roman"/>
              </a:rPr>
              <a:t>technical</a:t>
            </a:r>
            <a:r>
              <a:rPr sz="1200" spc="-55" dirty="0">
                <a:latin typeface="Times New Roman"/>
                <a:cs typeface="Times New Roman"/>
              </a:rPr>
              <a:t> </a:t>
            </a:r>
            <a:r>
              <a:rPr sz="1200" dirty="0">
                <a:latin typeface="Times New Roman"/>
                <a:cs typeface="Times New Roman"/>
              </a:rPr>
              <a:t>expertise,</a:t>
            </a:r>
            <a:r>
              <a:rPr sz="1200" spc="-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project</a:t>
            </a:r>
            <a:r>
              <a:rPr sz="1200" spc="5" dirty="0">
                <a:latin typeface="Times New Roman"/>
                <a:cs typeface="Times New Roman"/>
              </a:rPr>
              <a:t> </a:t>
            </a:r>
            <a:r>
              <a:rPr sz="1200" dirty="0">
                <a:latin typeface="Times New Roman"/>
                <a:cs typeface="Times New Roman"/>
              </a:rPr>
              <a:t>enhanced</a:t>
            </a:r>
            <a:r>
              <a:rPr sz="1200" spc="15" dirty="0">
                <a:latin typeface="Times New Roman"/>
                <a:cs typeface="Times New Roman"/>
              </a:rPr>
              <a:t> </a:t>
            </a:r>
            <a:r>
              <a:rPr sz="1200" b="1" spc="-10" dirty="0">
                <a:latin typeface="Times New Roman"/>
                <a:cs typeface="Times New Roman"/>
              </a:rPr>
              <a:t>communication abilities</a:t>
            </a:r>
            <a:r>
              <a:rPr sz="1200" spc="-10" dirty="0">
                <a:latin typeface="Times New Roman"/>
                <a:cs typeface="Times New Roman"/>
              </a:rPr>
              <a:t>:</a:t>
            </a:r>
            <a:endParaRPr sz="1200" dirty="0">
              <a:latin typeface="Times New Roman"/>
              <a:cs typeface="Times New Roman"/>
            </a:endParaRPr>
          </a:p>
          <a:p>
            <a:pPr marL="469900" indent="-228600">
              <a:lnSpc>
                <a:spcPct val="100000"/>
              </a:lnSpc>
              <a:spcBef>
                <a:spcPts val="840"/>
              </a:spcBef>
              <a:buSzPct val="83333"/>
              <a:buFont typeface="Symbol"/>
              <a:buChar char=""/>
              <a:tabLst>
                <a:tab pos="469900" algn="l"/>
              </a:tabLst>
            </a:pPr>
            <a:r>
              <a:rPr sz="1200" spc="-10" dirty="0">
                <a:latin typeface="Times New Roman"/>
                <a:cs typeface="Times New Roman"/>
              </a:rPr>
              <a:t>Documenting</a:t>
            </a:r>
            <a:r>
              <a:rPr sz="1200" spc="-20" dirty="0">
                <a:latin typeface="Times New Roman"/>
                <a:cs typeface="Times New Roman"/>
              </a:rPr>
              <a:t> </a:t>
            </a:r>
            <a:r>
              <a:rPr sz="1200" dirty="0">
                <a:latin typeface="Times New Roman"/>
                <a:cs typeface="Times New Roman"/>
              </a:rPr>
              <a:t>project </a:t>
            </a:r>
            <a:r>
              <a:rPr sz="1200" spc="-10" dirty="0">
                <a:latin typeface="Times New Roman"/>
                <a:cs typeface="Times New Roman"/>
              </a:rPr>
              <a:t>requirements, </a:t>
            </a:r>
            <a:r>
              <a:rPr sz="1200" dirty="0">
                <a:latin typeface="Times New Roman"/>
                <a:cs typeface="Times New Roman"/>
              </a:rPr>
              <a:t>system</a:t>
            </a:r>
            <a:r>
              <a:rPr sz="1200" spc="-60" dirty="0">
                <a:latin typeface="Times New Roman"/>
                <a:cs typeface="Times New Roman"/>
              </a:rPr>
              <a:t> </a:t>
            </a:r>
            <a:r>
              <a:rPr sz="1200" dirty="0">
                <a:latin typeface="Times New Roman"/>
                <a:cs typeface="Times New Roman"/>
              </a:rPr>
              <a:t>workflows,</a:t>
            </a:r>
            <a:r>
              <a:rPr sz="1200" spc="-1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coding</a:t>
            </a:r>
            <a:r>
              <a:rPr sz="1200" spc="-20" dirty="0">
                <a:latin typeface="Times New Roman"/>
                <a:cs typeface="Times New Roman"/>
              </a:rPr>
              <a:t> </a:t>
            </a:r>
            <a:r>
              <a:rPr sz="1200" dirty="0">
                <a:latin typeface="Times New Roman"/>
                <a:cs typeface="Times New Roman"/>
              </a:rPr>
              <a:t>practices</a:t>
            </a:r>
            <a:r>
              <a:rPr sz="1200" spc="-30" dirty="0">
                <a:latin typeface="Times New Roman"/>
                <a:cs typeface="Times New Roman"/>
              </a:rPr>
              <a:t> </a:t>
            </a:r>
            <a:r>
              <a:rPr sz="1200" spc="-10" dirty="0">
                <a:latin typeface="Times New Roman"/>
                <a:cs typeface="Times New Roman"/>
              </a:rPr>
              <a:t>clearly.</a:t>
            </a:r>
            <a:endParaRPr sz="1200" dirty="0">
              <a:latin typeface="Times New Roman"/>
              <a:cs typeface="Times New Roman"/>
            </a:endParaRPr>
          </a:p>
          <a:p>
            <a:pPr marL="469900" marR="7620" indent="-229235">
              <a:lnSpc>
                <a:spcPct val="103299"/>
              </a:lnSpc>
              <a:spcBef>
                <a:spcPts val="815"/>
              </a:spcBef>
              <a:buSzPct val="83333"/>
              <a:buFont typeface="Symbol"/>
              <a:buChar char=""/>
              <a:tabLst>
                <a:tab pos="469900" algn="l"/>
              </a:tabLst>
            </a:pPr>
            <a:r>
              <a:rPr sz="1200" dirty="0">
                <a:latin typeface="Times New Roman"/>
                <a:cs typeface="Times New Roman"/>
              </a:rPr>
              <a:t>Articulating</a:t>
            </a:r>
            <a:r>
              <a:rPr sz="1200" spc="95" dirty="0">
                <a:latin typeface="Times New Roman"/>
                <a:cs typeface="Times New Roman"/>
              </a:rPr>
              <a:t> </a:t>
            </a:r>
            <a:r>
              <a:rPr sz="1200" dirty="0">
                <a:latin typeface="Times New Roman"/>
                <a:cs typeface="Times New Roman"/>
              </a:rPr>
              <a:t>technical</a:t>
            </a:r>
            <a:r>
              <a:rPr sz="1200" spc="80" dirty="0">
                <a:latin typeface="Times New Roman"/>
                <a:cs typeface="Times New Roman"/>
              </a:rPr>
              <a:t> </a:t>
            </a:r>
            <a:r>
              <a:rPr sz="1200" dirty="0">
                <a:latin typeface="Times New Roman"/>
                <a:cs typeface="Times New Roman"/>
              </a:rPr>
              <a:t>issues,</a:t>
            </a:r>
            <a:r>
              <a:rPr sz="1200" spc="110" dirty="0">
                <a:latin typeface="Times New Roman"/>
                <a:cs typeface="Times New Roman"/>
              </a:rPr>
              <a:t> </a:t>
            </a:r>
            <a:r>
              <a:rPr sz="1200" dirty="0">
                <a:latin typeface="Times New Roman"/>
                <a:cs typeface="Times New Roman"/>
              </a:rPr>
              <a:t>solutions,</a:t>
            </a:r>
            <a:r>
              <a:rPr sz="1200" spc="110" dirty="0">
                <a:latin typeface="Times New Roman"/>
                <a:cs typeface="Times New Roman"/>
              </a:rPr>
              <a:t> </a:t>
            </a:r>
            <a:r>
              <a:rPr sz="1200" dirty="0">
                <a:latin typeface="Times New Roman"/>
                <a:cs typeface="Times New Roman"/>
              </a:rPr>
              <a:t>and</a:t>
            </a:r>
            <a:r>
              <a:rPr sz="1200" spc="100" dirty="0">
                <a:latin typeface="Times New Roman"/>
                <a:cs typeface="Times New Roman"/>
              </a:rPr>
              <a:t> </a:t>
            </a:r>
            <a:r>
              <a:rPr sz="1200" dirty="0">
                <a:latin typeface="Times New Roman"/>
                <a:cs typeface="Times New Roman"/>
              </a:rPr>
              <a:t>project</a:t>
            </a:r>
            <a:r>
              <a:rPr sz="1200" spc="155" dirty="0">
                <a:latin typeface="Times New Roman"/>
                <a:cs typeface="Times New Roman"/>
              </a:rPr>
              <a:t> </a:t>
            </a:r>
            <a:r>
              <a:rPr sz="1200" dirty="0">
                <a:latin typeface="Times New Roman"/>
                <a:cs typeface="Times New Roman"/>
              </a:rPr>
              <a:t>progress</a:t>
            </a:r>
            <a:r>
              <a:rPr sz="1200" spc="90" dirty="0">
                <a:latin typeface="Times New Roman"/>
                <a:cs typeface="Times New Roman"/>
              </a:rPr>
              <a:t> </a:t>
            </a:r>
            <a:r>
              <a:rPr sz="1200" dirty="0">
                <a:latin typeface="Times New Roman"/>
                <a:cs typeface="Times New Roman"/>
              </a:rPr>
              <a:t>effectively</a:t>
            </a:r>
            <a:r>
              <a:rPr sz="1200" spc="80" dirty="0">
                <a:latin typeface="Times New Roman"/>
                <a:cs typeface="Times New Roman"/>
              </a:rPr>
              <a:t> </a:t>
            </a:r>
            <a:r>
              <a:rPr sz="1200" dirty="0">
                <a:latin typeface="Times New Roman"/>
                <a:cs typeface="Times New Roman"/>
              </a:rPr>
              <a:t>to</a:t>
            </a:r>
            <a:r>
              <a:rPr sz="1200" spc="125" dirty="0">
                <a:latin typeface="Times New Roman"/>
                <a:cs typeface="Times New Roman"/>
              </a:rPr>
              <a:t> </a:t>
            </a:r>
            <a:r>
              <a:rPr sz="1200" dirty="0">
                <a:latin typeface="Times New Roman"/>
                <a:cs typeface="Times New Roman"/>
              </a:rPr>
              <a:t>mentors</a:t>
            </a:r>
            <a:r>
              <a:rPr sz="1200" spc="8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peers.</a:t>
            </a:r>
            <a:endParaRPr sz="1200" dirty="0">
              <a:latin typeface="Times New Roman"/>
              <a:cs typeface="Times New Roman"/>
            </a:endParaRPr>
          </a:p>
          <a:p>
            <a:pPr marL="469900" marR="16510" indent="-229235">
              <a:lnSpc>
                <a:spcPct val="103299"/>
              </a:lnSpc>
              <a:spcBef>
                <a:spcPts val="795"/>
              </a:spcBef>
              <a:buSzPct val="83333"/>
              <a:buFont typeface="Symbol"/>
              <a:buChar char=""/>
              <a:tabLst>
                <a:tab pos="469900" algn="l"/>
              </a:tabLst>
            </a:pPr>
            <a:r>
              <a:rPr sz="1200" dirty="0">
                <a:latin typeface="Times New Roman"/>
                <a:cs typeface="Times New Roman"/>
              </a:rPr>
              <a:t>Presenting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a:t>
            </a:r>
            <a:r>
              <a:rPr sz="1200" spc="45"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20" dirty="0">
                <a:latin typeface="Times New Roman"/>
                <a:cs typeface="Times New Roman"/>
              </a:rPr>
              <a:t> </a:t>
            </a:r>
            <a:r>
              <a:rPr sz="1200" dirty="0">
                <a:latin typeface="Times New Roman"/>
                <a:cs typeface="Times New Roman"/>
              </a:rPr>
              <a:t>manner,</a:t>
            </a:r>
            <a:r>
              <a:rPr sz="1200" spc="30" dirty="0">
                <a:latin typeface="Times New Roman"/>
                <a:cs typeface="Times New Roman"/>
              </a:rPr>
              <a:t> </a:t>
            </a:r>
            <a:r>
              <a:rPr sz="1200" dirty="0">
                <a:latin typeface="Times New Roman"/>
                <a:cs typeface="Times New Roman"/>
              </a:rPr>
              <a:t>including</a:t>
            </a:r>
            <a:r>
              <a:rPr sz="1200" spc="20" dirty="0">
                <a:latin typeface="Times New Roman"/>
                <a:cs typeface="Times New Roman"/>
              </a:rPr>
              <a:t> </a:t>
            </a:r>
            <a:r>
              <a:rPr sz="1200" dirty="0">
                <a:latin typeface="Times New Roman"/>
                <a:cs typeface="Times New Roman"/>
              </a:rPr>
              <a:t>UI</a:t>
            </a:r>
            <a:r>
              <a:rPr sz="1200" spc="25" dirty="0">
                <a:latin typeface="Times New Roman"/>
                <a:cs typeface="Times New Roman"/>
              </a:rPr>
              <a:t> </a:t>
            </a:r>
            <a:r>
              <a:rPr sz="1200" dirty="0">
                <a:latin typeface="Times New Roman"/>
                <a:cs typeface="Times New Roman"/>
              </a:rPr>
              <a:t>demonstrations,</a:t>
            </a:r>
            <a:r>
              <a:rPr sz="1200" spc="30"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spc="-10" dirty="0">
                <a:latin typeface="Times New Roman"/>
                <a:cs typeface="Times New Roman"/>
              </a:rPr>
              <a:t>flow,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backend</a:t>
            </a:r>
            <a:r>
              <a:rPr sz="1200" spc="-40" dirty="0">
                <a:latin typeface="Times New Roman"/>
                <a:cs typeface="Times New Roman"/>
              </a:rPr>
              <a:t> </a:t>
            </a:r>
            <a:r>
              <a:rPr sz="1200" spc="-10" dirty="0">
                <a:latin typeface="Times New Roman"/>
                <a:cs typeface="Times New Roman"/>
              </a:rPr>
              <a:t>operations.</a:t>
            </a:r>
            <a:endParaRPr sz="1200" dirty="0">
              <a:latin typeface="Times New Roman"/>
              <a:cs typeface="Times New Roman"/>
            </a:endParaRPr>
          </a:p>
          <a:p>
            <a:pPr marL="12700">
              <a:lnSpc>
                <a:spcPct val="100000"/>
              </a:lnSpc>
              <a:spcBef>
                <a:spcPts val="865"/>
              </a:spcBef>
            </a:pPr>
            <a:r>
              <a:rPr sz="1200" b="1" spc="-10" dirty="0">
                <a:latin typeface="Times New Roman"/>
                <a:cs typeface="Times New Roman"/>
              </a:rPr>
              <a:t>Interpersonal</a:t>
            </a:r>
            <a:r>
              <a:rPr sz="1200" b="1" dirty="0">
                <a:latin typeface="Times New Roman"/>
                <a:cs typeface="Times New Roman"/>
              </a:rPr>
              <a:t> and</a:t>
            </a:r>
            <a:r>
              <a:rPr sz="1200" b="1" spc="35" dirty="0">
                <a:latin typeface="Times New Roman"/>
                <a:cs typeface="Times New Roman"/>
              </a:rPr>
              <a:t> </a:t>
            </a:r>
            <a:r>
              <a:rPr sz="1200" b="1" spc="-10" dirty="0">
                <a:latin typeface="Times New Roman"/>
                <a:cs typeface="Times New Roman"/>
              </a:rPr>
              <a:t>Professional</a:t>
            </a:r>
            <a:r>
              <a:rPr sz="1200" b="1" spc="5" dirty="0">
                <a:latin typeface="Times New Roman"/>
                <a:cs typeface="Times New Roman"/>
              </a:rPr>
              <a:t> </a:t>
            </a:r>
            <a:r>
              <a:rPr sz="1200" b="1" spc="-10" dirty="0">
                <a:latin typeface="Times New Roman"/>
                <a:cs typeface="Times New Roman"/>
              </a:rPr>
              <a:t>Skills</a:t>
            </a:r>
            <a:endParaRPr sz="1200" dirty="0">
              <a:latin typeface="Times New Roman"/>
              <a:cs typeface="Times New Roman"/>
            </a:endParaRPr>
          </a:p>
          <a:p>
            <a:pPr marL="12700">
              <a:lnSpc>
                <a:spcPct val="100000"/>
              </a:lnSpc>
              <a:spcBef>
                <a:spcPts val="840"/>
              </a:spcBef>
            </a:pP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training</a:t>
            </a:r>
            <a:r>
              <a:rPr sz="1200" spc="-35" dirty="0">
                <a:latin typeface="Times New Roman"/>
                <a:cs typeface="Times New Roman"/>
              </a:rPr>
              <a:t> </a:t>
            </a:r>
            <a:r>
              <a:rPr sz="1200" dirty="0">
                <a:latin typeface="Times New Roman"/>
                <a:cs typeface="Times New Roman"/>
              </a:rPr>
              <a:t>also</a:t>
            </a:r>
            <a:r>
              <a:rPr sz="1200" spc="-15" dirty="0">
                <a:latin typeface="Times New Roman"/>
                <a:cs typeface="Times New Roman"/>
              </a:rPr>
              <a:t> </a:t>
            </a:r>
            <a:r>
              <a:rPr sz="1200" spc="-10" dirty="0">
                <a:latin typeface="Times New Roman"/>
                <a:cs typeface="Times New Roman"/>
              </a:rPr>
              <a:t>provided</a:t>
            </a:r>
            <a:r>
              <a:rPr sz="1200" spc="-35" dirty="0">
                <a:latin typeface="Times New Roman"/>
                <a:cs typeface="Times New Roman"/>
              </a:rPr>
              <a:t> </a:t>
            </a:r>
            <a:r>
              <a:rPr sz="1200" dirty="0">
                <a:latin typeface="Times New Roman"/>
                <a:cs typeface="Times New Roman"/>
              </a:rPr>
              <a:t>exposure</a:t>
            </a:r>
            <a:r>
              <a:rPr sz="1200" spc="-4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b="1" spc="-10" dirty="0">
                <a:latin typeface="Times New Roman"/>
                <a:cs typeface="Times New Roman"/>
              </a:rPr>
              <a:t>professional</a:t>
            </a:r>
            <a:r>
              <a:rPr sz="1200" b="1" spc="-60" dirty="0">
                <a:latin typeface="Times New Roman"/>
                <a:cs typeface="Times New Roman"/>
              </a:rPr>
              <a:t> </a:t>
            </a:r>
            <a:r>
              <a:rPr sz="1200" b="1" dirty="0">
                <a:latin typeface="Times New Roman"/>
                <a:cs typeface="Times New Roman"/>
              </a:rPr>
              <a:t>work</a:t>
            </a:r>
            <a:r>
              <a:rPr sz="1200" b="1" spc="-55" dirty="0">
                <a:latin typeface="Times New Roman"/>
                <a:cs typeface="Times New Roman"/>
              </a:rPr>
              <a:t> </a:t>
            </a:r>
            <a:r>
              <a:rPr sz="1200" b="1" spc="-10" dirty="0">
                <a:latin typeface="Times New Roman"/>
                <a:cs typeface="Times New Roman"/>
              </a:rPr>
              <a:t>culture</a:t>
            </a:r>
            <a:r>
              <a:rPr sz="1200" spc="-10" dirty="0">
                <a:latin typeface="Times New Roman"/>
                <a:cs typeface="Times New Roman"/>
              </a:rPr>
              <a:t>,</a:t>
            </a:r>
            <a:r>
              <a:rPr sz="1200" spc="-30" dirty="0">
                <a:latin typeface="Times New Roman"/>
                <a:cs typeface="Times New Roman"/>
              </a:rPr>
              <a:t> </a:t>
            </a:r>
            <a:r>
              <a:rPr sz="1200" dirty="0">
                <a:latin typeface="Times New Roman"/>
                <a:cs typeface="Times New Roman"/>
              </a:rPr>
              <a:t>enhancing</a:t>
            </a:r>
            <a:r>
              <a:rPr sz="1200" spc="-10" dirty="0">
                <a:latin typeface="Times New Roman"/>
                <a:cs typeface="Times New Roman"/>
              </a:rPr>
              <a:t> interpersonal</a:t>
            </a:r>
            <a:r>
              <a:rPr sz="1200" spc="-60" dirty="0">
                <a:latin typeface="Times New Roman"/>
                <a:cs typeface="Times New Roman"/>
              </a:rPr>
              <a:t> </a:t>
            </a:r>
            <a:r>
              <a:rPr sz="1200" spc="-10" dirty="0">
                <a:latin typeface="Times New Roman"/>
                <a:cs typeface="Times New Roman"/>
              </a:rPr>
              <a:t>skills:</a:t>
            </a:r>
            <a:endParaRPr sz="1200" dirty="0">
              <a:latin typeface="Times New Roman"/>
              <a:cs typeface="Times New Roman"/>
            </a:endParaRPr>
          </a:p>
          <a:p>
            <a:pPr marL="469900" marR="12700" indent="-229235">
              <a:lnSpc>
                <a:spcPct val="103299"/>
              </a:lnSpc>
              <a:spcBef>
                <a:spcPts val="795"/>
              </a:spcBef>
              <a:buSzPct val="83333"/>
              <a:buFont typeface="Symbol"/>
              <a:buChar char=""/>
              <a:tabLst>
                <a:tab pos="469900" algn="l"/>
              </a:tabLst>
            </a:pPr>
            <a:r>
              <a:rPr sz="1200" b="1" dirty="0">
                <a:latin typeface="Times New Roman"/>
                <a:cs typeface="Times New Roman"/>
              </a:rPr>
              <a:t>Team</a:t>
            </a:r>
            <a:r>
              <a:rPr sz="1200" b="1" spc="75" dirty="0">
                <a:latin typeface="Times New Roman"/>
                <a:cs typeface="Times New Roman"/>
              </a:rPr>
              <a:t> </a:t>
            </a:r>
            <a:r>
              <a:rPr sz="1200" b="1" dirty="0">
                <a:latin typeface="Times New Roman"/>
                <a:cs typeface="Times New Roman"/>
              </a:rPr>
              <a:t>Collaboration:</a:t>
            </a:r>
            <a:r>
              <a:rPr sz="1200" b="1" spc="110" dirty="0">
                <a:latin typeface="Times New Roman"/>
                <a:cs typeface="Times New Roman"/>
              </a:rPr>
              <a:t> </a:t>
            </a:r>
            <a:r>
              <a:rPr sz="1200" dirty="0">
                <a:latin typeface="Times New Roman"/>
                <a:cs typeface="Times New Roman"/>
              </a:rPr>
              <a:t>Coordinating</a:t>
            </a:r>
            <a:r>
              <a:rPr sz="1200" spc="90" dirty="0">
                <a:latin typeface="Times New Roman"/>
                <a:cs typeface="Times New Roman"/>
              </a:rPr>
              <a:t> </a:t>
            </a:r>
            <a:r>
              <a:rPr sz="1200" dirty="0">
                <a:latin typeface="Times New Roman"/>
                <a:cs typeface="Times New Roman"/>
              </a:rPr>
              <a:t>tasks,</a:t>
            </a:r>
            <a:r>
              <a:rPr sz="1200" spc="105" dirty="0">
                <a:latin typeface="Times New Roman"/>
                <a:cs typeface="Times New Roman"/>
              </a:rPr>
              <a:t> </a:t>
            </a:r>
            <a:r>
              <a:rPr sz="1200" dirty="0">
                <a:latin typeface="Times New Roman"/>
                <a:cs typeface="Times New Roman"/>
              </a:rPr>
              <a:t>discussing</a:t>
            </a:r>
            <a:r>
              <a:rPr sz="1200" spc="110" dirty="0">
                <a:latin typeface="Times New Roman"/>
                <a:cs typeface="Times New Roman"/>
              </a:rPr>
              <a:t> </a:t>
            </a:r>
            <a:r>
              <a:rPr sz="1200" dirty="0">
                <a:latin typeface="Times New Roman"/>
                <a:cs typeface="Times New Roman"/>
              </a:rPr>
              <a:t>solutions,</a:t>
            </a:r>
            <a:r>
              <a:rPr sz="1200" spc="105"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sharing</a:t>
            </a:r>
            <a:r>
              <a:rPr sz="1200" spc="90" dirty="0">
                <a:latin typeface="Times New Roman"/>
                <a:cs typeface="Times New Roman"/>
              </a:rPr>
              <a:t> </a:t>
            </a:r>
            <a:r>
              <a:rPr sz="1200" spc="-10" dirty="0">
                <a:latin typeface="Times New Roman"/>
                <a:cs typeface="Times New Roman"/>
              </a:rPr>
              <a:t>knowledge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peers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spc="-10" dirty="0">
                <a:latin typeface="Times New Roman"/>
                <a:cs typeface="Times New Roman"/>
              </a:rPr>
              <a:t>instructors.</a:t>
            </a:r>
            <a:endParaRPr sz="1200" dirty="0">
              <a:latin typeface="Times New Roman"/>
              <a:cs typeface="Times New Roman"/>
            </a:endParaRPr>
          </a:p>
          <a:p>
            <a:pPr marL="469900" marR="13335" indent="-229235">
              <a:lnSpc>
                <a:spcPct val="103299"/>
              </a:lnSpc>
              <a:spcBef>
                <a:spcPts val="815"/>
              </a:spcBef>
              <a:buSzPct val="83333"/>
              <a:buFont typeface="Symbol"/>
              <a:buChar char=""/>
              <a:tabLst>
                <a:tab pos="469900" algn="l"/>
              </a:tabLst>
            </a:pPr>
            <a:r>
              <a:rPr sz="1200" b="1" dirty="0">
                <a:latin typeface="Times New Roman"/>
                <a:cs typeface="Times New Roman"/>
              </a:rPr>
              <a:t>Time</a:t>
            </a:r>
            <a:r>
              <a:rPr sz="1200" b="1" spc="280" dirty="0">
                <a:latin typeface="Times New Roman"/>
                <a:cs typeface="Times New Roman"/>
              </a:rPr>
              <a:t> </a:t>
            </a:r>
            <a:r>
              <a:rPr sz="1200" b="1" dirty="0">
                <a:latin typeface="Times New Roman"/>
                <a:cs typeface="Times New Roman"/>
              </a:rPr>
              <a:t>Management:</a:t>
            </a:r>
            <a:r>
              <a:rPr sz="1200" b="1" spc="305" dirty="0">
                <a:latin typeface="Times New Roman"/>
                <a:cs typeface="Times New Roman"/>
              </a:rPr>
              <a:t> </a:t>
            </a:r>
            <a:r>
              <a:rPr sz="1200" dirty="0">
                <a:latin typeface="Times New Roman"/>
                <a:cs typeface="Times New Roman"/>
              </a:rPr>
              <a:t>Prioritizing</a:t>
            </a:r>
            <a:r>
              <a:rPr sz="1200" spc="290" dirty="0">
                <a:latin typeface="Times New Roman"/>
                <a:cs typeface="Times New Roman"/>
              </a:rPr>
              <a:t> </a:t>
            </a:r>
            <a:r>
              <a:rPr sz="1200" dirty="0">
                <a:latin typeface="Times New Roman"/>
                <a:cs typeface="Times New Roman"/>
              </a:rPr>
              <a:t>development</a:t>
            </a:r>
            <a:r>
              <a:rPr sz="1200" spc="285" dirty="0">
                <a:latin typeface="Times New Roman"/>
                <a:cs typeface="Times New Roman"/>
              </a:rPr>
              <a:t> </a:t>
            </a:r>
            <a:r>
              <a:rPr sz="1200" dirty="0">
                <a:latin typeface="Times New Roman"/>
                <a:cs typeface="Times New Roman"/>
              </a:rPr>
              <a:t>tasks,</a:t>
            </a:r>
            <a:r>
              <a:rPr sz="1200" spc="320" dirty="0">
                <a:latin typeface="Times New Roman"/>
                <a:cs typeface="Times New Roman"/>
              </a:rPr>
              <a:t> </a:t>
            </a:r>
            <a:r>
              <a:rPr sz="1200" dirty="0">
                <a:latin typeface="Times New Roman"/>
                <a:cs typeface="Times New Roman"/>
              </a:rPr>
              <a:t>meeting</a:t>
            </a:r>
            <a:r>
              <a:rPr sz="1200" spc="290" dirty="0">
                <a:latin typeface="Times New Roman"/>
                <a:cs typeface="Times New Roman"/>
              </a:rPr>
              <a:t> </a:t>
            </a:r>
            <a:r>
              <a:rPr sz="1200" dirty="0">
                <a:latin typeface="Times New Roman"/>
                <a:cs typeface="Times New Roman"/>
              </a:rPr>
              <a:t>project</a:t>
            </a:r>
            <a:r>
              <a:rPr sz="1200" spc="310" dirty="0">
                <a:latin typeface="Times New Roman"/>
                <a:cs typeface="Times New Roman"/>
              </a:rPr>
              <a:t> </a:t>
            </a:r>
            <a:r>
              <a:rPr sz="1200" dirty="0">
                <a:latin typeface="Times New Roman"/>
                <a:cs typeface="Times New Roman"/>
              </a:rPr>
              <a:t>deadlines,</a:t>
            </a:r>
            <a:r>
              <a:rPr sz="1200" spc="300" dirty="0">
                <a:latin typeface="Times New Roman"/>
                <a:cs typeface="Times New Roman"/>
              </a:rPr>
              <a:t> </a:t>
            </a:r>
            <a:r>
              <a:rPr sz="1200" spc="-25" dirty="0">
                <a:latin typeface="Times New Roman"/>
                <a:cs typeface="Times New Roman"/>
              </a:rPr>
              <a:t>and </a:t>
            </a:r>
            <a:r>
              <a:rPr sz="1200" dirty="0">
                <a:latin typeface="Times New Roman"/>
                <a:cs typeface="Times New Roman"/>
              </a:rPr>
              <a:t>managing</a:t>
            </a:r>
            <a:r>
              <a:rPr sz="1200" spc="-30" dirty="0">
                <a:latin typeface="Times New Roman"/>
                <a:cs typeface="Times New Roman"/>
              </a:rPr>
              <a:t> </a:t>
            </a:r>
            <a:r>
              <a:rPr sz="1200" spc="-10" dirty="0">
                <a:latin typeface="Times New Roman"/>
                <a:cs typeface="Times New Roman"/>
              </a:rPr>
              <a:t>multiple</a:t>
            </a:r>
            <a:r>
              <a:rPr sz="1200" spc="-25" dirty="0">
                <a:latin typeface="Times New Roman"/>
                <a:cs typeface="Times New Roman"/>
              </a:rPr>
              <a:t> </a:t>
            </a:r>
            <a:r>
              <a:rPr sz="1200" dirty="0">
                <a:latin typeface="Times New Roman"/>
                <a:cs typeface="Times New Roman"/>
              </a:rPr>
              <a:t>modules</a:t>
            </a:r>
            <a:r>
              <a:rPr sz="1200" spc="-55" dirty="0">
                <a:latin typeface="Times New Roman"/>
                <a:cs typeface="Times New Roman"/>
              </a:rPr>
              <a:t> </a:t>
            </a:r>
            <a:r>
              <a:rPr sz="1200" spc="-10" dirty="0">
                <a:latin typeface="Times New Roman"/>
                <a:cs typeface="Times New Roman"/>
              </a:rPr>
              <a:t>simultaneously.</a:t>
            </a:r>
            <a:endParaRPr sz="1200" dirty="0">
              <a:latin typeface="Times New Roman"/>
              <a:cs typeface="Times New Roman"/>
            </a:endParaRPr>
          </a:p>
          <a:p>
            <a:pPr marL="469900" marR="7620" indent="-229235">
              <a:lnSpc>
                <a:spcPct val="103299"/>
              </a:lnSpc>
              <a:spcBef>
                <a:spcPts val="795"/>
              </a:spcBef>
              <a:buSzPct val="83333"/>
              <a:buFont typeface="Symbol"/>
              <a:buChar char=""/>
              <a:tabLst>
                <a:tab pos="469900" algn="l"/>
              </a:tabLst>
            </a:pPr>
            <a:r>
              <a:rPr sz="1200" b="1" dirty="0">
                <a:latin typeface="Times New Roman"/>
                <a:cs typeface="Times New Roman"/>
              </a:rPr>
              <a:t>Critical</a:t>
            </a:r>
            <a:r>
              <a:rPr sz="1200" b="1" spc="245" dirty="0">
                <a:latin typeface="Times New Roman"/>
                <a:cs typeface="Times New Roman"/>
              </a:rPr>
              <a:t> </a:t>
            </a:r>
            <a:r>
              <a:rPr sz="1200" b="1" dirty="0">
                <a:latin typeface="Times New Roman"/>
                <a:cs typeface="Times New Roman"/>
              </a:rPr>
              <a:t>Thinking:</a:t>
            </a:r>
            <a:r>
              <a:rPr sz="1200" b="1" spc="330" dirty="0">
                <a:latin typeface="Times New Roman"/>
                <a:cs typeface="Times New Roman"/>
              </a:rPr>
              <a:t> </a:t>
            </a:r>
            <a:r>
              <a:rPr sz="1200" dirty="0">
                <a:latin typeface="Times New Roman"/>
                <a:cs typeface="Times New Roman"/>
              </a:rPr>
              <a:t>Identifying</a:t>
            </a:r>
            <a:r>
              <a:rPr sz="1200" spc="310" dirty="0">
                <a:latin typeface="Times New Roman"/>
                <a:cs typeface="Times New Roman"/>
              </a:rPr>
              <a:t> </a:t>
            </a:r>
            <a:r>
              <a:rPr sz="1200" dirty="0">
                <a:latin typeface="Times New Roman"/>
                <a:cs typeface="Times New Roman"/>
              </a:rPr>
              <a:t>potential</a:t>
            </a:r>
            <a:r>
              <a:rPr sz="1200" spc="310" dirty="0">
                <a:latin typeface="Times New Roman"/>
                <a:cs typeface="Times New Roman"/>
              </a:rPr>
              <a:t> </a:t>
            </a:r>
            <a:r>
              <a:rPr sz="1200" dirty="0">
                <a:latin typeface="Times New Roman"/>
                <a:cs typeface="Times New Roman"/>
              </a:rPr>
              <a:t>issues,</a:t>
            </a:r>
            <a:r>
              <a:rPr sz="1200" spc="345" dirty="0">
                <a:latin typeface="Times New Roman"/>
                <a:cs typeface="Times New Roman"/>
              </a:rPr>
              <a:t> </a:t>
            </a:r>
            <a:r>
              <a:rPr sz="1200" dirty="0">
                <a:latin typeface="Times New Roman"/>
                <a:cs typeface="Times New Roman"/>
              </a:rPr>
              <a:t>analysing</a:t>
            </a:r>
            <a:r>
              <a:rPr sz="1200" spc="310" dirty="0">
                <a:latin typeface="Times New Roman"/>
                <a:cs typeface="Times New Roman"/>
              </a:rPr>
              <a:t> </a:t>
            </a:r>
            <a:r>
              <a:rPr sz="1200" dirty="0">
                <a:latin typeface="Times New Roman"/>
                <a:cs typeface="Times New Roman"/>
              </a:rPr>
              <a:t>system</a:t>
            </a:r>
            <a:r>
              <a:rPr sz="1200" spc="270" dirty="0">
                <a:latin typeface="Times New Roman"/>
                <a:cs typeface="Times New Roman"/>
              </a:rPr>
              <a:t> </a:t>
            </a:r>
            <a:r>
              <a:rPr sz="1200" dirty="0">
                <a:latin typeface="Times New Roman"/>
                <a:cs typeface="Times New Roman"/>
              </a:rPr>
              <a:t>requirements,</a:t>
            </a:r>
            <a:r>
              <a:rPr sz="1200" spc="320" dirty="0">
                <a:latin typeface="Times New Roman"/>
                <a:cs typeface="Times New Roman"/>
              </a:rPr>
              <a:t> </a:t>
            </a:r>
            <a:r>
              <a:rPr sz="1200" spc="-25" dirty="0">
                <a:latin typeface="Times New Roman"/>
                <a:cs typeface="Times New Roman"/>
              </a:rPr>
              <a:t>and </a:t>
            </a:r>
            <a:r>
              <a:rPr sz="1200" dirty="0">
                <a:latin typeface="Times New Roman"/>
                <a:cs typeface="Times New Roman"/>
              </a:rPr>
              <a:t>proposing</a:t>
            </a:r>
            <a:r>
              <a:rPr sz="1200" spc="-30" dirty="0">
                <a:latin typeface="Times New Roman"/>
                <a:cs typeface="Times New Roman"/>
              </a:rPr>
              <a:t> </a:t>
            </a:r>
            <a:r>
              <a:rPr sz="1200" spc="-10" dirty="0">
                <a:latin typeface="Times New Roman"/>
                <a:cs typeface="Times New Roman"/>
              </a:rPr>
              <a:t>effective</a:t>
            </a:r>
            <a:r>
              <a:rPr sz="1200" spc="-30" dirty="0">
                <a:latin typeface="Times New Roman"/>
                <a:cs typeface="Times New Roman"/>
              </a:rPr>
              <a:t> </a:t>
            </a:r>
            <a:r>
              <a:rPr sz="1200" spc="-10" dirty="0">
                <a:latin typeface="Times New Roman"/>
                <a:cs typeface="Times New Roman"/>
              </a:rPr>
              <a:t>solutions.</a:t>
            </a:r>
            <a:endParaRPr sz="1200" dirty="0">
              <a:latin typeface="Times New Roman"/>
              <a:cs typeface="Times New Roman"/>
            </a:endParaRPr>
          </a:p>
          <a:p>
            <a:pPr marL="12700" marR="12065">
              <a:lnSpc>
                <a:spcPct val="105000"/>
              </a:lnSpc>
              <a:spcBef>
                <a:spcPts val="765"/>
              </a:spcBef>
            </a:pPr>
            <a:r>
              <a:rPr sz="1200" dirty="0">
                <a:latin typeface="Times New Roman"/>
                <a:cs typeface="Times New Roman"/>
              </a:rPr>
              <a:t>Overall,</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spc="-10" dirty="0">
                <a:latin typeface="Times New Roman"/>
                <a:cs typeface="Times New Roman"/>
              </a:rPr>
              <a:t>offered</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b="1" dirty="0">
                <a:latin typeface="Times New Roman"/>
                <a:cs typeface="Times New Roman"/>
              </a:rPr>
              <a:t>holistic</a:t>
            </a:r>
            <a:r>
              <a:rPr sz="1200" b="1" spc="-35" dirty="0">
                <a:latin typeface="Times New Roman"/>
                <a:cs typeface="Times New Roman"/>
              </a:rPr>
              <a:t> </a:t>
            </a:r>
            <a:r>
              <a:rPr sz="1200" b="1" dirty="0">
                <a:latin typeface="Times New Roman"/>
                <a:cs typeface="Times New Roman"/>
              </a:rPr>
              <a:t>learning</a:t>
            </a:r>
            <a:r>
              <a:rPr sz="1200" b="1" spc="-30" dirty="0">
                <a:latin typeface="Times New Roman"/>
                <a:cs typeface="Times New Roman"/>
              </a:rPr>
              <a:t> </a:t>
            </a:r>
            <a:r>
              <a:rPr sz="1200" b="1" dirty="0">
                <a:latin typeface="Times New Roman"/>
                <a:cs typeface="Times New Roman"/>
              </a:rPr>
              <a:t>experience</a:t>
            </a:r>
            <a:r>
              <a:rPr sz="1200" dirty="0">
                <a:latin typeface="Times New Roman"/>
                <a:cs typeface="Times New Roman"/>
              </a:rPr>
              <a:t>,</a:t>
            </a:r>
            <a:r>
              <a:rPr sz="1200" spc="-20" dirty="0">
                <a:latin typeface="Times New Roman"/>
                <a:cs typeface="Times New Roman"/>
              </a:rPr>
              <a:t> </a:t>
            </a:r>
            <a:r>
              <a:rPr sz="1200" spc="-10" dirty="0">
                <a:latin typeface="Times New Roman"/>
                <a:cs typeface="Times New Roman"/>
              </a:rPr>
              <a:t>combining</a:t>
            </a:r>
            <a:r>
              <a:rPr sz="1200" spc="-30" dirty="0">
                <a:latin typeface="Times New Roman"/>
                <a:cs typeface="Times New Roman"/>
              </a:rPr>
              <a:t> </a:t>
            </a:r>
            <a:r>
              <a:rPr sz="1200" spc="-10" dirty="0">
                <a:latin typeface="Times New Roman"/>
                <a:cs typeface="Times New Roman"/>
              </a:rPr>
              <a:t>technical,</a:t>
            </a:r>
            <a:r>
              <a:rPr sz="1200" spc="-20" dirty="0">
                <a:latin typeface="Times New Roman"/>
                <a:cs typeface="Times New Roman"/>
              </a:rPr>
              <a:t> </a:t>
            </a:r>
            <a:r>
              <a:rPr sz="1200" spc="-10" dirty="0">
                <a:latin typeface="Times New Roman"/>
                <a:cs typeface="Times New Roman"/>
              </a:rPr>
              <a:t>communication,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professional</a:t>
            </a:r>
            <a:r>
              <a:rPr sz="1200" spc="-40" dirty="0">
                <a:latin typeface="Times New Roman"/>
                <a:cs typeface="Times New Roman"/>
              </a:rPr>
              <a:t> </a:t>
            </a:r>
            <a:r>
              <a:rPr sz="1200" dirty="0">
                <a:latin typeface="Times New Roman"/>
                <a:cs typeface="Times New Roman"/>
              </a:rPr>
              <a:t>skills</a:t>
            </a:r>
            <a:r>
              <a:rPr sz="1200" spc="-5" dirty="0">
                <a:latin typeface="Times New Roman"/>
                <a:cs typeface="Times New Roman"/>
              </a:rPr>
              <a:t> </a:t>
            </a:r>
            <a:r>
              <a:rPr sz="1200" dirty="0">
                <a:latin typeface="Times New Roman"/>
                <a:cs typeface="Times New Roman"/>
              </a:rPr>
              <a:t>necessary</a:t>
            </a:r>
            <a:r>
              <a:rPr sz="1200" spc="-40"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successful</a:t>
            </a:r>
            <a:r>
              <a:rPr sz="1200" spc="-35" dirty="0">
                <a:latin typeface="Times New Roman"/>
                <a:cs typeface="Times New Roman"/>
              </a:rPr>
              <a:t> </a:t>
            </a:r>
            <a:r>
              <a:rPr sz="1200" dirty="0">
                <a:latin typeface="Times New Roman"/>
                <a:cs typeface="Times New Roman"/>
              </a:rPr>
              <a:t>career</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software</a:t>
            </a:r>
            <a:r>
              <a:rPr sz="1200" spc="-20" dirty="0">
                <a:latin typeface="Times New Roman"/>
                <a:cs typeface="Times New Roman"/>
              </a:rPr>
              <a:t> </a:t>
            </a:r>
            <a:r>
              <a:rPr sz="1200" spc="-10" dirty="0">
                <a:latin typeface="Times New Roman"/>
                <a:cs typeface="Times New Roman"/>
              </a:rPr>
              <a:t>development.</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10"/>
              </a:spcBef>
            </a:pPr>
            <a:endParaRPr sz="1200" dirty="0">
              <a:latin typeface="Times New Roman"/>
              <a:cs typeface="Times New Roman"/>
            </a:endParaRPr>
          </a:p>
          <a:p>
            <a:pPr marL="12700">
              <a:lnSpc>
                <a:spcPct val="100000"/>
              </a:lnSpc>
            </a:pPr>
            <a:r>
              <a:rPr sz="1400" b="1" dirty="0">
                <a:latin typeface="Times New Roman"/>
                <a:cs typeface="Times New Roman"/>
              </a:rPr>
              <a:t>7.2</a:t>
            </a:r>
            <a:r>
              <a:rPr sz="1400" b="1" spc="-35" dirty="0">
                <a:latin typeface="Times New Roman"/>
                <a:cs typeface="Times New Roman"/>
              </a:rPr>
              <a:t> </a:t>
            </a:r>
            <a:r>
              <a:rPr sz="1400" b="1" dirty="0">
                <a:latin typeface="Times New Roman"/>
                <a:cs typeface="Times New Roman"/>
              </a:rPr>
              <a:t>Limitations</a:t>
            </a:r>
            <a:r>
              <a:rPr sz="1400" b="1" spc="-25"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spc="-10" dirty="0">
                <a:latin typeface="Times New Roman"/>
                <a:cs typeface="Times New Roman"/>
              </a:rPr>
              <a:t>Recommendations</a:t>
            </a:r>
            <a:endParaRPr sz="1400" dirty="0">
              <a:latin typeface="Times New Roman"/>
              <a:cs typeface="Times New Roman"/>
            </a:endParaRPr>
          </a:p>
          <a:p>
            <a:pPr marL="12700">
              <a:lnSpc>
                <a:spcPct val="100000"/>
              </a:lnSpc>
              <a:spcBef>
                <a:spcPts val="844"/>
              </a:spcBef>
            </a:pPr>
            <a:r>
              <a:rPr sz="1200" b="1" spc="-10" dirty="0">
                <a:latin typeface="Times New Roman"/>
                <a:cs typeface="Times New Roman"/>
              </a:rPr>
              <a:t>Limitations</a:t>
            </a:r>
            <a:endParaRPr sz="1200" dirty="0">
              <a:latin typeface="Times New Roman"/>
              <a:cs typeface="Times New Roman"/>
            </a:endParaRPr>
          </a:p>
          <a:p>
            <a:pPr marL="12700" marR="5080">
              <a:lnSpc>
                <a:spcPct val="103499"/>
              </a:lnSpc>
              <a:spcBef>
                <a:spcPts val="765"/>
              </a:spcBef>
            </a:pPr>
            <a:r>
              <a:rPr sz="1200" dirty="0">
                <a:latin typeface="Times New Roman"/>
                <a:cs typeface="Times New Roman"/>
              </a:rPr>
              <a:t>While</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Car</a:t>
            </a:r>
            <a:r>
              <a:rPr sz="1200" spc="-5" dirty="0">
                <a:latin typeface="Times New Roman"/>
                <a:cs typeface="Times New Roman"/>
              </a:rPr>
              <a:t> </a:t>
            </a:r>
            <a:r>
              <a:rPr sz="1200" dirty="0">
                <a:latin typeface="Times New Roman"/>
                <a:cs typeface="Times New Roman"/>
              </a:rPr>
              <a:t>Rental</a:t>
            </a:r>
            <a:r>
              <a:rPr sz="1200" spc="-50" dirty="0">
                <a:latin typeface="Times New Roman"/>
                <a:cs typeface="Times New Roman"/>
              </a:rPr>
              <a:t> </a:t>
            </a:r>
            <a:r>
              <a:rPr sz="1200" dirty="0">
                <a:latin typeface="Times New Roman"/>
                <a:cs typeface="Times New Roman"/>
              </a:rPr>
              <a:t>System</a:t>
            </a:r>
            <a:r>
              <a:rPr sz="1200" spc="-50" dirty="0">
                <a:latin typeface="Times New Roman"/>
                <a:cs typeface="Times New Roman"/>
              </a:rPr>
              <a:t> </a:t>
            </a:r>
            <a:r>
              <a:rPr sz="1200" dirty="0">
                <a:latin typeface="Times New Roman"/>
                <a:cs typeface="Times New Roman"/>
              </a:rPr>
              <a:t>successfully</a:t>
            </a:r>
            <a:r>
              <a:rPr sz="1200" spc="-50" dirty="0">
                <a:latin typeface="Times New Roman"/>
                <a:cs typeface="Times New Roman"/>
              </a:rPr>
              <a:t> </a:t>
            </a:r>
            <a:r>
              <a:rPr sz="1200" dirty="0">
                <a:latin typeface="Times New Roman"/>
                <a:cs typeface="Times New Roman"/>
              </a:rPr>
              <a:t>demonstrates</a:t>
            </a:r>
            <a:r>
              <a:rPr sz="1200" spc="-20" dirty="0">
                <a:latin typeface="Times New Roman"/>
                <a:cs typeface="Times New Roman"/>
              </a:rPr>
              <a:t> </a:t>
            </a:r>
            <a:r>
              <a:rPr sz="1200" spc="-10" dirty="0">
                <a:latin typeface="Times New Roman"/>
                <a:cs typeface="Times New Roman"/>
              </a:rPr>
              <a:t>full-</a:t>
            </a:r>
            <a:r>
              <a:rPr sz="1200" dirty="0">
                <a:latin typeface="Times New Roman"/>
                <a:cs typeface="Times New Roman"/>
              </a:rPr>
              <a:t>stack</a:t>
            </a:r>
            <a:r>
              <a:rPr sz="1200" spc="-15" dirty="0">
                <a:latin typeface="Times New Roman"/>
                <a:cs typeface="Times New Roman"/>
              </a:rPr>
              <a:t> </a:t>
            </a:r>
            <a:r>
              <a:rPr sz="1200" dirty="0">
                <a:latin typeface="Times New Roman"/>
                <a:cs typeface="Times New Roman"/>
              </a:rPr>
              <a:t>development</a:t>
            </a:r>
            <a:r>
              <a:rPr sz="1200" spc="15" dirty="0">
                <a:latin typeface="Times New Roman"/>
                <a:cs typeface="Times New Roman"/>
              </a:rPr>
              <a:t> </a:t>
            </a:r>
            <a:r>
              <a:rPr sz="1200" dirty="0">
                <a:latin typeface="Times New Roman"/>
                <a:cs typeface="Times New Roman"/>
              </a:rPr>
              <a:t>concepts,</a:t>
            </a:r>
            <a:r>
              <a:rPr sz="1200" spc="5" dirty="0">
                <a:latin typeface="Times New Roman"/>
                <a:cs typeface="Times New Roman"/>
              </a:rPr>
              <a:t> </a:t>
            </a:r>
            <a:r>
              <a:rPr sz="1200" spc="-10" dirty="0">
                <a:latin typeface="Times New Roman"/>
                <a:cs typeface="Times New Roman"/>
              </a:rPr>
              <a:t>several limitations</a:t>
            </a:r>
            <a:r>
              <a:rPr sz="1200" spc="-30" dirty="0">
                <a:latin typeface="Times New Roman"/>
                <a:cs typeface="Times New Roman"/>
              </a:rPr>
              <a:t> </a:t>
            </a:r>
            <a:r>
              <a:rPr sz="1200" dirty="0">
                <a:latin typeface="Times New Roman"/>
                <a:cs typeface="Times New Roman"/>
              </a:rPr>
              <a:t>exist</a:t>
            </a:r>
            <a:r>
              <a:rPr sz="1200" spc="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10" dirty="0">
                <a:latin typeface="Times New Roman"/>
                <a:cs typeface="Times New Roman"/>
              </a:rPr>
              <a:t> </a:t>
            </a:r>
            <a:r>
              <a:rPr sz="1200" spc="-10" dirty="0">
                <a:latin typeface="Times New Roman"/>
                <a:cs typeface="Times New Roman"/>
              </a:rPr>
              <a:t>implementation:</a:t>
            </a:r>
            <a:endParaRPr sz="1200" dirty="0">
              <a:latin typeface="Times New Roman"/>
              <a:cs typeface="Times New Roman"/>
            </a:endParaRPr>
          </a:p>
          <a:p>
            <a:pPr marL="469900" marR="7620" indent="-229235">
              <a:lnSpc>
                <a:spcPct val="103299"/>
              </a:lnSpc>
              <a:spcBef>
                <a:spcPts val="819"/>
              </a:spcBef>
              <a:buSzPct val="83333"/>
              <a:buFont typeface="Symbol"/>
              <a:buChar char=""/>
              <a:tabLst>
                <a:tab pos="469900" algn="l"/>
              </a:tabLst>
            </a:pP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currently</a:t>
            </a:r>
            <a:r>
              <a:rPr sz="1200" spc="-5" dirty="0">
                <a:latin typeface="Times New Roman"/>
                <a:cs typeface="Times New Roman"/>
              </a:rPr>
              <a:t> </a:t>
            </a:r>
            <a:r>
              <a:rPr sz="1200" dirty="0">
                <a:latin typeface="Times New Roman"/>
                <a:cs typeface="Times New Roman"/>
              </a:rPr>
              <a:t>lacks</a:t>
            </a:r>
            <a:r>
              <a:rPr sz="1200" spc="20" dirty="0">
                <a:latin typeface="Times New Roman"/>
                <a:cs typeface="Times New Roman"/>
              </a:rPr>
              <a:t> </a:t>
            </a:r>
            <a:r>
              <a:rPr sz="1200" b="1" dirty="0">
                <a:latin typeface="Times New Roman"/>
                <a:cs typeface="Times New Roman"/>
              </a:rPr>
              <a:t>online</a:t>
            </a:r>
            <a:r>
              <a:rPr sz="1200" b="1" spc="10" dirty="0">
                <a:latin typeface="Times New Roman"/>
                <a:cs typeface="Times New Roman"/>
              </a:rPr>
              <a:t> </a:t>
            </a:r>
            <a:r>
              <a:rPr sz="1200" b="1" dirty="0">
                <a:latin typeface="Times New Roman"/>
                <a:cs typeface="Times New Roman"/>
              </a:rPr>
              <a:t>payment</a:t>
            </a:r>
            <a:r>
              <a:rPr sz="1200" b="1" spc="25" dirty="0">
                <a:latin typeface="Times New Roman"/>
                <a:cs typeface="Times New Roman"/>
              </a:rPr>
              <a:t> </a:t>
            </a:r>
            <a:r>
              <a:rPr sz="1200" b="1" dirty="0">
                <a:latin typeface="Times New Roman"/>
                <a:cs typeface="Times New Roman"/>
              </a:rPr>
              <a:t>integration</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limiting</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booking</a:t>
            </a:r>
            <a:r>
              <a:rPr sz="1200" spc="20" dirty="0">
                <a:latin typeface="Times New Roman"/>
                <a:cs typeface="Times New Roman"/>
              </a:rPr>
              <a:t> </a:t>
            </a:r>
            <a:r>
              <a:rPr sz="1200" dirty="0">
                <a:latin typeface="Times New Roman"/>
                <a:cs typeface="Times New Roman"/>
              </a:rPr>
              <a:t>process</a:t>
            </a:r>
            <a:r>
              <a:rPr sz="1200" spc="5" dirty="0">
                <a:latin typeface="Times New Roman"/>
                <a:cs typeface="Times New Roman"/>
              </a:rPr>
              <a:t> </a:t>
            </a:r>
            <a:r>
              <a:rPr sz="1200" spc="-25" dirty="0">
                <a:latin typeface="Times New Roman"/>
                <a:cs typeface="Times New Roman"/>
              </a:rPr>
              <a:t>to </a:t>
            </a:r>
            <a:r>
              <a:rPr sz="1200" spc="-10" dirty="0">
                <a:latin typeface="Times New Roman"/>
                <a:cs typeface="Times New Roman"/>
              </a:rPr>
              <a:t>non-transactional</a:t>
            </a:r>
            <a:r>
              <a:rPr sz="1200" spc="50" dirty="0">
                <a:latin typeface="Times New Roman"/>
                <a:cs typeface="Times New Roman"/>
              </a:rPr>
              <a:t> </a:t>
            </a:r>
            <a:r>
              <a:rPr sz="1200" spc="-10" dirty="0">
                <a:latin typeface="Times New Roman"/>
                <a:cs typeface="Times New Roman"/>
              </a:rPr>
              <a:t>confirmations.</a:t>
            </a:r>
            <a:endParaRPr sz="1200" dirty="0">
              <a:latin typeface="Times New Roman"/>
              <a:cs typeface="Times New Roman"/>
            </a:endParaRPr>
          </a:p>
          <a:p>
            <a:pPr marL="469900" marR="11430" indent="-229235">
              <a:lnSpc>
                <a:spcPct val="103299"/>
              </a:lnSpc>
              <a:spcBef>
                <a:spcPts val="790"/>
              </a:spcBef>
              <a:buSzPct val="83333"/>
              <a:buFont typeface="Symbol"/>
              <a:buChar char=""/>
              <a:tabLst>
                <a:tab pos="469900" algn="l"/>
              </a:tabLst>
            </a:pPr>
            <a:r>
              <a:rPr sz="1200" b="1" spc="-10" dirty="0">
                <a:latin typeface="Times New Roman"/>
                <a:cs typeface="Times New Roman"/>
              </a:rPr>
              <a:t>GPS-</a:t>
            </a:r>
            <a:r>
              <a:rPr sz="1200" b="1" dirty="0">
                <a:latin typeface="Times New Roman"/>
                <a:cs typeface="Times New Roman"/>
              </a:rPr>
              <a:t>based</a:t>
            </a:r>
            <a:r>
              <a:rPr sz="1200" b="1" spc="90" dirty="0">
                <a:latin typeface="Times New Roman"/>
                <a:cs typeface="Times New Roman"/>
              </a:rPr>
              <a:t> </a:t>
            </a:r>
            <a:r>
              <a:rPr sz="1200" b="1" dirty="0">
                <a:latin typeface="Times New Roman"/>
                <a:cs typeface="Times New Roman"/>
              </a:rPr>
              <a:t>vehicle</a:t>
            </a:r>
            <a:r>
              <a:rPr sz="1200" b="1" spc="90" dirty="0">
                <a:latin typeface="Times New Roman"/>
                <a:cs typeface="Times New Roman"/>
              </a:rPr>
              <a:t> </a:t>
            </a:r>
            <a:r>
              <a:rPr sz="1200" b="1" dirty="0">
                <a:latin typeface="Times New Roman"/>
                <a:cs typeface="Times New Roman"/>
              </a:rPr>
              <a:t>tracking</a:t>
            </a:r>
            <a:r>
              <a:rPr sz="1200" b="1" spc="130" dirty="0">
                <a:latin typeface="Times New Roman"/>
                <a:cs typeface="Times New Roman"/>
              </a:rPr>
              <a:t> </a:t>
            </a:r>
            <a:r>
              <a:rPr sz="1200" dirty="0">
                <a:latin typeface="Times New Roman"/>
                <a:cs typeface="Times New Roman"/>
              </a:rPr>
              <a:t>is</a:t>
            </a:r>
            <a:r>
              <a:rPr sz="1200" spc="100" dirty="0">
                <a:latin typeface="Times New Roman"/>
                <a:cs typeface="Times New Roman"/>
              </a:rPr>
              <a:t> </a:t>
            </a:r>
            <a:r>
              <a:rPr sz="1200" dirty="0">
                <a:latin typeface="Times New Roman"/>
                <a:cs typeface="Times New Roman"/>
              </a:rPr>
              <a:t>not</a:t>
            </a:r>
            <a:r>
              <a:rPr sz="1200" spc="95" dirty="0">
                <a:latin typeface="Times New Roman"/>
                <a:cs typeface="Times New Roman"/>
              </a:rPr>
              <a:t> </a:t>
            </a:r>
            <a:r>
              <a:rPr sz="1200" dirty="0">
                <a:latin typeface="Times New Roman"/>
                <a:cs typeface="Times New Roman"/>
              </a:rPr>
              <a:t>incorporated,</a:t>
            </a:r>
            <a:r>
              <a:rPr sz="1200" spc="80" dirty="0">
                <a:latin typeface="Times New Roman"/>
                <a:cs typeface="Times New Roman"/>
              </a:rPr>
              <a:t> </a:t>
            </a:r>
            <a:r>
              <a:rPr sz="1200" dirty="0">
                <a:latin typeface="Times New Roman"/>
                <a:cs typeface="Times New Roman"/>
              </a:rPr>
              <a:t>which</a:t>
            </a:r>
            <a:r>
              <a:rPr sz="1200" spc="70" dirty="0">
                <a:latin typeface="Times New Roman"/>
                <a:cs typeface="Times New Roman"/>
              </a:rPr>
              <a:t> </a:t>
            </a:r>
            <a:r>
              <a:rPr sz="1200" dirty="0">
                <a:latin typeface="Times New Roman"/>
                <a:cs typeface="Times New Roman"/>
              </a:rPr>
              <a:t>could</a:t>
            </a:r>
            <a:r>
              <a:rPr sz="1200" spc="90" dirty="0">
                <a:latin typeface="Times New Roman"/>
                <a:cs typeface="Times New Roman"/>
              </a:rPr>
              <a:t> </a:t>
            </a:r>
            <a:r>
              <a:rPr sz="1200" dirty="0">
                <a:latin typeface="Times New Roman"/>
                <a:cs typeface="Times New Roman"/>
              </a:rPr>
              <a:t>enhance</a:t>
            </a:r>
            <a:r>
              <a:rPr sz="1200" spc="90" dirty="0">
                <a:latin typeface="Times New Roman"/>
                <a:cs typeface="Times New Roman"/>
              </a:rPr>
              <a:t> </a:t>
            </a:r>
            <a:r>
              <a:rPr sz="1200" dirty="0">
                <a:latin typeface="Times New Roman"/>
                <a:cs typeface="Times New Roman"/>
              </a:rPr>
              <a:t>user</a:t>
            </a:r>
            <a:r>
              <a:rPr sz="1200" spc="100" dirty="0">
                <a:latin typeface="Times New Roman"/>
                <a:cs typeface="Times New Roman"/>
              </a:rPr>
              <a:t> </a:t>
            </a:r>
            <a:r>
              <a:rPr sz="1200" spc="-10" dirty="0">
                <a:latin typeface="Times New Roman"/>
                <a:cs typeface="Times New Roman"/>
              </a:rPr>
              <a:t>experience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vehicle</a:t>
            </a:r>
            <a:r>
              <a:rPr sz="1200" spc="-25" dirty="0">
                <a:latin typeface="Times New Roman"/>
                <a:cs typeface="Times New Roman"/>
              </a:rPr>
              <a:t> </a:t>
            </a:r>
            <a:r>
              <a:rPr sz="1200" spc="-10" dirty="0">
                <a:latin typeface="Times New Roman"/>
                <a:cs typeface="Times New Roman"/>
              </a:rPr>
              <a:t>management.</a:t>
            </a:r>
            <a:endParaRPr sz="1200" dirty="0">
              <a:latin typeface="Times New Roman"/>
              <a:cs typeface="Times New Roman"/>
            </a:endParaRPr>
          </a:p>
          <a:p>
            <a:pPr marL="469900" marR="8890" indent="-229235">
              <a:lnSpc>
                <a:spcPct val="103299"/>
              </a:lnSpc>
              <a:spcBef>
                <a:spcPts val="819"/>
              </a:spcBef>
              <a:buSzPct val="83333"/>
              <a:buFont typeface="Symbol"/>
              <a:buChar char=""/>
              <a:tabLst>
                <a:tab pos="469900" algn="l"/>
              </a:tabLst>
            </a:pPr>
            <a:r>
              <a:rPr sz="1200" dirty="0">
                <a:latin typeface="Times New Roman"/>
                <a:cs typeface="Times New Roman"/>
              </a:rPr>
              <a:t>Limited</a:t>
            </a:r>
            <a:r>
              <a:rPr sz="1200" spc="135" dirty="0">
                <a:latin typeface="Times New Roman"/>
                <a:cs typeface="Times New Roman"/>
              </a:rPr>
              <a:t> </a:t>
            </a:r>
            <a:r>
              <a:rPr sz="1200" dirty="0">
                <a:latin typeface="Times New Roman"/>
                <a:cs typeface="Times New Roman"/>
              </a:rPr>
              <a:t>support</a:t>
            </a:r>
            <a:r>
              <a:rPr sz="1200" spc="145" dirty="0">
                <a:latin typeface="Times New Roman"/>
                <a:cs typeface="Times New Roman"/>
              </a:rPr>
              <a:t> </a:t>
            </a:r>
            <a:r>
              <a:rPr sz="1200" dirty="0">
                <a:latin typeface="Times New Roman"/>
                <a:cs typeface="Times New Roman"/>
              </a:rPr>
              <a:t>for</a:t>
            </a:r>
            <a:r>
              <a:rPr sz="1200" spc="130" dirty="0">
                <a:latin typeface="Times New Roman"/>
                <a:cs typeface="Times New Roman"/>
              </a:rPr>
              <a:t> </a:t>
            </a:r>
            <a:r>
              <a:rPr sz="1200" b="1" spc="-20" dirty="0">
                <a:latin typeface="Times New Roman"/>
                <a:cs typeface="Times New Roman"/>
              </a:rPr>
              <a:t>multi-</a:t>
            </a:r>
            <a:r>
              <a:rPr sz="1200" b="1" dirty="0">
                <a:latin typeface="Times New Roman"/>
                <a:cs typeface="Times New Roman"/>
              </a:rPr>
              <a:t>language</a:t>
            </a:r>
            <a:r>
              <a:rPr sz="1200" b="1" spc="114" dirty="0">
                <a:latin typeface="Times New Roman"/>
                <a:cs typeface="Times New Roman"/>
              </a:rPr>
              <a:t> </a:t>
            </a:r>
            <a:r>
              <a:rPr sz="1200" b="1" dirty="0">
                <a:latin typeface="Times New Roman"/>
                <a:cs typeface="Times New Roman"/>
              </a:rPr>
              <a:t>interfaces</a:t>
            </a:r>
            <a:r>
              <a:rPr sz="1200" b="1" spc="110" dirty="0">
                <a:latin typeface="Times New Roman"/>
                <a:cs typeface="Times New Roman"/>
              </a:rPr>
              <a:t> </a:t>
            </a:r>
            <a:r>
              <a:rPr sz="1200" dirty="0">
                <a:latin typeface="Times New Roman"/>
                <a:cs typeface="Times New Roman"/>
              </a:rPr>
              <a:t>or</a:t>
            </a:r>
            <a:r>
              <a:rPr sz="1200" spc="125" dirty="0">
                <a:latin typeface="Times New Roman"/>
                <a:cs typeface="Times New Roman"/>
              </a:rPr>
              <a:t> </a:t>
            </a:r>
            <a:r>
              <a:rPr sz="1200" dirty="0">
                <a:latin typeface="Times New Roman"/>
                <a:cs typeface="Times New Roman"/>
              </a:rPr>
              <a:t>accessibility</a:t>
            </a:r>
            <a:r>
              <a:rPr sz="1200" spc="114" dirty="0">
                <a:latin typeface="Times New Roman"/>
                <a:cs typeface="Times New Roman"/>
              </a:rPr>
              <a:t> </a:t>
            </a:r>
            <a:r>
              <a:rPr sz="1200" dirty="0">
                <a:latin typeface="Times New Roman"/>
                <a:cs typeface="Times New Roman"/>
              </a:rPr>
              <a:t>features</a:t>
            </a:r>
            <a:r>
              <a:rPr sz="1200" spc="130" dirty="0">
                <a:latin typeface="Times New Roman"/>
                <a:cs typeface="Times New Roman"/>
              </a:rPr>
              <a:t> </a:t>
            </a:r>
            <a:r>
              <a:rPr sz="1200" dirty="0">
                <a:latin typeface="Times New Roman"/>
                <a:cs typeface="Times New Roman"/>
              </a:rPr>
              <a:t>for</a:t>
            </a:r>
            <a:r>
              <a:rPr sz="1200" spc="125" dirty="0">
                <a:latin typeface="Times New Roman"/>
                <a:cs typeface="Times New Roman"/>
              </a:rPr>
              <a:t> </a:t>
            </a:r>
            <a:r>
              <a:rPr sz="1200" spc="-10" dirty="0">
                <a:latin typeface="Times New Roman"/>
                <a:cs typeface="Times New Roman"/>
              </a:rPr>
              <a:t>differently- </a:t>
            </a:r>
            <a:r>
              <a:rPr sz="1200" dirty="0">
                <a:latin typeface="Times New Roman"/>
                <a:cs typeface="Times New Roman"/>
              </a:rPr>
              <a:t>abled</a:t>
            </a:r>
            <a:r>
              <a:rPr sz="1200" spc="-50" dirty="0">
                <a:latin typeface="Times New Roman"/>
                <a:cs typeface="Times New Roman"/>
              </a:rPr>
              <a:t> </a:t>
            </a:r>
            <a:r>
              <a:rPr sz="1200" spc="-10" dirty="0">
                <a:latin typeface="Times New Roman"/>
                <a:cs typeface="Times New Roman"/>
              </a:rPr>
              <a:t>users.</a:t>
            </a:r>
            <a:endParaRPr sz="1200" dirty="0">
              <a:latin typeface="Times New Roman"/>
              <a:cs typeface="Times New Roman"/>
            </a:endParaRPr>
          </a:p>
          <a:p>
            <a:r>
              <a:rPr sz="1200" dirty="0">
                <a:latin typeface="Times New Roman"/>
                <a:cs typeface="Times New Roman"/>
              </a:rPr>
              <a:t>Heavy</a:t>
            </a:r>
            <a:r>
              <a:rPr sz="1200" spc="35" dirty="0">
                <a:latin typeface="Times New Roman"/>
                <a:cs typeface="Times New Roman"/>
              </a:rPr>
              <a:t> </a:t>
            </a:r>
            <a:r>
              <a:rPr sz="1200" dirty="0">
                <a:latin typeface="Times New Roman"/>
                <a:cs typeface="Times New Roman"/>
              </a:rPr>
              <a:t>reliance</a:t>
            </a:r>
            <a:r>
              <a:rPr sz="1200" spc="5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b="1" dirty="0">
                <a:latin typeface="Times New Roman"/>
                <a:cs typeface="Times New Roman"/>
              </a:rPr>
              <a:t>Firebase</a:t>
            </a:r>
            <a:r>
              <a:rPr sz="1200" b="1" spc="55" dirty="0">
                <a:latin typeface="Times New Roman"/>
                <a:cs typeface="Times New Roman"/>
              </a:rPr>
              <a:t> </a:t>
            </a:r>
            <a:r>
              <a:rPr sz="1200" b="1" dirty="0">
                <a:latin typeface="Times New Roman"/>
                <a:cs typeface="Times New Roman"/>
              </a:rPr>
              <a:t>services</a:t>
            </a:r>
            <a:r>
              <a:rPr sz="1200" dirty="0">
                <a:latin typeface="Times New Roman"/>
                <a:cs typeface="Times New Roman"/>
              </a:rPr>
              <a:t>,</a:t>
            </a:r>
            <a:r>
              <a:rPr sz="1200" spc="70" dirty="0">
                <a:latin typeface="Times New Roman"/>
                <a:cs typeface="Times New Roman"/>
              </a:rPr>
              <a:t> </a:t>
            </a:r>
            <a:r>
              <a:rPr sz="1200" dirty="0">
                <a:latin typeface="Times New Roman"/>
                <a:cs typeface="Times New Roman"/>
              </a:rPr>
              <a:t>which</a:t>
            </a:r>
            <a:r>
              <a:rPr sz="1200" spc="60" dirty="0">
                <a:latin typeface="Times New Roman"/>
                <a:cs typeface="Times New Roman"/>
              </a:rPr>
              <a:t> </a:t>
            </a:r>
            <a:r>
              <a:rPr sz="1200" dirty="0">
                <a:latin typeface="Times New Roman"/>
                <a:cs typeface="Times New Roman"/>
              </a:rPr>
              <a:t>may</a:t>
            </a:r>
            <a:r>
              <a:rPr sz="1200" spc="40" dirty="0">
                <a:latin typeface="Times New Roman"/>
                <a:cs typeface="Times New Roman"/>
              </a:rPr>
              <a:t> </a:t>
            </a:r>
            <a:r>
              <a:rPr sz="1200" dirty="0">
                <a:latin typeface="Times New Roman"/>
                <a:cs typeface="Times New Roman"/>
              </a:rPr>
              <a:t>have</a:t>
            </a:r>
            <a:r>
              <a:rPr sz="1200" spc="55" dirty="0">
                <a:latin typeface="Times New Roman"/>
                <a:cs typeface="Times New Roman"/>
              </a:rPr>
              <a:t> </a:t>
            </a:r>
            <a:r>
              <a:rPr lang="en-US" sz="1200" dirty="0"/>
              <a:t>While the </a:t>
            </a:r>
            <a:r>
              <a:rPr lang="en-US" sz="1200" b="1" dirty="0"/>
              <a:t>NIDHI-SETU System</a:t>
            </a:r>
            <a:r>
              <a:rPr lang="en-US" sz="1200" dirty="0"/>
              <a:t> effectively showcases full-stack web development and AI integration, certain limitations exist in its current implementation:</a:t>
            </a:r>
          </a:p>
          <a:p>
            <a:r>
              <a:rPr lang="en-US" sz="1200" dirty="0"/>
              <a:t>The system currently lacks </a:t>
            </a:r>
            <a:r>
              <a:rPr lang="en-US" sz="1200" b="1" dirty="0"/>
              <a:t>blockchain-based transaction recording</a:t>
            </a:r>
            <a:r>
              <a:rPr lang="en-US" sz="1200" dirty="0"/>
              <a:t>, which could further enhance transparency and traceability.</a:t>
            </a:r>
          </a:p>
          <a:p>
            <a:r>
              <a:rPr lang="en-US" sz="1200" b="1" dirty="0"/>
              <a:t>Offline verification or low-connectivity support</a:t>
            </a:r>
            <a:r>
              <a:rPr lang="en-US" sz="1200" dirty="0"/>
              <a:t> is limited, affecting accessibility in rural or remote areas.</a:t>
            </a:r>
          </a:p>
          <a:p>
            <a:r>
              <a:rPr lang="en-US" sz="1200" dirty="0"/>
              <a:t>The platform does not yet support </a:t>
            </a:r>
            <a:r>
              <a:rPr lang="en-US" sz="1200" b="1" dirty="0"/>
              <a:t>multi-language interfaces</a:t>
            </a:r>
            <a:r>
              <a:rPr lang="en-US" sz="1200" dirty="0"/>
              <a:t> or accessibility features for differently-abled users.</a:t>
            </a:r>
            <a:endParaRPr sz="120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23</a:t>
            </a:r>
          </a:p>
        </p:txBody>
      </p:sp>
      <p:sp>
        <p:nvSpPr>
          <p:cNvPr id="2" name="object 2"/>
          <p:cNvSpPr txBox="1"/>
          <p:nvPr/>
        </p:nvSpPr>
        <p:spPr>
          <a:xfrm>
            <a:off x="902004" y="886714"/>
            <a:ext cx="5972175" cy="2961067"/>
          </a:xfrm>
          <a:prstGeom prst="rect">
            <a:avLst/>
          </a:prstGeom>
        </p:spPr>
        <p:txBody>
          <a:bodyPr vert="horz" wrap="square" lIns="0" tIns="6350" rIns="0" bIns="0" rtlCol="0">
            <a:spAutoFit/>
          </a:bodyPr>
          <a:lstStyle/>
          <a:p>
            <a:r>
              <a:rPr lang="en-US" sz="1200" dirty="0"/>
              <a:t>Although the current version of </a:t>
            </a:r>
            <a:r>
              <a:rPr lang="en-US" sz="1200" b="1" dirty="0"/>
              <a:t>NIDHI-SETU</a:t>
            </a:r>
            <a:r>
              <a:rPr lang="en-US" sz="1200" dirty="0"/>
              <a:t> effectively ensures secure and transparent fund disbursement, several enhancements can further improve its functionality and scalability:</a:t>
            </a:r>
          </a:p>
          <a:p>
            <a:r>
              <a:rPr lang="en-US" sz="1200" b="1" dirty="0"/>
              <a:t>Blockchain Integration:</a:t>
            </a:r>
            <a:r>
              <a:rPr lang="en-US" sz="1200" dirty="0"/>
              <a:t> To enhance transparency and ensure immutable transaction records for all fund disbursements.</a:t>
            </a:r>
          </a:p>
          <a:p>
            <a:r>
              <a:rPr lang="en-US" sz="1200" b="1" dirty="0"/>
              <a:t>Multilingual Support:</a:t>
            </a:r>
            <a:r>
              <a:rPr lang="en-US" sz="1200" dirty="0"/>
              <a:t> To make the platform accessible to users from diverse linguistic backgrounds across India.</a:t>
            </a:r>
          </a:p>
          <a:p>
            <a:r>
              <a:rPr lang="en-US" sz="1200" b="1" dirty="0"/>
              <a:t>AI Chatbot Assistance:</a:t>
            </a:r>
            <a:r>
              <a:rPr lang="en-US" sz="1200" dirty="0"/>
              <a:t> To help beneficiaries with queries, verification guidance, and application status updates.</a:t>
            </a:r>
          </a:p>
          <a:p>
            <a:r>
              <a:rPr lang="en-US" sz="1200" b="1" dirty="0"/>
              <a:t>Advanced Analytics Dashboard:</a:t>
            </a:r>
            <a:r>
              <a:rPr lang="en-US" sz="1200" dirty="0"/>
              <a:t> To provide administrators with visual insights, fraud detection metrics, and verification trends.</a:t>
            </a:r>
          </a:p>
          <a:p>
            <a:r>
              <a:rPr lang="en-US" sz="1200" b="1" dirty="0"/>
              <a:t>Scalability Optimization:</a:t>
            </a:r>
            <a:r>
              <a:rPr lang="en-US" sz="1200" dirty="0"/>
              <a:t> To strengthen backend performance and database management for large-scale deployment.</a:t>
            </a:r>
          </a:p>
          <a:p>
            <a:r>
              <a:rPr lang="en-US" sz="1200" dirty="0"/>
              <a:t>By implementing these upgrades, </a:t>
            </a:r>
            <a:r>
              <a:rPr lang="en-US" sz="1200" b="1" dirty="0"/>
              <a:t>NIDHI-SETU</a:t>
            </a:r>
            <a:r>
              <a:rPr lang="en-US" sz="1200" dirty="0"/>
              <a:t> can evolve into a comprehensive, enterprise-level </a:t>
            </a:r>
            <a:r>
              <a:rPr lang="en-US" sz="1200" b="1" dirty="0"/>
              <a:t>e-Governance platform</a:t>
            </a:r>
            <a:r>
              <a:rPr lang="en-US" sz="1200" dirty="0"/>
              <a:t>, supporting large-scale government schemes and enhancing citizen trust through advanced digital innovation.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24</a:t>
            </a:r>
          </a:p>
        </p:txBody>
      </p:sp>
      <p:sp>
        <p:nvSpPr>
          <p:cNvPr id="2" name="object 2"/>
          <p:cNvSpPr txBox="1"/>
          <p:nvPr/>
        </p:nvSpPr>
        <p:spPr>
          <a:xfrm>
            <a:off x="902004" y="889761"/>
            <a:ext cx="3407410" cy="1131570"/>
          </a:xfrm>
          <a:prstGeom prst="rect">
            <a:avLst/>
          </a:prstGeom>
        </p:spPr>
        <p:txBody>
          <a:bodyPr vert="horz" wrap="square" lIns="0" tIns="11430" rIns="0" bIns="0" rtlCol="0">
            <a:spAutoFit/>
          </a:bodyPr>
          <a:lstStyle/>
          <a:p>
            <a:pPr marL="2604135">
              <a:lnSpc>
                <a:spcPct val="100000"/>
              </a:lnSpc>
              <a:spcBef>
                <a:spcPts val="90"/>
              </a:spcBef>
            </a:pPr>
            <a:r>
              <a:rPr sz="1400" b="1" dirty="0">
                <a:latin typeface="Times New Roman"/>
                <a:cs typeface="Times New Roman"/>
              </a:rPr>
              <a:t>Chapter</a:t>
            </a:r>
            <a:r>
              <a:rPr sz="1400" b="1" spc="-80" dirty="0">
                <a:latin typeface="Times New Roman"/>
                <a:cs typeface="Times New Roman"/>
              </a:rPr>
              <a:t> </a:t>
            </a:r>
            <a:r>
              <a:rPr sz="1400" b="1" spc="-50" dirty="0">
                <a:latin typeface="Times New Roman"/>
                <a:cs typeface="Times New Roman"/>
              </a:rPr>
              <a:t>8</a:t>
            </a:r>
            <a:endParaRPr sz="1400">
              <a:latin typeface="Times New Roman"/>
              <a:cs typeface="Times New Roman"/>
            </a:endParaRPr>
          </a:p>
          <a:p>
            <a:pPr marL="2570480">
              <a:lnSpc>
                <a:spcPct val="100000"/>
              </a:lnSpc>
              <a:spcBef>
                <a:spcPts val="1105"/>
              </a:spcBef>
            </a:pPr>
            <a:r>
              <a:rPr sz="1400" b="1" spc="-10" dirty="0">
                <a:latin typeface="Times New Roman"/>
                <a:cs typeface="Times New Roman"/>
              </a:rPr>
              <a:t>References</a:t>
            </a:r>
            <a:endParaRPr sz="1400">
              <a:latin typeface="Times New Roman"/>
              <a:cs typeface="Times New Roman"/>
            </a:endParaRPr>
          </a:p>
          <a:p>
            <a:pPr>
              <a:lnSpc>
                <a:spcPct val="100000"/>
              </a:lnSpc>
              <a:spcBef>
                <a:spcPts val="960"/>
              </a:spcBef>
            </a:pPr>
            <a:endParaRPr sz="1400">
              <a:latin typeface="Times New Roman"/>
              <a:cs typeface="Times New Roman"/>
            </a:endParaRPr>
          </a:p>
          <a:p>
            <a:pPr marL="12700">
              <a:lnSpc>
                <a:spcPct val="100000"/>
              </a:lnSpc>
            </a:pPr>
            <a:r>
              <a:rPr sz="1400" b="1" dirty="0">
                <a:latin typeface="Times New Roman"/>
                <a:cs typeface="Times New Roman"/>
              </a:rPr>
              <a:t>8.1</a:t>
            </a:r>
            <a:r>
              <a:rPr sz="1400" b="1" spc="-30" dirty="0">
                <a:latin typeface="Times New Roman"/>
                <a:cs typeface="Times New Roman"/>
              </a:rPr>
              <a:t> </a:t>
            </a:r>
            <a:r>
              <a:rPr sz="1400" b="1" dirty="0">
                <a:latin typeface="Times New Roman"/>
                <a:cs typeface="Times New Roman"/>
              </a:rPr>
              <a:t>Sample</a:t>
            </a:r>
            <a:r>
              <a:rPr sz="1400" b="1" spc="-30" dirty="0">
                <a:latin typeface="Times New Roman"/>
                <a:cs typeface="Times New Roman"/>
              </a:rPr>
              <a:t> </a:t>
            </a:r>
            <a:r>
              <a:rPr sz="1400" b="1" spc="-10" dirty="0">
                <a:latin typeface="Times New Roman"/>
                <a:cs typeface="Times New Roman"/>
              </a:rPr>
              <a:t>Reference</a:t>
            </a:r>
            <a:r>
              <a:rPr sz="1400" b="1" spc="-25" dirty="0">
                <a:latin typeface="Times New Roman"/>
                <a:cs typeface="Times New Roman"/>
              </a:rPr>
              <a:t> </a:t>
            </a:r>
            <a:r>
              <a:rPr sz="1400" b="1" spc="-10" dirty="0">
                <a:latin typeface="Times New Roman"/>
                <a:cs typeface="Times New Roman"/>
              </a:rPr>
              <a:t>Entries</a:t>
            </a:r>
            <a:endParaRPr sz="1400">
              <a:latin typeface="Times New Roman"/>
              <a:cs typeface="Times New Roman"/>
            </a:endParaRPr>
          </a:p>
        </p:txBody>
      </p:sp>
      <p:sp>
        <p:nvSpPr>
          <p:cNvPr id="3" name="object 3"/>
          <p:cNvSpPr txBox="1"/>
          <p:nvPr/>
        </p:nvSpPr>
        <p:spPr>
          <a:xfrm>
            <a:off x="1130604" y="2426335"/>
            <a:ext cx="5716270" cy="3373754"/>
          </a:xfrm>
          <a:prstGeom prst="rect">
            <a:avLst/>
          </a:prstGeom>
        </p:spPr>
        <p:txBody>
          <a:bodyPr vert="horz" wrap="square" lIns="0" tIns="6350" rIns="0" bIns="0" rtlCol="0">
            <a:spAutoFit/>
          </a:bodyPr>
          <a:lstStyle/>
          <a:p>
            <a:pPr marL="241300" marR="226060" indent="-229235">
              <a:lnSpc>
                <a:spcPct val="103800"/>
              </a:lnSpc>
              <a:spcBef>
                <a:spcPts val="50"/>
              </a:spcBef>
              <a:buAutoNum type="arabicPeriod"/>
              <a:tabLst>
                <a:tab pos="241300" algn="l"/>
                <a:tab pos="271780" algn="l"/>
              </a:tabLst>
            </a:pPr>
            <a:r>
              <a:rPr sz="1100" dirty="0">
                <a:latin typeface="Cambria"/>
                <a:cs typeface="Cambria"/>
              </a:rPr>
              <a:t>	</a:t>
            </a:r>
            <a:r>
              <a:rPr sz="1100" b="1" dirty="0">
                <a:latin typeface="Cambria"/>
                <a:cs typeface="Cambria"/>
              </a:rPr>
              <a:t>Ogbiti,</a:t>
            </a:r>
            <a:r>
              <a:rPr sz="1100" b="1" spc="-15" dirty="0">
                <a:latin typeface="Cambria"/>
                <a:cs typeface="Cambria"/>
              </a:rPr>
              <a:t> </a:t>
            </a:r>
            <a:r>
              <a:rPr sz="1100" b="1" dirty="0">
                <a:latin typeface="Cambria"/>
                <a:cs typeface="Cambria"/>
              </a:rPr>
              <a:t>J.</a:t>
            </a:r>
            <a:r>
              <a:rPr sz="1100" b="1" spc="-10" dirty="0">
                <a:latin typeface="Cambria"/>
                <a:cs typeface="Cambria"/>
              </a:rPr>
              <a:t> </a:t>
            </a:r>
            <a:r>
              <a:rPr sz="1100" b="1" spc="-45" dirty="0">
                <a:latin typeface="Cambria"/>
                <a:cs typeface="Cambria"/>
              </a:rPr>
              <a:t>T.,</a:t>
            </a:r>
            <a:r>
              <a:rPr sz="1100" b="1" spc="-10" dirty="0">
                <a:latin typeface="Cambria"/>
                <a:cs typeface="Cambria"/>
              </a:rPr>
              <a:t> </a:t>
            </a:r>
            <a:r>
              <a:rPr sz="1100" b="1" dirty="0">
                <a:latin typeface="Cambria"/>
                <a:cs typeface="Cambria"/>
              </a:rPr>
              <a:t>&amp;</a:t>
            </a:r>
            <a:r>
              <a:rPr sz="1100" b="1" spc="-15" dirty="0">
                <a:latin typeface="Cambria"/>
                <a:cs typeface="Cambria"/>
              </a:rPr>
              <a:t> </a:t>
            </a:r>
            <a:r>
              <a:rPr sz="1100" b="1" dirty="0">
                <a:latin typeface="Cambria"/>
                <a:cs typeface="Cambria"/>
              </a:rPr>
              <a:t>Aaron,</a:t>
            </a:r>
            <a:r>
              <a:rPr sz="1100" b="1" spc="-10" dirty="0">
                <a:latin typeface="Cambria"/>
                <a:cs typeface="Cambria"/>
              </a:rPr>
              <a:t> </a:t>
            </a:r>
            <a:r>
              <a:rPr sz="1100" b="1" spc="-60" dirty="0">
                <a:latin typeface="Cambria"/>
                <a:cs typeface="Cambria"/>
              </a:rPr>
              <a:t>W.</a:t>
            </a:r>
            <a:r>
              <a:rPr sz="1100" b="1" dirty="0">
                <a:latin typeface="Cambria"/>
                <a:cs typeface="Cambria"/>
              </a:rPr>
              <a:t> (2024).</a:t>
            </a:r>
            <a:r>
              <a:rPr sz="1100" b="1" spc="-10" dirty="0">
                <a:latin typeface="Cambria"/>
                <a:cs typeface="Cambria"/>
              </a:rPr>
              <a:t> </a:t>
            </a:r>
            <a:r>
              <a:rPr sz="1100" spc="-10" dirty="0">
                <a:latin typeface="Cambria"/>
                <a:cs typeface="Cambria"/>
              </a:rPr>
              <a:t>Development</a:t>
            </a:r>
            <a:r>
              <a:rPr sz="1100" spc="-5" dirty="0">
                <a:latin typeface="Cambria"/>
                <a:cs typeface="Cambria"/>
              </a:rPr>
              <a:t> </a:t>
            </a:r>
            <a:r>
              <a:rPr sz="1100" dirty="0">
                <a:latin typeface="Cambria"/>
                <a:cs typeface="Cambria"/>
              </a:rPr>
              <a:t>of</a:t>
            </a:r>
            <a:r>
              <a:rPr sz="1100" spc="-15" dirty="0">
                <a:latin typeface="Cambria"/>
                <a:cs typeface="Cambria"/>
              </a:rPr>
              <a:t> </a:t>
            </a:r>
            <a:r>
              <a:rPr sz="1100" dirty="0">
                <a:latin typeface="Cambria"/>
                <a:cs typeface="Cambria"/>
              </a:rPr>
              <a:t>a</a:t>
            </a:r>
            <a:r>
              <a:rPr sz="1100" spc="-10" dirty="0">
                <a:latin typeface="Cambria"/>
                <a:cs typeface="Cambria"/>
              </a:rPr>
              <a:t> </a:t>
            </a:r>
            <a:r>
              <a:rPr sz="1100" spc="-35" dirty="0">
                <a:latin typeface="Cambria"/>
                <a:cs typeface="Cambria"/>
              </a:rPr>
              <a:t>Web-</a:t>
            </a:r>
            <a:r>
              <a:rPr sz="1100" dirty="0">
                <a:latin typeface="Cambria"/>
                <a:cs typeface="Cambria"/>
              </a:rPr>
              <a:t>Based</a:t>
            </a:r>
            <a:r>
              <a:rPr sz="1100" spc="-5" dirty="0">
                <a:latin typeface="Cambria"/>
                <a:cs typeface="Cambria"/>
              </a:rPr>
              <a:t> </a:t>
            </a:r>
            <a:r>
              <a:rPr sz="1100" dirty="0">
                <a:latin typeface="Cambria"/>
                <a:cs typeface="Cambria"/>
              </a:rPr>
              <a:t>Car</a:t>
            </a:r>
            <a:r>
              <a:rPr sz="1100" spc="-20" dirty="0">
                <a:latin typeface="Cambria"/>
                <a:cs typeface="Cambria"/>
              </a:rPr>
              <a:t> </a:t>
            </a:r>
            <a:r>
              <a:rPr sz="1100" spc="-10" dirty="0">
                <a:latin typeface="Cambria"/>
                <a:cs typeface="Cambria"/>
              </a:rPr>
              <a:t>Rental</a:t>
            </a:r>
            <a:r>
              <a:rPr sz="1100" spc="-30" dirty="0">
                <a:latin typeface="Cambria"/>
                <a:cs typeface="Cambria"/>
              </a:rPr>
              <a:t> </a:t>
            </a:r>
            <a:r>
              <a:rPr sz="1100" spc="-10" dirty="0">
                <a:latin typeface="Cambria"/>
                <a:cs typeface="Cambria"/>
              </a:rPr>
              <a:t>Management System.</a:t>
            </a:r>
            <a:r>
              <a:rPr sz="1100" spc="-30" dirty="0">
                <a:latin typeface="Cambria"/>
                <a:cs typeface="Cambria"/>
              </a:rPr>
              <a:t> </a:t>
            </a:r>
            <a:r>
              <a:rPr sz="1100" i="1" dirty="0">
                <a:latin typeface="Cambria"/>
                <a:cs typeface="Cambria"/>
              </a:rPr>
              <a:t>Science</a:t>
            </a:r>
            <a:r>
              <a:rPr sz="1100" i="1" spc="-15" dirty="0">
                <a:latin typeface="Cambria"/>
                <a:cs typeface="Cambria"/>
              </a:rPr>
              <a:t> </a:t>
            </a:r>
            <a:r>
              <a:rPr sz="1100" i="1" spc="-10" dirty="0">
                <a:latin typeface="Cambria"/>
                <a:cs typeface="Cambria"/>
              </a:rPr>
              <a:t>World</a:t>
            </a:r>
            <a:r>
              <a:rPr sz="1100" i="1" spc="-20" dirty="0">
                <a:latin typeface="Cambria"/>
                <a:cs typeface="Cambria"/>
              </a:rPr>
              <a:t> </a:t>
            </a:r>
            <a:r>
              <a:rPr sz="1100" i="1" dirty="0">
                <a:latin typeface="Cambria"/>
                <a:cs typeface="Cambria"/>
              </a:rPr>
              <a:t>Journal,</a:t>
            </a:r>
            <a:r>
              <a:rPr sz="1100" i="1" spc="-20" dirty="0">
                <a:latin typeface="Cambria"/>
                <a:cs typeface="Cambria"/>
              </a:rPr>
              <a:t> </a:t>
            </a:r>
            <a:r>
              <a:rPr sz="1100" i="1" dirty="0">
                <a:latin typeface="Cambria"/>
                <a:cs typeface="Cambria"/>
              </a:rPr>
              <a:t>19</a:t>
            </a:r>
            <a:r>
              <a:rPr sz="1100" dirty="0">
                <a:latin typeface="Cambria"/>
                <a:cs typeface="Cambria"/>
              </a:rPr>
              <a:t>(3),</a:t>
            </a:r>
            <a:r>
              <a:rPr sz="1100" spc="-20" dirty="0">
                <a:latin typeface="Cambria"/>
                <a:cs typeface="Cambria"/>
              </a:rPr>
              <a:t> </a:t>
            </a:r>
            <a:r>
              <a:rPr sz="1100" spc="-25" dirty="0">
                <a:latin typeface="Cambria"/>
                <a:cs typeface="Cambria"/>
              </a:rPr>
              <a:t>797-</a:t>
            </a:r>
            <a:r>
              <a:rPr sz="1100" spc="-20" dirty="0">
                <a:latin typeface="Cambria"/>
                <a:cs typeface="Cambria"/>
              </a:rPr>
              <a:t>807.</a:t>
            </a:r>
            <a:endParaRPr sz="1100">
              <a:latin typeface="Cambria"/>
              <a:cs typeface="Cambria"/>
            </a:endParaRPr>
          </a:p>
          <a:p>
            <a:pPr>
              <a:lnSpc>
                <a:spcPct val="100000"/>
              </a:lnSpc>
              <a:spcBef>
                <a:spcPts val="105"/>
              </a:spcBef>
              <a:buFont typeface="Cambria"/>
              <a:buAutoNum type="arabicPeriod"/>
            </a:pPr>
            <a:endParaRPr sz="1100">
              <a:latin typeface="Cambria"/>
              <a:cs typeface="Cambria"/>
            </a:endParaRPr>
          </a:p>
          <a:p>
            <a:pPr marL="241300" marR="134620" indent="-229235">
              <a:lnSpc>
                <a:spcPct val="105500"/>
              </a:lnSpc>
              <a:buAutoNum type="arabicPeriod"/>
              <a:tabLst>
                <a:tab pos="241300" algn="l"/>
                <a:tab pos="271780" algn="l"/>
              </a:tabLst>
            </a:pPr>
            <a:r>
              <a:rPr sz="1100" dirty="0">
                <a:latin typeface="Cambria"/>
                <a:cs typeface="Cambria"/>
              </a:rPr>
              <a:t>	</a:t>
            </a:r>
            <a:r>
              <a:rPr sz="1100" b="1" dirty="0">
                <a:latin typeface="Cambria"/>
                <a:cs typeface="Cambria"/>
              </a:rPr>
              <a:t>Bakale,</a:t>
            </a:r>
            <a:r>
              <a:rPr sz="1100" b="1" spc="-25" dirty="0">
                <a:latin typeface="Cambria"/>
                <a:cs typeface="Cambria"/>
              </a:rPr>
              <a:t> </a:t>
            </a:r>
            <a:r>
              <a:rPr sz="1100" b="1" dirty="0">
                <a:latin typeface="Cambria"/>
                <a:cs typeface="Cambria"/>
              </a:rPr>
              <a:t>S.</a:t>
            </a:r>
            <a:r>
              <a:rPr sz="1100" b="1" spc="-5" dirty="0">
                <a:latin typeface="Cambria"/>
                <a:cs typeface="Cambria"/>
              </a:rPr>
              <a:t> </a:t>
            </a:r>
            <a:r>
              <a:rPr sz="1100" b="1" dirty="0">
                <a:latin typeface="Cambria"/>
                <a:cs typeface="Cambria"/>
              </a:rPr>
              <a:t>C., </a:t>
            </a:r>
            <a:r>
              <a:rPr sz="1100" b="1" spc="-20" dirty="0">
                <a:latin typeface="Cambria"/>
                <a:cs typeface="Cambria"/>
              </a:rPr>
              <a:t>Naware,</a:t>
            </a:r>
            <a:r>
              <a:rPr sz="1100" b="1" dirty="0">
                <a:latin typeface="Cambria"/>
                <a:cs typeface="Cambria"/>
              </a:rPr>
              <a:t> A. M., </a:t>
            </a:r>
            <a:r>
              <a:rPr sz="1100" b="1" spc="-10" dirty="0">
                <a:latin typeface="Cambria"/>
                <a:cs typeface="Cambria"/>
              </a:rPr>
              <a:t>Parab,</a:t>
            </a:r>
            <a:r>
              <a:rPr sz="1100" b="1" spc="-25" dirty="0">
                <a:latin typeface="Cambria"/>
                <a:cs typeface="Cambria"/>
              </a:rPr>
              <a:t> </a:t>
            </a:r>
            <a:r>
              <a:rPr sz="1100" b="1" dirty="0">
                <a:latin typeface="Cambria"/>
                <a:cs typeface="Cambria"/>
              </a:rPr>
              <a:t>S. </a:t>
            </a:r>
            <a:r>
              <a:rPr sz="1100" b="1" spc="-45" dirty="0">
                <a:latin typeface="Cambria"/>
                <a:cs typeface="Cambria"/>
              </a:rPr>
              <a:t>V.,</a:t>
            </a:r>
            <a:r>
              <a:rPr sz="1100" b="1" dirty="0">
                <a:latin typeface="Cambria"/>
                <a:cs typeface="Cambria"/>
              </a:rPr>
              <a:t> &amp;</a:t>
            </a:r>
            <a:r>
              <a:rPr sz="1100" b="1" spc="-10" dirty="0">
                <a:latin typeface="Cambria"/>
                <a:cs typeface="Cambria"/>
              </a:rPr>
              <a:t> Anjaria,</a:t>
            </a:r>
            <a:r>
              <a:rPr sz="1100" b="1" spc="-5" dirty="0">
                <a:latin typeface="Cambria"/>
                <a:cs typeface="Cambria"/>
              </a:rPr>
              <a:t> </a:t>
            </a:r>
            <a:r>
              <a:rPr sz="1100" b="1" dirty="0">
                <a:latin typeface="Cambria"/>
                <a:cs typeface="Cambria"/>
              </a:rPr>
              <a:t>S. A. (2023).</a:t>
            </a:r>
            <a:r>
              <a:rPr sz="1100" b="1" spc="40" dirty="0">
                <a:latin typeface="Cambria"/>
                <a:cs typeface="Cambria"/>
              </a:rPr>
              <a:t> </a:t>
            </a:r>
            <a:r>
              <a:rPr sz="1100" dirty="0">
                <a:latin typeface="Cambria"/>
                <a:cs typeface="Cambria"/>
              </a:rPr>
              <a:t>MERN</a:t>
            </a:r>
            <a:r>
              <a:rPr sz="1100" spc="-15" dirty="0">
                <a:latin typeface="Cambria"/>
                <a:cs typeface="Cambria"/>
              </a:rPr>
              <a:t> </a:t>
            </a:r>
            <a:r>
              <a:rPr sz="1100" spc="-25" dirty="0">
                <a:latin typeface="Cambria"/>
                <a:cs typeface="Cambria"/>
              </a:rPr>
              <a:t>Stack-</a:t>
            </a:r>
            <a:r>
              <a:rPr sz="1100" dirty="0">
                <a:latin typeface="Cambria"/>
                <a:cs typeface="Cambria"/>
              </a:rPr>
              <a:t>Based</a:t>
            </a:r>
            <a:r>
              <a:rPr sz="1100" spc="5" dirty="0">
                <a:latin typeface="Cambria"/>
                <a:cs typeface="Cambria"/>
              </a:rPr>
              <a:t> </a:t>
            </a:r>
            <a:r>
              <a:rPr sz="1100" spc="-25" dirty="0">
                <a:latin typeface="Cambria"/>
                <a:cs typeface="Cambria"/>
              </a:rPr>
              <a:t>Car </a:t>
            </a:r>
            <a:r>
              <a:rPr sz="1100" spc="-10" dirty="0">
                <a:latin typeface="Cambria"/>
                <a:cs typeface="Cambria"/>
              </a:rPr>
              <a:t>Rental</a:t>
            </a:r>
            <a:r>
              <a:rPr sz="1100" spc="-25" dirty="0">
                <a:latin typeface="Cambria"/>
                <a:cs typeface="Cambria"/>
              </a:rPr>
              <a:t> </a:t>
            </a:r>
            <a:r>
              <a:rPr sz="1100" spc="-10" dirty="0">
                <a:latin typeface="Cambria"/>
                <a:cs typeface="Cambria"/>
              </a:rPr>
              <a:t>Website</a:t>
            </a:r>
            <a:r>
              <a:rPr sz="1100" spc="-25" dirty="0">
                <a:latin typeface="Cambria"/>
                <a:cs typeface="Cambria"/>
              </a:rPr>
              <a:t> </a:t>
            </a:r>
            <a:r>
              <a:rPr sz="1100" spc="-10" dirty="0">
                <a:latin typeface="Cambria"/>
                <a:cs typeface="Cambria"/>
              </a:rPr>
              <a:t>Development. </a:t>
            </a:r>
            <a:r>
              <a:rPr sz="1100" i="1" dirty="0">
                <a:latin typeface="Cambria"/>
                <a:cs typeface="Cambria"/>
              </a:rPr>
              <a:t>International</a:t>
            </a:r>
            <a:r>
              <a:rPr sz="1100" i="1" spc="-20" dirty="0">
                <a:latin typeface="Cambria"/>
                <a:cs typeface="Cambria"/>
              </a:rPr>
              <a:t> </a:t>
            </a:r>
            <a:r>
              <a:rPr sz="1100" i="1" dirty="0">
                <a:latin typeface="Cambria"/>
                <a:cs typeface="Cambria"/>
              </a:rPr>
              <a:t>Journal</a:t>
            </a:r>
            <a:r>
              <a:rPr sz="1100" i="1" spc="-20" dirty="0">
                <a:latin typeface="Cambria"/>
                <a:cs typeface="Cambria"/>
              </a:rPr>
              <a:t> </a:t>
            </a:r>
            <a:r>
              <a:rPr sz="1100" i="1" dirty="0">
                <a:latin typeface="Cambria"/>
                <a:cs typeface="Cambria"/>
              </a:rPr>
              <a:t>of</a:t>
            </a:r>
            <a:r>
              <a:rPr sz="1100" i="1" spc="-20" dirty="0">
                <a:latin typeface="Cambria"/>
                <a:cs typeface="Cambria"/>
              </a:rPr>
              <a:t> </a:t>
            </a:r>
            <a:r>
              <a:rPr sz="1100" i="1" dirty="0">
                <a:latin typeface="Cambria"/>
                <a:cs typeface="Cambria"/>
              </a:rPr>
              <a:t>Advanced</a:t>
            </a:r>
            <a:r>
              <a:rPr sz="1100" i="1" spc="-15" dirty="0">
                <a:latin typeface="Cambria"/>
                <a:cs typeface="Cambria"/>
              </a:rPr>
              <a:t> </a:t>
            </a:r>
            <a:r>
              <a:rPr sz="1100" i="1" spc="-10" dirty="0">
                <a:latin typeface="Cambria"/>
                <a:cs typeface="Cambria"/>
              </a:rPr>
              <a:t>Research</a:t>
            </a:r>
            <a:r>
              <a:rPr sz="1100" i="1" spc="-20" dirty="0">
                <a:latin typeface="Cambria"/>
                <a:cs typeface="Cambria"/>
              </a:rPr>
              <a:t> </a:t>
            </a:r>
            <a:r>
              <a:rPr sz="1100" i="1" dirty="0">
                <a:latin typeface="Cambria"/>
                <a:cs typeface="Cambria"/>
              </a:rPr>
              <a:t>in</a:t>
            </a:r>
            <a:r>
              <a:rPr sz="1100" i="1" spc="-10" dirty="0">
                <a:latin typeface="Cambria"/>
                <a:cs typeface="Cambria"/>
              </a:rPr>
              <a:t> Computer</a:t>
            </a:r>
            <a:endParaRPr sz="1100">
              <a:latin typeface="Cambria"/>
              <a:cs typeface="Cambria"/>
            </a:endParaRPr>
          </a:p>
          <a:p>
            <a:pPr marL="241300">
              <a:lnSpc>
                <a:spcPct val="100000"/>
              </a:lnSpc>
              <a:spcBef>
                <a:spcPts val="70"/>
              </a:spcBef>
            </a:pPr>
            <a:r>
              <a:rPr sz="1100" i="1" dirty="0">
                <a:latin typeface="Cambria"/>
                <a:cs typeface="Cambria"/>
              </a:rPr>
              <a:t>Science,</a:t>
            </a:r>
            <a:r>
              <a:rPr sz="1100" i="1" spc="-30" dirty="0">
                <a:latin typeface="Cambria"/>
                <a:cs typeface="Cambria"/>
              </a:rPr>
              <a:t> </a:t>
            </a:r>
            <a:r>
              <a:rPr sz="1100" i="1" dirty="0">
                <a:latin typeface="Cambria"/>
                <a:cs typeface="Cambria"/>
              </a:rPr>
              <a:t>14</a:t>
            </a:r>
            <a:r>
              <a:rPr sz="1100" dirty="0">
                <a:latin typeface="Cambria"/>
                <a:cs typeface="Cambria"/>
              </a:rPr>
              <a:t>(2),</a:t>
            </a:r>
            <a:r>
              <a:rPr sz="1100" spc="-30" dirty="0">
                <a:latin typeface="Cambria"/>
                <a:cs typeface="Cambria"/>
              </a:rPr>
              <a:t> </a:t>
            </a:r>
            <a:r>
              <a:rPr sz="1100" spc="-20" dirty="0">
                <a:latin typeface="Cambria"/>
                <a:cs typeface="Cambria"/>
              </a:rPr>
              <a:t>39-</a:t>
            </a:r>
            <a:r>
              <a:rPr sz="1100" spc="-25" dirty="0">
                <a:latin typeface="Cambria"/>
                <a:cs typeface="Cambria"/>
              </a:rPr>
              <a:t>44.</a:t>
            </a:r>
            <a:endParaRPr sz="1100">
              <a:latin typeface="Cambria"/>
              <a:cs typeface="Cambria"/>
            </a:endParaRPr>
          </a:p>
          <a:p>
            <a:pPr>
              <a:lnSpc>
                <a:spcPct val="100000"/>
              </a:lnSpc>
              <a:spcBef>
                <a:spcPts val="105"/>
              </a:spcBef>
            </a:pPr>
            <a:endParaRPr sz="1100">
              <a:latin typeface="Cambria"/>
              <a:cs typeface="Cambria"/>
            </a:endParaRPr>
          </a:p>
          <a:p>
            <a:pPr marL="237490" marR="5080" indent="-225425">
              <a:lnSpc>
                <a:spcPct val="105500"/>
              </a:lnSpc>
              <a:buFont typeface="Cambria"/>
              <a:buAutoNum type="arabicPeriod" startAt="3"/>
              <a:tabLst>
                <a:tab pos="241300" algn="l"/>
              </a:tabLst>
            </a:pPr>
            <a:r>
              <a:rPr sz="1100" b="1" spc="-10" dirty="0">
                <a:latin typeface="Cambria"/>
                <a:cs typeface="Cambria"/>
              </a:rPr>
              <a:t>Vasanthi,</a:t>
            </a:r>
            <a:r>
              <a:rPr sz="1100" b="1" spc="-30" dirty="0">
                <a:latin typeface="Cambria"/>
                <a:cs typeface="Cambria"/>
              </a:rPr>
              <a:t> </a:t>
            </a:r>
            <a:r>
              <a:rPr sz="1100" b="1" dirty="0">
                <a:latin typeface="Cambria"/>
                <a:cs typeface="Cambria"/>
              </a:rPr>
              <a:t>D.,</a:t>
            </a:r>
            <a:r>
              <a:rPr sz="1100" b="1" spc="-15" dirty="0">
                <a:latin typeface="Cambria"/>
                <a:cs typeface="Cambria"/>
              </a:rPr>
              <a:t> </a:t>
            </a:r>
            <a:r>
              <a:rPr sz="1100" b="1" spc="-10" dirty="0">
                <a:latin typeface="Cambria"/>
                <a:cs typeface="Cambria"/>
              </a:rPr>
              <a:t>Sivasakthi,</a:t>
            </a:r>
            <a:r>
              <a:rPr sz="1100" b="1" spc="-20" dirty="0">
                <a:latin typeface="Cambria"/>
                <a:cs typeface="Cambria"/>
              </a:rPr>
              <a:t> </a:t>
            </a:r>
            <a:r>
              <a:rPr sz="1100" b="1" spc="-45" dirty="0">
                <a:latin typeface="Cambria"/>
                <a:cs typeface="Cambria"/>
              </a:rPr>
              <a:t>T.,</a:t>
            </a:r>
            <a:r>
              <a:rPr sz="1100" b="1" spc="-15" dirty="0">
                <a:latin typeface="Cambria"/>
                <a:cs typeface="Cambria"/>
              </a:rPr>
              <a:t> </a:t>
            </a:r>
            <a:r>
              <a:rPr sz="1100" b="1" dirty="0">
                <a:latin typeface="Cambria"/>
                <a:cs typeface="Cambria"/>
              </a:rPr>
              <a:t>Abarna,</a:t>
            </a:r>
            <a:r>
              <a:rPr sz="1100" b="1" spc="-15" dirty="0">
                <a:latin typeface="Cambria"/>
                <a:cs typeface="Cambria"/>
              </a:rPr>
              <a:t> </a:t>
            </a:r>
            <a:r>
              <a:rPr sz="1100" b="1" spc="-45" dirty="0">
                <a:latin typeface="Cambria"/>
                <a:cs typeface="Cambria"/>
              </a:rPr>
              <a:t>V.,</a:t>
            </a:r>
            <a:r>
              <a:rPr sz="1100" b="1" spc="-15" dirty="0">
                <a:latin typeface="Cambria"/>
                <a:cs typeface="Cambria"/>
              </a:rPr>
              <a:t> </a:t>
            </a:r>
            <a:r>
              <a:rPr sz="1100" b="1" dirty="0">
                <a:latin typeface="Cambria"/>
                <a:cs typeface="Cambria"/>
              </a:rPr>
              <a:t>&amp;</a:t>
            </a:r>
            <a:r>
              <a:rPr sz="1100" b="1" spc="-30" dirty="0">
                <a:latin typeface="Cambria"/>
                <a:cs typeface="Cambria"/>
              </a:rPr>
              <a:t> </a:t>
            </a:r>
            <a:r>
              <a:rPr sz="1100" b="1" dirty="0">
                <a:latin typeface="Cambria"/>
                <a:cs typeface="Cambria"/>
              </a:rPr>
              <a:t>Arthi,</a:t>
            </a:r>
            <a:r>
              <a:rPr sz="1100" b="1" spc="-15" dirty="0">
                <a:latin typeface="Cambria"/>
                <a:cs typeface="Cambria"/>
              </a:rPr>
              <a:t> </a:t>
            </a:r>
            <a:r>
              <a:rPr sz="1100" b="1" dirty="0">
                <a:latin typeface="Cambria"/>
                <a:cs typeface="Cambria"/>
              </a:rPr>
              <a:t>R.</a:t>
            </a:r>
            <a:r>
              <a:rPr sz="1100" b="1" spc="-20" dirty="0">
                <a:latin typeface="Cambria"/>
                <a:cs typeface="Cambria"/>
              </a:rPr>
              <a:t> </a:t>
            </a:r>
            <a:r>
              <a:rPr sz="1100" b="1" dirty="0">
                <a:latin typeface="Cambria"/>
                <a:cs typeface="Cambria"/>
              </a:rPr>
              <a:t>(2021).</a:t>
            </a:r>
            <a:r>
              <a:rPr sz="1100" b="1" spc="15" dirty="0">
                <a:latin typeface="Cambria"/>
                <a:cs typeface="Cambria"/>
              </a:rPr>
              <a:t> </a:t>
            </a:r>
            <a:r>
              <a:rPr sz="1100" dirty="0">
                <a:latin typeface="Cambria"/>
                <a:cs typeface="Cambria"/>
              </a:rPr>
              <a:t>Design</a:t>
            </a:r>
            <a:r>
              <a:rPr sz="1100" spc="-20" dirty="0">
                <a:latin typeface="Cambria"/>
                <a:cs typeface="Cambria"/>
              </a:rPr>
              <a:t> </a:t>
            </a:r>
            <a:r>
              <a:rPr sz="1100" dirty="0">
                <a:latin typeface="Cambria"/>
                <a:cs typeface="Cambria"/>
              </a:rPr>
              <a:t>and</a:t>
            </a:r>
            <a:r>
              <a:rPr sz="1100" spc="-10" dirty="0">
                <a:latin typeface="Cambria"/>
                <a:cs typeface="Cambria"/>
              </a:rPr>
              <a:t> Development</a:t>
            </a:r>
            <a:r>
              <a:rPr sz="1100" spc="-15" dirty="0">
                <a:latin typeface="Cambria"/>
                <a:cs typeface="Cambria"/>
              </a:rPr>
              <a:t> </a:t>
            </a:r>
            <a:r>
              <a:rPr sz="1100" dirty="0">
                <a:latin typeface="Cambria"/>
                <a:cs typeface="Cambria"/>
              </a:rPr>
              <a:t>of</a:t>
            </a:r>
            <a:r>
              <a:rPr sz="1100" spc="-25" dirty="0">
                <a:latin typeface="Cambria"/>
                <a:cs typeface="Cambria"/>
              </a:rPr>
              <a:t> Car 	</a:t>
            </a:r>
            <a:r>
              <a:rPr sz="1100" spc="-10" dirty="0">
                <a:latin typeface="Cambria"/>
                <a:cs typeface="Cambria"/>
              </a:rPr>
              <a:t>Rental</a:t>
            </a:r>
            <a:r>
              <a:rPr sz="1100" spc="-30" dirty="0">
                <a:latin typeface="Cambria"/>
                <a:cs typeface="Cambria"/>
              </a:rPr>
              <a:t> </a:t>
            </a:r>
            <a:r>
              <a:rPr sz="1100" spc="-10" dirty="0">
                <a:latin typeface="Cambria"/>
                <a:cs typeface="Cambria"/>
              </a:rPr>
              <a:t>Website</a:t>
            </a:r>
            <a:r>
              <a:rPr sz="1100" spc="-25" dirty="0">
                <a:latin typeface="Cambria"/>
                <a:cs typeface="Cambria"/>
              </a:rPr>
              <a:t> </a:t>
            </a:r>
            <a:r>
              <a:rPr sz="1100" dirty="0">
                <a:latin typeface="Cambria"/>
                <a:cs typeface="Cambria"/>
              </a:rPr>
              <a:t>Using</a:t>
            </a:r>
            <a:r>
              <a:rPr sz="1100" spc="-5" dirty="0">
                <a:latin typeface="Cambria"/>
                <a:cs typeface="Cambria"/>
              </a:rPr>
              <a:t> </a:t>
            </a:r>
            <a:r>
              <a:rPr sz="1100" dirty="0">
                <a:latin typeface="Cambria"/>
                <a:cs typeface="Cambria"/>
              </a:rPr>
              <a:t>MERN</a:t>
            </a:r>
            <a:r>
              <a:rPr sz="1100" spc="-25" dirty="0">
                <a:latin typeface="Cambria"/>
                <a:cs typeface="Cambria"/>
              </a:rPr>
              <a:t> </a:t>
            </a:r>
            <a:r>
              <a:rPr sz="1100" spc="-10" dirty="0">
                <a:latin typeface="Cambria"/>
                <a:cs typeface="Cambria"/>
              </a:rPr>
              <a:t>Stack. </a:t>
            </a:r>
            <a:r>
              <a:rPr sz="1100" i="1" dirty="0">
                <a:latin typeface="Cambria"/>
                <a:cs typeface="Cambria"/>
              </a:rPr>
              <a:t>Proceedings</a:t>
            </a:r>
            <a:r>
              <a:rPr sz="1100" i="1" spc="-5" dirty="0">
                <a:latin typeface="Cambria"/>
                <a:cs typeface="Cambria"/>
              </a:rPr>
              <a:t> </a:t>
            </a:r>
            <a:r>
              <a:rPr sz="1100" i="1" dirty="0">
                <a:latin typeface="Cambria"/>
                <a:cs typeface="Cambria"/>
              </a:rPr>
              <a:t>of</a:t>
            </a:r>
            <a:r>
              <a:rPr sz="1100" i="1" spc="-25" dirty="0">
                <a:latin typeface="Cambria"/>
                <a:cs typeface="Cambria"/>
              </a:rPr>
              <a:t> </a:t>
            </a:r>
            <a:r>
              <a:rPr sz="1100" i="1" dirty="0">
                <a:latin typeface="Cambria"/>
                <a:cs typeface="Cambria"/>
              </a:rPr>
              <a:t>the</a:t>
            </a:r>
            <a:r>
              <a:rPr sz="1100" i="1" spc="-15" dirty="0">
                <a:latin typeface="Cambria"/>
                <a:cs typeface="Cambria"/>
              </a:rPr>
              <a:t> </a:t>
            </a:r>
            <a:r>
              <a:rPr sz="1100" i="1" dirty="0">
                <a:latin typeface="Cambria"/>
                <a:cs typeface="Cambria"/>
              </a:rPr>
              <a:t>2021</a:t>
            </a:r>
            <a:r>
              <a:rPr sz="1100" i="1" spc="-20" dirty="0">
                <a:latin typeface="Cambria"/>
                <a:cs typeface="Cambria"/>
              </a:rPr>
              <a:t> </a:t>
            </a:r>
            <a:r>
              <a:rPr sz="1100" i="1" dirty="0">
                <a:latin typeface="Cambria"/>
                <a:cs typeface="Cambria"/>
              </a:rPr>
              <a:t>International</a:t>
            </a:r>
            <a:r>
              <a:rPr sz="1100" i="1" spc="-25" dirty="0">
                <a:latin typeface="Cambria"/>
                <a:cs typeface="Cambria"/>
              </a:rPr>
              <a:t> </a:t>
            </a:r>
            <a:r>
              <a:rPr sz="1100" i="1" spc="-10" dirty="0">
                <a:latin typeface="Cambria"/>
                <a:cs typeface="Cambria"/>
              </a:rPr>
              <a:t>Conference </a:t>
            </a:r>
            <a:r>
              <a:rPr sz="1100" i="1" spc="-25" dirty="0">
                <a:latin typeface="Cambria"/>
                <a:cs typeface="Cambria"/>
              </a:rPr>
              <a:t>on 	</a:t>
            </a:r>
            <a:r>
              <a:rPr sz="1100" i="1" dirty="0">
                <a:latin typeface="Cambria"/>
                <a:cs typeface="Cambria"/>
              </a:rPr>
              <a:t>Computing,</a:t>
            </a:r>
            <a:r>
              <a:rPr sz="1100" i="1" spc="-10" dirty="0">
                <a:latin typeface="Cambria"/>
                <a:cs typeface="Cambria"/>
              </a:rPr>
              <a:t> Communication</a:t>
            </a:r>
            <a:r>
              <a:rPr sz="1100" i="1" spc="5" dirty="0">
                <a:latin typeface="Cambria"/>
                <a:cs typeface="Cambria"/>
              </a:rPr>
              <a:t> </a:t>
            </a:r>
            <a:r>
              <a:rPr sz="1100" i="1" dirty="0">
                <a:latin typeface="Cambria"/>
                <a:cs typeface="Cambria"/>
              </a:rPr>
              <a:t>and</a:t>
            </a:r>
            <a:r>
              <a:rPr sz="1100" i="1" spc="-5" dirty="0">
                <a:latin typeface="Cambria"/>
                <a:cs typeface="Cambria"/>
              </a:rPr>
              <a:t> </a:t>
            </a:r>
            <a:r>
              <a:rPr sz="1100" i="1" dirty="0">
                <a:latin typeface="Cambria"/>
                <a:cs typeface="Cambria"/>
              </a:rPr>
              <a:t>Green</a:t>
            </a:r>
            <a:r>
              <a:rPr sz="1100" i="1" spc="5" dirty="0">
                <a:latin typeface="Cambria"/>
                <a:cs typeface="Cambria"/>
              </a:rPr>
              <a:t> </a:t>
            </a:r>
            <a:r>
              <a:rPr sz="1100" i="1" spc="-10" dirty="0">
                <a:latin typeface="Cambria"/>
                <a:cs typeface="Cambria"/>
              </a:rPr>
              <a:t>Engineering</a:t>
            </a:r>
            <a:r>
              <a:rPr sz="1100" i="1" dirty="0">
                <a:latin typeface="Cambria"/>
                <a:cs typeface="Cambria"/>
              </a:rPr>
              <a:t> </a:t>
            </a:r>
            <a:r>
              <a:rPr sz="1100" i="1" spc="-10" dirty="0">
                <a:latin typeface="Cambria"/>
                <a:cs typeface="Cambria"/>
              </a:rPr>
              <a:t>(CCGE).</a:t>
            </a:r>
            <a:endParaRPr sz="1100">
              <a:latin typeface="Cambria"/>
              <a:cs typeface="Cambria"/>
            </a:endParaRPr>
          </a:p>
          <a:p>
            <a:pPr>
              <a:lnSpc>
                <a:spcPct val="100000"/>
              </a:lnSpc>
              <a:spcBef>
                <a:spcPts val="100"/>
              </a:spcBef>
              <a:buFont typeface="Cambria"/>
              <a:buAutoNum type="arabicPeriod" startAt="3"/>
            </a:pPr>
            <a:endParaRPr sz="1100">
              <a:latin typeface="Cambria"/>
              <a:cs typeface="Cambria"/>
            </a:endParaRPr>
          </a:p>
          <a:p>
            <a:pPr marL="237490" marR="33020" indent="-225425">
              <a:lnSpc>
                <a:spcPct val="105500"/>
              </a:lnSpc>
              <a:spcBef>
                <a:spcPts val="5"/>
              </a:spcBef>
              <a:buFont typeface="Cambria"/>
              <a:buAutoNum type="arabicPeriod" startAt="3"/>
              <a:tabLst>
                <a:tab pos="241300" algn="l"/>
              </a:tabLst>
            </a:pPr>
            <a:r>
              <a:rPr sz="1100" b="1" dirty="0">
                <a:latin typeface="Cambria"/>
                <a:cs typeface="Cambria"/>
              </a:rPr>
              <a:t>Osman,</a:t>
            </a:r>
            <a:r>
              <a:rPr sz="1100" b="1" spc="-15" dirty="0">
                <a:latin typeface="Cambria"/>
                <a:cs typeface="Cambria"/>
              </a:rPr>
              <a:t> </a:t>
            </a:r>
            <a:r>
              <a:rPr sz="1100" b="1" dirty="0">
                <a:latin typeface="Cambria"/>
                <a:cs typeface="Cambria"/>
              </a:rPr>
              <a:t>M.</a:t>
            </a:r>
            <a:r>
              <a:rPr sz="1100" b="1" spc="-10" dirty="0">
                <a:latin typeface="Cambria"/>
                <a:cs typeface="Cambria"/>
              </a:rPr>
              <a:t> </a:t>
            </a:r>
            <a:r>
              <a:rPr sz="1100" b="1" dirty="0">
                <a:latin typeface="Cambria"/>
                <a:cs typeface="Cambria"/>
              </a:rPr>
              <a:t>N.,</a:t>
            </a:r>
            <a:r>
              <a:rPr sz="1100" b="1" spc="-15" dirty="0">
                <a:latin typeface="Cambria"/>
                <a:cs typeface="Cambria"/>
              </a:rPr>
              <a:t> </a:t>
            </a:r>
            <a:r>
              <a:rPr sz="1100" b="1" dirty="0">
                <a:latin typeface="Cambria"/>
                <a:cs typeface="Cambria"/>
              </a:rPr>
              <a:t>Zain,</a:t>
            </a:r>
            <a:r>
              <a:rPr sz="1100" b="1" spc="-10" dirty="0">
                <a:latin typeface="Cambria"/>
                <a:cs typeface="Cambria"/>
              </a:rPr>
              <a:t> </a:t>
            </a:r>
            <a:r>
              <a:rPr sz="1100" b="1" dirty="0">
                <a:latin typeface="Cambria"/>
                <a:cs typeface="Cambria"/>
              </a:rPr>
              <a:t>N.</a:t>
            </a:r>
            <a:r>
              <a:rPr sz="1100" b="1" spc="-15" dirty="0">
                <a:latin typeface="Cambria"/>
                <a:cs typeface="Cambria"/>
              </a:rPr>
              <a:t> </a:t>
            </a:r>
            <a:r>
              <a:rPr sz="1100" b="1" dirty="0">
                <a:latin typeface="Cambria"/>
                <a:cs typeface="Cambria"/>
              </a:rPr>
              <a:t>M.,</a:t>
            </a:r>
            <a:r>
              <a:rPr sz="1100" b="1" spc="-10" dirty="0">
                <a:latin typeface="Cambria"/>
                <a:cs typeface="Cambria"/>
              </a:rPr>
              <a:t> Paidi,</a:t>
            </a:r>
            <a:r>
              <a:rPr sz="1100" b="1" spc="-15" dirty="0">
                <a:latin typeface="Cambria"/>
                <a:cs typeface="Cambria"/>
              </a:rPr>
              <a:t> </a:t>
            </a:r>
            <a:r>
              <a:rPr sz="1100" b="1" dirty="0">
                <a:latin typeface="Cambria"/>
                <a:cs typeface="Cambria"/>
              </a:rPr>
              <a:t>Z.,</a:t>
            </a:r>
            <a:r>
              <a:rPr sz="1100" b="1" spc="-10" dirty="0">
                <a:latin typeface="Cambria"/>
                <a:cs typeface="Cambria"/>
              </a:rPr>
              <a:t> </a:t>
            </a:r>
            <a:r>
              <a:rPr sz="1100" b="1" dirty="0">
                <a:latin typeface="Cambria"/>
                <a:cs typeface="Cambria"/>
              </a:rPr>
              <a:t>Sedek,</a:t>
            </a:r>
            <a:r>
              <a:rPr sz="1100" b="1" spc="-15" dirty="0">
                <a:latin typeface="Cambria"/>
                <a:cs typeface="Cambria"/>
              </a:rPr>
              <a:t> </a:t>
            </a:r>
            <a:r>
              <a:rPr sz="1100" b="1" dirty="0">
                <a:latin typeface="Cambria"/>
                <a:cs typeface="Cambria"/>
              </a:rPr>
              <a:t>K.</a:t>
            </a:r>
            <a:r>
              <a:rPr sz="1100" b="1" spc="-10" dirty="0">
                <a:latin typeface="Cambria"/>
                <a:cs typeface="Cambria"/>
              </a:rPr>
              <a:t> </a:t>
            </a:r>
            <a:r>
              <a:rPr sz="1100" b="1" dirty="0">
                <a:latin typeface="Cambria"/>
                <a:cs typeface="Cambria"/>
              </a:rPr>
              <a:t>A.,</a:t>
            </a:r>
            <a:r>
              <a:rPr sz="1100" b="1" spc="-15" dirty="0">
                <a:latin typeface="Cambria"/>
                <a:cs typeface="Cambria"/>
              </a:rPr>
              <a:t> </a:t>
            </a:r>
            <a:r>
              <a:rPr sz="1100" b="1" dirty="0">
                <a:latin typeface="Cambria"/>
                <a:cs typeface="Cambria"/>
              </a:rPr>
              <a:t>&amp;</a:t>
            </a:r>
            <a:r>
              <a:rPr sz="1100" b="1" spc="-40" dirty="0">
                <a:latin typeface="Cambria"/>
                <a:cs typeface="Cambria"/>
              </a:rPr>
              <a:t> </a:t>
            </a:r>
            <a:r>
              <a:rPr sz="1100" b="1" spc="-10" dirty="0">
                <a:latin typeface="Cambria"/>
                <a:cs typeface="Cambria"/>
              </a:rPr>
              <a:t>Yusoff,</a:t>
            </a:r>
            <a:r>
              <a:rPr sz="1100" b="1" spc="-15" dirty="0">
                <a:latin typeface="Cambria"/>
                <a:cs typeface="Cambria"/>
              </a:rPr>
              <a:t> </a:t>
            </a:r>
            <a:r>
              <a:rPr sz="1100" b="1" dirty="0">
                <a:latin typeface="Cambria"/>
                <a:cs typeface="Cambria"/>
              </a:rPr>
              <a:t>M.</a:t>
            </a:r>
            <a:r>
              <a:rPr sz="1100" b="1" spc="-10" dirty="0">
                <a:latin typeface="Cambria"/>
                <a:cs typeface="Cambria"/>
              </a:rPr>
              <a:t> </a:t>
            </a:r>
            <a:r>
              <a:rPr sz="1100" b="1" dirty="0">
                <a:latin typeface="Cambria"/>
                <a:cs typeface="Cambria"/>
              </a:rPr>
              <a:t>N.</a:t>
            </a:r>
            <a:r>
              <a:rPr sz="1100" b="1" spc="-15" dirty="0">
                <a:latin typeface="Cambria"/>
                <a:cs typeface="Cambria"/>
              </a:rPr>
              <a:t> </a:t>
            </a:r>
            <a:r>
              <a:rPr sz="1100" b="1" dirty="0">
                <a:latin typeface="Cambria"/>
                <a:cs typeface="Cambria"/>
              </a:rPr>
              <a:t>(2017).</a:t>
            </a:r>
            <a:r>
              <a:rPr sz="1100" b="1" spc="20" dirty="0">
                <a:latin typeface="Cambria"/>
                <a:cs typeface="Cambria"/>
              </a:rPr>
              <a:t> </a:t>
            </a:r>
            <a:r>
              <a:rPr sz="1100" dirty="0">
                <a:latin typeface="Cambria"/>
                <a:cs typeface="Cambria"/>
              </a:rPr>
              <a:t>Online</a:t>
            </a:r>
            <a:r>
              <a:rPr sz="1100" spc="-30" dirty="0">
                <a:latin typeface="Cambria"/>
                <a:cs typeface="Cambria"/>
              </a:rPr>
              <a:t> </a:t>
            </a:r>
            <a:r>
              <a:rPr sz="1100" dirty="0">
                <a:latin typeface="Cambria"/>
                <a:cs typeface="Cambria"/>
              </a:rPr>
              <a:t>Car</a:t>
            </a:r>
            <a:r>
              <a:rPr sz="1100" spc="-20" dirty="0">
                <a:latin typeface="Cambria"/>
                <a:cs typeface="Cambria"/>
              </a:rPr>
              <a:t> </a:t>
            </a:r>
            <a:r>
              <a:rPr sz="1100" spc="-10" dirty="0">
                <a:latin typeface="Cambria"/>
                <a:cs typeface="Cambria"/>
              </a:rPr>
              <a:t>Rental 	System</a:t>
            </a:r>
            <a:r>
              <a:rPr sz="1100" spc="-25" dirty="0">
                <a:latin typeface="Cambria"/>
                <a:cs typeface="Cambria"/>
              </a:rPr>
              <a:t> </a:t>
            </a:r>
            <a:r>
              <a:rPr sz="1100" dirty="0">
                <a:latin typeface="Cambria"/>
                <a:cs typeface="Cambria"/>
              </a:rPr>
              <a:t>using</a:t>
            </a:r>
            <a:r>
              <a:rPr sz="1100" spc="-5" dirty="0">
                <a:latin typeface="Cambria"/>
                <a:cs typeface="Cambria"/>
              </a:rPr>
              <a:t> </a:t>
            </a:r>
            <a:r>
              <a:rPr sz="1100" spc="-35" dirty="0">
                <a:latin typeface="Cambria"/>
                <a:cs typeface="Cambria"/>
              </a:rPr>
              <a:t>Web-</a:t>
            </a:r>
            <a:r>
              <a:rPr sz="1100" dirty="0">
                <a:latin typeface="Cambria"/>
                <a:cs typeface="Cambria"/>
              </a:rPr>
              <a:t>Based</a:t>
            </a:r>
            <a:r>
              <a:rPr sz="1100" spc="-5" dirty="0">
                <a:latin typeface="Cambria"/>
                <a:cs typeface="Cambria"/>
              </a:rPr>
              <a:t> </a:t>
            </a:r>
            <a:r>
              <a:rPr sz="1100" dirty="0">
                <a:latin typeface="Cambria"/>
                <a:cs typeface="Cambria"/>
              </a:rPr>
              <a:t>and SMS</a:t>
            </a:r>
            <a:r>
              <a:rPr sz="1100" spc="-10" dirty="0">
                <a:latin typeface="Cambria"/>
                <a:cs typeface="Cambria"/>
              </a:rPr>
              <a:t> </a:t>
            </a:r>
            <a:r>
              <a:rPr sz="1100" spc="-25" dirty="0">
                <a:latin typeface="Cambria"/>
                <a:cs typeface="Cambria"/>
              </a:rPr>
              <a:t>Technology.</a:t>
            </a:r>
            <a:r>
              <a:rPr sz="1100" spc="-15" dirty="0">
                <a:latin typeface="Cambria"/>
                <a:cs typeface="Cambria"/>
              </a:rPr>
              <a:t> </a:t>
            </a:r>
            <a:r>
              <a:rPr sz="1100" i="1" dirty="0">
                <a:latin typeface="Cambria"/>
                <a:cs typeface="Cambria"/>
              </a:rPr>
              <a:t>CRINN,</a:t>
            </a:r>
            <a:r>
              <a:rPr sz="1100" i="1" spc="-15" dirty="0">
                <a:latin typeface="Cambria"/>
                <a:cs typeface="Cambria"/>
              </a:rPr>
              <a:t> </a:t>
            </a:r>
            <a:r>
              <a:rPr sz="1100" i="1" dirty="0">
                <a:latin typeface="Cambria"/>
                <a:cs typeface="Cambria"/>
              </a:rPr>
              <a:t>2</a:t>
            </a:r>
            <a:r>
              <a:rPr sz="1100" dirty="0">
                <a:latin typeface="Cambria"/>
                <a:cs typeface="Cambria"/>
              </a:rPr>
              <a:t>,</a:t>
            </a:r>
            <a:r>
              <a:rPr sz="1100" spc="-20" dirty="0">
                <a:latin typeface="Cambria"/>
                <a:cs typeface="Cambria"/>
              </a:rPr>
              <a:t> 277.</a:t>
            </a:r>
            <a:endParaRPr sz="1100">
              <a:latin typeface="Cambria"/>
              <a:cs typeface="Cambria"/>
            </a:endParaRPr>
          </a:p>
          <a:p>
            <a:pPr>
              <a:lnSpc>
                <a:spcPct val="100000"/>
              </a:lnSpc>
              <a:spcBef>
                <a:spcPts val="100"/>
              </a:spcBef>
              <a:buFont typeface="Cambria"/>
              <a:buAutoNum type="arabicPeriod" startAt="3"/>
            </a:pPr>
            <a:endParaRPr sz="1100">
              <a:latin typeface="Cambria"/>
              <a:cs typeface="Cambria"/>
            </a:endParaRPr>
          </a:p>
          <a:p>
            <a:pPr marL="237490" marR="176530" indent="-225425">
              <a:lnSpc>
                <a:spcPct val="105500"/>
              </a:lnSpc>
              <a:buFont typeface="Cambria"/>
              <a:buAutoNum type="arabicPeriod" startAt="3"/>
              <a:tabLst>
                <a:tab pos="241300" algn="l"/>
              </a:tabLst>
            </a:pPr>
            <a:r>
              <a:rPr sz="1100" b="1" dirty="0">
                <a:latin typeface="Cambria"/>
                <a:cs typeface="Cambria"/>
              </a:rPr>
              <a:t>Xue,</a:t>
            </a:r>
            <a:r>
              <a:rPr sz="1100" b="1" spc="-10" dirty="0">
                <a:latin typeface="Cambria"/>
                <a:cs typeface="Cambria"/>
              </a:rPr>
              <a:t> </a:t>
            </a:r>
            <a:r>
              <a:rPr sz="1100" b="1" dirty="0">
                <a:latin typeface="Cambria"/>
                <a:cs typeface="Cambria"/>
              </a:rPr>
              <a:t>L.,</a:t>
            </a:r>
            <a:r>
              <a:rPr sz="1100" b="1" spc="-10" dirty="0">
                <a:latin typeface="Cambria"/>
                <a:cs typeface="Cambria"/>
              </a:rPr>
              <a:t> </a:t>
            </a:r>
            <a:r>
              <a:rPr sz="1100" b="1" dirty="0">
                <a:latin typeface="Cambria"/>
                <a:cs typeface="Cambria"/>
              </a:rPr>
              <a:t>&amp;</a:t>
            </a:r>
            <a:r>
              <a:rPr sz="1100" b="1" spc="-15" dirty="0">
                <a:latin typeface="Cambria"/>
                <a:cs typeface="Cambria"/>
              </a:rPr>
              <a:t> </a:t>
            </a:r>
            <a:r>
              <a:rPr sz="1100" b="1" dirty="0">
                <a:latin typeface="Cambria"/>
                <a:cs typeface="Cambria"/>
              </a:rPr>
              <a:t>Luo,</a:t>
            </a:r>
            <a:r>
              <a:rPr sz="1100" b="1" spc="-10" dirty="0">
                <a:latin typeface="Cambria"/>
                <a:cs typeface="Cambria"/>
              </a:rPr>
              <a:t> </a:t>
            </a:r>
            <a:r>
              <a:rPr sz="1100" b="1" dirty="0">
                <a:latin typeface="Cambria"/>
                <a:cs typeface="Cambria"/>
              </a:rPr>
              <a:t>S.</a:t>
            </a:r>
            <a:r>
              <a:rPr sz="1100" b="1" spc="-5" dirty="0">
                <a:latin typeface="Cambria"/>
                <a:cs typeface="Cambria"/>
              </a:rPr>
              <a:t> </a:t>
            </a:r>
            <a:r>
              <a:rPr sz="1100" b="1" dirty="0">
                <a:latin typeface="Cambria"/>
                <a:cs typeface="Cambria"/>
              </a:rPr>
              <a:t>(2018). </a:t>
            </a:r>
            <a:r>
              <a:rPr sz="1100" dirty="0">
                <a:latin typeface="Cambria"/>
                <a:cs typeface="Cambria"/>
              </a:rPr>
              <a:t>The</a:t>
            </a:r>
            <a:r>
              <a:rPr sz="1100" spc="-30" dirty="0">
                <a:latin typeface="Cambria"/>
                <a:cs typeface="Cambria"/>
              </a:rPr>
              <a:t> </a:t>
            </a:r>
            <a:r>
              <a:rPr sz="1100" dirty="0">
                <a:latin typeface="Cambria"/>
                <a:cs typeface="Cambria"/>
              </a:rPr>
              <a:t>Design</a:t>
            </a:r>
            <a:r>
              <a:rPr sz="1100" spc="-5" dirty="0">
                <a:latin typeface="Cambria"/>
                <a:cs typeface="Cambria"/>
              </a:rPr>
              <a:t> </a:t>
            </a:r>
            <a:r>
              <a:rPr sz="1100" dirty="0">
                <a:latin typeface="Cambria"/>
                <a:cs typeface="Cambria"/>
              </a:rPr>
              <a:t>and</a:t>
            </a:r>
            <a:r>
              <a:rPr sz="1100" spc="-30" dirty="0">
                <a:latin typeface="Cambria"/>
                <a:cs typeface="Cambria"/>
              </a:rPr>
              <a:t> </a:t>
            </a:r>
            <a:r>
              <a:rPr sz="1100" spc="-10" dirty="0">
                <a:latin typeface="Cambria"/>
                <a:cs typeface="Cambria"/>
              </a:rPr>
              <a:t>Realization </a:t>
            </a:r>
            <a:r>
              <a:rPr sz="1100" dirty="0">
                <a:latin typeface="Cambria"/>
                <a:cs typeface="Cambria"/>
              </a:rPr>
              <a:t>of</a:t>
            </a:r>
            <a:r>
              <a:rPr sz="1100" spc="-15" dirty="0">
                <a:latin typeface="Cambria"/>
                <a:cs typeface="Cambria"/>
              </a:rPr>
              <a:t> </a:t>
            </a:r>
            <a:r>
              <a:rPr sz="1100" spc="-20" dirty="0">
                <a:latin typeface="Cambria"/>
                <a:cs typeface="Cambria"/>
              </a:rPr>
              <a:t>Vehicle</a:t>
            </a:r>
            <a:r>
              <a:rPr sz="1100" spc="-25" dirty="0">
                <a:latin typeface="Cambria"/>
                <a:cs typeface="Cambria"/>
              </a:rPr>
              <a:t> </a:t>
            </a:r>
            <a:r>
              <a:rPr sz="1100" dirty="0">
                <a:latin typeface="Cambria"/>
                <a:cs typeface="Cambria"/>
              </a:rPr>
              <a:t>Rent</a:t>
            </a:r>
            <a:r>
              <a:rPr sz="1100" spc="-5" dirty="0">
                <a:latin typeface="Cambria"/>
                <a:cs typeface="Cambria"/>
              </a:rPr>
              <a:t> </a:t>
            </a:r>
            <a:r>
              <a:rPr sz="1100" spc="-10" dirty="0">
                <a:latin typeface="Cambria"/>
                <a:cs typeface="Cambria"/>
              </a:rPr>
              <a:t>Information</a:t>
            </a:r>
            <a:r>
              <a:rPr sz="1100" spc="-5" dirty="0">
                <a:latin typeface="Cambria"/>
                <a:cs typeface="Cambria"/>
              </a:rPr>
              <a:t> </a:t>
            </a:r>
            <a:r>
              <a:rPr sz="1100" spc="-10" dirty="0">
                <a:latin typeface="Cambria"/>
                <a:cs typeface="Cambria"/>
              </a:rPr>
              <a:t>System 	</a:t>
            </a:r>
            <a:r>
              <a:rPr sz="1100" dirty="0">
                <a:latin typeface="Cambria"/>
                <a:cs typeface="Cambria"/>
              </a:rPr>
              <a:t>Based</a:t>
            </a:r>
            <a:r>
              <a:rPr sz="1100" spc="-25" dirty="0">
                <a:latin typeface="Cambria"/>
                <a:cs typeface="Cambria"/>
              </a:rPr>
              <a:t> </a:t>
            </a:r>
            <a:r>
              <a:rPr sz="1100" dirty="0">
                <a:latin typeface="Cambria"/>
                <a:cs typeface="Cambria"/>
              </a:rPr>
              <a:t>on</a:t>
            </a:r>
            <a:r>
              <a:rPr sz="1100" spc="-25" dirty="0">
                <a:latin typeface="Cambria"/>
                <a:cs typeface="Cambria"/>
              </a:rPr>
              <a:t> </a:t>
            </a:r>
            <a:r>
              <a:rPr sz="1100" spc="-10" dirty="0">
                <a:latin typeface="Cambria"/>
                <a:cs typeface="Cambria"/>
              </a:rPr>
              <a:t>Java.</a:t>
            </a:r>
            <a:r>
              <a:rPr sz="1100" spc="-40" dirty="0">
                <a:latin typeface="Cambria"/>
                <a:cs typeface="Cambria"/>
              </a:rPr>
              <a:t> </a:t>
            </a:r>
            <a:r>
              <a:rPr sz="1100" i="1" dirty="0">
                <a:latin typeface="Cambria"/>
                <a:cs typeface="Cambria"/>
              </a:rPr>
              <a:t>Open</a:t>
            </a:r>
            <a:r>
              <a:rPr sz="1100" i="1" spc="-25" dirty="0">
                <a:latin typeface="Cambria"/>
                <a:cs typeface="Cambria"/>
              </a:rPr>
              <a:t> </a:t>
            </a:r>
            <a:r>
              <a:rPr sz="1100" i="1" dirty="0">
                <a:latin typeface="Cambria"/>
                <a:cs typeface="Cambria"/>
              </a:rPr>
              <a:t>Access</a:t>
            </a:r>
            <a:r>
              <a:rPr sz="1100" i="1" spc="-30" dirty="0">
                <a:latin typeface="Cambria"/>
                <a:cs typeface="Cambria"/>
              </a:rPr>
              <a:t> </a:t>
            </a:r>
            <a:r>
              <a:rPr sz="1100" i="1" dirty="0">
                <a:latin typeface="Cambria"/>
                <a:cs typeface="Cambria"/>
              </a:rPr>
              <a:t>Library</a:t>
            </a:r>
            <a:r>
              <a:rPr sz="1100" i="1" spc="-35" dirty="0">
                <a:latin typeface="Cambria"/>
                <a:cs typeface="Cambria"/>
              </a:rPr>
              <a:t> </a:t>
            </a:r>
            <a:r>
              <a:rPr sz="1100" i="1" dirty="0">
                <a:latin typeface="Cambria"/>
                <a:cs typeface="Cambria"/>
              </a:rPr>
              <a:t>Journal,</a:t>
            </a:r>
            <a:r>
              <a:rPr sz="1100" i="1" spc="-35" dirty="0">
                <a:latin typeface="Cambria"/>
                <a:cs typeface="Cambria"/>
              </a:rPr>
              <a:t> </a:t>
            </a:r>
            <a:r>
              <a:rPr sz="1100" i="1" spc="-20" dirty="0">
                <a:latin typeface="Cambria"/>
                <a:cs typeface="Cambria"/>
              </a:rPr>
              <a:t>5</a:t>
            </a:r>
            <a:r>
              <a:rPr sz="1100" spc="-20" dirty="0">
                <a:latin typeface="Cambria"/>
                <a:cs typeface="Cambria"/>
              </a:rPr>
              <a:t>(9).</a:t>
            </a:r>
            <a:endParaRPr sz="1100">
              <a:latin typeface="Cambria"/>
              <a:cs typeface="Cambria"/>
            </a:endParaRPr>
          </a:p>
          <a:p>
            <a:pPr>
              <a:lnSpc>
                <a:spcPct val="100000"/>
              </a:lnSpc>
              <a:spcBef>
                <a:spcPts val="100"/>
              </a:spcBef>
              <a:buFont typeface="Cambria"/>
              <a:buAutoNum type="arabicPeriod" startAt="3"/>
            </a:pPr>
            <a:endParaRPr sz="1100">
              <a:latin typeface="Cambria"/>
              <a:cs typeface="Cambria"/>
            </a:endParaRPr>
          </a:p>
          <a:p>
            <a:pPr marL="237490" marR="73660" indent="-225425">
              <a:lnSpc>
                <a:spcPct val="105500"/>
              </a:lnSpc>
              <a:spcBef>
                <a:spcPts val="5"/>
              </a:spcBef>
              <a:buFont typeface="Cambria"/>
              <a:buAutoNum type="arabicPeriod" startAt="3"/>
              <a:tabLst>
                <a:tab pos="241300" algn="l"/>
              </a:tabLst>
            </a:pPr>
            <a:r>
              <a:rPr sz="1100" b="1" dirty="0">
                <a:latin typeface="Cambria"/>
                <a:cs typeface="Cambria"/>
              </a:rPr>
              <a:t>Seldom</a:t>
            </a:r>
            <a:r>
              <a:rPr sz="1100" b="1" spc="-15" dirty="0">
                <a:latin typeface="Cambria"/>
                <a:cs typeface="Cambria"/>
              </a:rPr>
              <a:t> </a:t>
            </a:r>
            <a:r>
              <a:rPr sz="1100" b="1" dirty="0">
                <a:latin typeface="Cambria"/>
                <a:cs typeface="Cambria"/>
              </a:rPr>
              <a:t>India</a:t>
            </a:r>
            <a:r>
              <a:rPr sz="1100" b="1" spc="-5" dirty="0">
                <a:latin typeface="Cambria"/>
                <a:cs typeface="Cambria"/>
              </a:rPr>
              <a:t> </a:t>
            </a:r>
            <a:r>
              <a:rPr sz="1100" b="1" spc="-10" dirty="0">
                <a:latin typeface="Cambria"/>
                <a:cs typeface="Cambria"/>
              </a:rPr>
              <a:t>Technologies.</a:t>
            </a:r>
            <a:r>
              <a:rPr sz="1100" b="1" spc="-5" dirty="0">
                <a:latin typeface="Cambria"/>
                <a:cs typeface="Cambria"/>
              </a:rPr>
              <a:t> </a:t>
            </a:r>
            <a:r>
              <a:rPr sz="1100" b="1" dirty="0">
                <a:latin typeface="Cambria"/>
                <a:cs typeface="Cambria"/>
              </a:rPr>
              <a:t>(2025).</a:t>
            </a:r>
            <a:r>
              <a:rPr sz="1100" b="1" spc="5" dirty="0">
                <a:latin typeface="Cambria"/>
                <a:cs typeface="Cambria"/>
              </a:rPr>
              <a:t> </a:t>
            </a:r>
            <a:r>
              <a:rPr sz="1100" i="1" dirty="0">
                <a:latin typeface="Cambria"/>
                <a:cs typeface="Cambria"/>
              </a:rPr>
              <a:t>In-Person</a:t>
            </a:r>
            <a:r>
              <a:rPr sz="1100" i="1" spc="-5" dirty="0">
                <a:latin typeface="Cambria"/>
                <a:cs typeface="Cambria"/>
              </a:rPr>
              <a:t> </a:t>
            </a:r>
            <a:r>
              <a:rPr sz="1100" i="1" spc="-10" dirty="0">
                <a:latin typeface="Cambria"/>
                <a:cs typeface="Cambria"/>
              </a:rPr>
              <a:t>Corporate Internship</a:t>
            </a:r>
            <a:r>
              <a:rPr sz="1100" i="1" spc="-15" dirty="0">
                <a:latin typeface="Cambria"/>
                <a:cs typeface="Cambria"/>
              </a:rPr>
              <a:t> </a:t>
            </a:r>
            <a:r>
              <a:rPr sz="1100" i="1" spc="-10" dirty="0">
                <a:latin typeface="Cambria"/>
                <a:cs typeface="Cambria"/>
              </a:rPr>
              <a:t>Training Materials</a:t>
            </a:r>
            <a:r>
              <a:rPr sz="1100" i="1" spc="-5" dirty="0">
                <a:latin typeface="Cambria"/>
                <a:cs typeface="Cambria"/>
              </a:rPr>
              <a:t> </a:t>
            </a:r>
            <a:r>
              <a:rPr sz="1100" i="1" spc="-25" dirty="0">
                <a:latin typeface="Cambria"/>
                <a:cs typeface="Cambria"/>
              </a:rPr>
              <a:t>on 	</a:t>
            </a:r>
            <a:r>
              <a:rPr sz="1100" i="1" spc="-10" dirty="0">
                <a:latin typeface="Cambria"/>
                <a:cs typeface="Cambria"/>
              </a:rPr>
              <a:t>Full-Stack</a:t>
            </a:r>
            <a:r>
              <a:rPr sz="1100" i="1" spc="-40" dirty="0">
                <a:latin typeface="Cambria"/>
                <a:cs typeface="Cambria"/>
              </a:rPr>
              <a:t> </a:t>
            </a:r>
            <a:r>
              <a:rPr sz="1100" i="1" dirty="0">
                <a:latin typeface="Cambria"/>
                <a:cs typeface="Cambria"/>
              </a:rPr>
              <a:t>Web</a:t>
            </a:r>
            <a:r>
              <a:rPr sz="1100" i="1" spc="-15" dirty="0">
                <a:latin typeface="Cambria"/>
                <a:cs typeface="Cambria"/>
              </a:rPr>
              <a:t> </a:t>
            </a:r>
            <a:r>
              <a:rPr sz="1100" i="1" dirty="0">
                <a:latin typeface="Cambria"/>
                <a:cs typeface="Cambria"/>
              </a:rPr>
              <a:t>Development.</a:t>
            </a:r>
            <a:r>
              <a:rPr sz="1100" i="1" spc="-15" dirty="0">
                <a:latin typeface="Cambria"/>
                <a:cs typeface="Cambria"/>
              </a:rPr>
              <a:t> </a:t>
            </a:r>
            <a:r>
              <a:rPr sz="1100" spc="-20" dirty="0">
                <a:latin typeface="Cambria"/>
                <a:cs typeface="Cambria"/>
              </a:rPr>
              <a:t>Jaipur,</a:t>
            </a:r>
            <a:r>
              <a:rPr sz="1100" spc="-25" dirty="0">
                <a:latin typeface="Cambria"/>
                <a:cs typeface="Cambria"/>
              </a:rPr>
              <a:t> </a:t>
            </a:r>
            <a:r>
              <a:rPr sz="1100" spc="-10" dirty="0">
                <a:latin typeface="Cambria"/>
                <a:cs typeface="Cambria"/>
              </a:rPr>
              <a:t>India.</a:t>
            </a:r>
            <a:endParaRPr sz="1100">
              <a:latin typeface="Cambria"/>
              <a:cs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r>
              <a:rPr spc="-25" dirty="0"/>
              <a:t>25</a:t>
            </a:r>
          </a:p>
        </p:txBody>
      </p:sp>
      <p:sp>
        <p:nvSpPr>
          <p:cNvPr id="2" name="object 2"/>
          <p:cNvSpPr txBox="1">
            <a:spLocks noGrp="1"/>
          </p:cNvSpPr>
          <p:nvPr>
            <p:ph type="title"/>
          </p:nvPr>
        </p:nvSpPr>
        <p:spPr>
          <a:prstGeom prst="rect">
            <a:avLst/>
          </a:prstGeom>
        </p:spPr>
        <p:txBody>
          <a:bodyPr vert="horz" wrap="square" lIns="0" tIns="12700" rIns="0" bIns="0" rtlCol="0">
            <a:spAutoFit/>
          </a:bodyPr>
          <a:lstStyle/>
          <a:p>
            <a:pPr marL="13970">
              <a:lnSpc>
                <a:spcPct val="100000"/>
              </a:lnSpc>
              <a:spcBef>
                <a:spcPts val="100"/>
              </a:spcBef>
            </a:pPr>
            <a:r>
              <a:rPr spc="-10" dirty="0"/>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6012</Words>
  <Application>Microsoft Office PowerPoint</Application>
  <PresentationFormat>Custom</PresentationFormat>
  <Paragraphs>457</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Cambria</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Jain</dc:creator>
  <cp:lastModifiedBy>Nirmal Todwal</cp:lastModifiedBy>
  <cp:revision>2</cp:revision>
  <dcterms:created xsi:type="dcterms:W3CDTF">2025-10-27T16:47:24Z</dcterms:created>
  <dcterms:modified xsi:type="dcterms:W3CDTF">2025-12-19T20:00:26Z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2025-10-27T00:00:00Z</vt:filetime>
  </property>
  <property fmtid="{D5CDD505-2E9C-101B-9397-08002B2CF9AE}" pid="3" name="Creator">
    <vt:lpwstr>Microsoft® Word 2016</vt:lpwstr>
  </property>
  <property fmtid="{D5CDD505-2E9C-101B-9397-08002B2CF9AE}" pid="4" name="LastSaved">
    <vt:filetime>2025-10-27T00:00:00Z</vt:filetime>
  </property>
  <property fmtid="{D5CDD505-2E9C-101B-9397-08002B2CF9AE}" pid="5" name="Producer">
    <vt:lpwstr>www.ilovepdf.com</vt:lpwstr>
  </property>
</Properties>
</file>